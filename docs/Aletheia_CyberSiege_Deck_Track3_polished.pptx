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4699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We are CyberSiege. Aletheia takes a customer's test request from an online application to a signed, verifiable report for the CPRI Short Circuit Laboratory. The story in one line: from paper and hand-offs to one online flow, faster for the lab, clearer for the customer, and impossible to tamper with quietly.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The challenge: a lab's reports depend on data from request forms, test logs, measurement records and databases. Today people collect, validate and retype that data into templates, which is slow, error-prone and delays the customer, and the finished PDF cannot be checked. Add one real figure or quote from the lab here if you have 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The organisers set four objectives and each one maps to a feature you will see: time saved by template mapping, fewer errors through source cells, checks and verification, productivity through upload-once with no re-keying, and a better customer experience. The coloured pills show which of our three pillars each one serves. The one-line story: from paper and hand-offs to one online flow, faster for the lab, clearer for the customer, and impossible to tamper with quietly.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The problem statement asks for four modules: data collection, database management, a report generation engine and a dashboard. All four are in the prototype, and it handles all four input sources: request forms, log sheets, test measurements and existing databases or spreadsheets.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This is the six-step workflow from the problem statement, mapped to what Aletheia does at each step. We add four things on top: independent verification of every test, admin approval and signed release, a QR code so customers can verify the report, and tickets and an assistant for customer questions.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This is the first thing a customer touches. Before, a paper form was delivered or posted and the lab retyped it. Now the customer fills in the same Customer Request Form online, the lab receives it instantly, and series and sample numbers are assigned when the request is accepted. Show the form screenshot, or go straight to the live demo.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Before, one logsheet could be touched by three people and retyped into the report. Now the tester uploads it once, every value is stored with the cell it came from, and the same stored data flows through the checks, the verification and the report. There is no point in the chain where a person re-keys a number.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The whole journey is nine steps owned by three roles: Customer, Tester and Admin. Testers handle intake, upload, checks and verification; the Admin approves, generates and signs off; the customer starts and ends the flow. Each role is also limited in what it cannot do, enforced by the server.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A tester uploads an Excel or CSV logsheet and sees every value next to the cell it was read from. A required cell that is empty blocks the upload, and automatic checks against standard limits flag problems before anyone signs. All ten documents of a short-circuit job are supported.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The customer's portal lists every request with a status pill, and the progress updates as soon as a stage moves forward, so nobody has to phone the lab. Tests show as pending verification, then approved, and the job ends as report released. At release the customer gets one notification with a link to download the report.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Customers are never left guessing. If something is wrong or unclear they raise a ticket to the laboratory about a request, a report, values or sample handling, and see its status move from open to answered to closed. The built-in assistant is a simple rule-based chat helper: it lists the customer's jobs and released reports and opens a new request or ticket for them.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Template mapping fills the report from stored data, so the PDF is numbered and hashed in seconds. Fill in the measured manual and Aletheia times and the count of fields typed by hand before presenting; use measured values only.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Duties are split: testers enter and verify data, the Admin approves, generates and signs off but can never enter, check or verify data. A tester compares each value with the original file, then verifies, returns with a reason, or marks the test not applicable. In the current build a tester may verify their own upload; the manifest records both names. No report can be generated until every test is verified or not applicable.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Four layers. One: every uploaded file is fingerprinted with SHA-256 and stored with the data. Two: the audit log is hash-chained, so editing any entry breaks the chain after it, and a Check the chain button proves nothing was altered. Three: verified tests are locked and reopening needs a reason, with every revision kept. Four: reports are numbered and hashed, release needs the admin's password, and old versions are superseded, never edited.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then run the live tamper test] We try to cheat. First we run Check the chain and it is green. Then we edit one audit entry directly in the database, and run the check again: it turns red and points to the exact entry that changed. This is the part we'll show live.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Every released report carries a QR code. Scanning it opens a verification page that confirms the PDF against its manifest hash, shows who tested, verified and approved it, and warns if the version has been superseded and why. The customer does not have to trust us, they can check.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Under the hood it is one Flask process and one SQLite database on an ordinary lab PC, no other services. Inputs flow through importers and logsheet templates into the store, the engine runs the checks and builds the PDF, and every action is sealed into the audit chain. Skip the details unless asked.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Real numbers only: ten document types, four import formats and 157 automated tests. Add the measured time and error figures once you have them. Done: the online request form with source-cell preview, the hash chain with its check button, and the QR verification page. Planned: scan-to-form assist, click-to-trace, anchoring the chain tip outside the server, and signed PDFs.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Fast to produce, easy for customers, impossible to quietly change. Thank you from Siddhartha, Bhargav, Koushik and Abhijit. Add the repo link and QR code before presenting, then hand over to the live demo.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2F5FA"/>
        </a:solid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28600"/>
          </a:xfrm>
          <a:prstGeom prst="rect">
            <a:avLst/>
          </a:prstGeom>
          <a:noFill/>
          <a:ln/>
        </p:spPr>
        <p:txBody>
          <a:bodyPr wrap="square" lIns="0" tIns="0" rIns="0" bIns="0" rtlCol="0" anchor="ctr"/>
          <a:lstStyle/>
          <a:p>
            <a:pPr marL="0" indent="0">
              <a:buNone/>
            </a:pPr>
            <a:r>
              <a:rPr lang="en-US" sz="1000" dirty="0">
                <a:solidFill>
                  <a:srgbClr val="56667F"/>
                </a:solidFill>
              </a:rPr>
              <a:t>CyberSiege</a:t>
            </a:r>
            <a:endParaRPr lang="en-US" sz="1000" dirty="0"/>
          </a:p>
        </p:txBody>
      </p:sp>
      <p:sp>
        <p:nvSpPr>
          <p:cNvPr id="25"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6667F"/>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TITLE">
    <p:bg>
      <p:bgPr>
        <a:solidFill>
          <a:srgbClr val="F2F5F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503920" cy="100584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2800" dirty="0"/>
          </a:p>
        </p:txBody>
      </p:sp>
      <p:sp>
        <p:nvSpPr>
          <p:cNvPr id="3" name="Text 0"/>
          <p:cNvSpPr/>
          <p:nvPr/>
        </p:nvSpPr>
        <p:spPr>
          <a:xfrm>
            <a:off x="548640" y="6400800"/>
            <a:ext cx="2743200" cy="228600"/>
          </a:xfrm>
          <a:prstGeom prst="rect">
            <a:avLst/>
          </a:prstGeom>
          <a:noFill/>
          <a:ln/>
        </p:spPr>
        <p:txBody>
          <a:bodyPr wrap="square" lIns="0" tIns="0" rIns="0" bIns="0" rtlCol="0" anchor="ctr"/>
          <a:lstStyle/>
          <a:p>
            <a:pPr marL="0" indent="0">
              <a:buNone/>
            </a:pPr>
            <a:r>
              <a:rPr lang="en-US" sz="1000" dirty="0">
                <a:solidFill>
                  <a:srgbClr val="56667F"/>
                </a:solidFill>
              </a:rPr>
              <a:t>CyberSiege</a:t>
            </a:r>
            <a:endParaRPr lang="en-US" sz="1000" dirty="0"/>
          </a:p>
        </p:txBody>
      </p:sp>
      <p:sp>
        <p:nvSpPr>
          <p:cNvPr id="25"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6667F"/>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325880"/>
            <a:ext cx="10424160" cy="210312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3" name="Text 0"/>
          <p:cNvSpPr/>
          <p:nvPr/>
        </p:nvSpPr>
        <p:spPr>
          <a:xfrm>
            <a:off x="548640" y="6400800"/>
            <a:ext cx="2743200" cy="228600"/>
          </a:xfrm>
          <a:prstGeom prst="rect">
            <a:avLst/>
          </a:prstGeom>
          <a:noFill/>
          <a:ln/>
        </p:spPr>
        <p:txBody>
          <a:bodyPr wrap="square" lIns="0" tIns="0" rIns="0" bIns="0" rtlCol="0" anchor="ctr"/>
          <a:lstStyle/>
          <a:p>
            <a:pPr marL="0" indent="0">
              <a:buNone/>
            </a:pPr>
            <a:r>
              <a:rPr lang="en-US" sz="1000" dirty="0">
                <a:solidFill>
                  <a:srgbClr val="A9BCD9"/>
                </a:solidFill>
              </a:rPr>
              <a:t>CyberSiege</a:t>
            </a:r>
            <a:endParaRPr lang="en-US" sz="1000" dirty="0"/>
          </a:p>
        </p:txBody>
      </p:sp>
      <p:sp>
        <p:nvSpPr>
          <p:cNvPr id="25"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A9BCD9"/>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6667F"/>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ill: HACKATHON DEMO  ·  TRACK: [FILL IN]"/>
          <p:cNvSpPr txBox="1"/>
          <p:nvPr/>
        </p:nvSpPr>
        <p:spPr>
          <a:xfrm>
            <a:off x="731520" y="777240"/>
            <a:ext cx="4663440" cy="365760"/>
          </a:xfrm>
          <a:prstGeom prst="roundRect">
            <a:avLst>
              <a:gd name="adj" fmla="val 50000"/>
            </a:avLst>
          </a:prstGeom>
          <a:solidFill>
            <a:srgbClr val="FFFFFF">
              <a:alpha val="16000"/>
            </a:srgbClr>
          </a:solidFill>
          <a:ln w="9525">
            <a:solidFill>
              <a:srgbClr val="FFFFFF">
                <a:alpha val="45000"/>
              </a:srgbClr>
            </a:solidFill>
          </a:ln>
        </p:spPr>
        <p:txBody>
          <a:bodyPr wrap="square" lIns="0" tIns="0" rIns="0" bIns="0" rtlCol="0" anchor="ctr"/>
          <a:lstStyle/>
          <a:p>
            <a:pPr marL="0" indent="0" algn="ctr">
              <a:buNone/>
            </a:pPr>
            <a:r>
              <a:rPr lang="en-US" sz="1200" kern="0" spc="60" dirty="0">
                <a:solidFill>
                  <a:srgbClr val="FFFFFF"/>
                </a:solidFill>
                <a:latin typeface="Segoe UI Semibold"/>
              </a:rPr>
              <a:t>HACKATHON DEMO  ·  TRACK: 3</a:t>
            </a:r>
            <a:endParaRPr lang="en-US" sz="1200" dirty="0"/>
          </a:p>
        </p:txBody>
      </p:sp>
      <p:sp>
        <p:nvSpPr>
          <p:cNvPr id="3" name="Text 0"/>
          <p:cNvSpPr>
            <a:spLocks noGrp="1"/>
          </p:cNvSpPr>
          <p:nvPr>
            <p:ph type="title" idx="100" hasCustomPrompt="1"/>
          </p:nvPr>
        </p:nvSpPr>
        <p:spPr>
          <a:xfrm>
            <a:off x="731520" y="1325880"/>
            <a:ext cx="10424160" cy="2103120"/>
          </a:xfrm>
          <a:prstGeom prst="rect">
            <a:avLst/>
          </a:prstGeom>
          <a:noFill/>
          <a:ln/>
        </p:spPr>
        <p:txBody>
          <a:bodyPr wrap="square" lIns="0" tIns="0" rIns="0" bIns="0" rtlCol="0" anchor="t"/>
          <a:lstStyle/>
          <a:p>
            <a:pPr marL="0" indent="0" algn="l">
              <a:buNone/>
            </a:pPr>
            <a:r>
              <a:rPr lang="en-US" sz="4800" dirty="0">
                <a:solidFill>
                  <a:schemeClr val="bg1"/>
                </a:solidFill>
                <a:latin typeface="Segoe UI Semibold"/>
              </a:rPr>
              <a:t>Aletheia: faster reports,</a:t>
            </a:r>
            <a:br>
              <a:rPr lang="en-US" sz="4800" dirty="0">
                <a:solidFill>
                  <a:schemeClr val="bg1"/>
                </a:solidFill>
                <a:latin typeface="Segoe UI Semibold"/>
              </a:rPr>
            </a:br>
            <a:r>
              <a:rPr lang="en-US" sz="4800" dirty="0">
                <a:solidFill>
                  <a:schemeClr val="bg1"/>
                </a:solidFill>
                <a:latin typeface="Segoe UI Semibold"/>
              </a:rPr>
              <a:t>zero quiet changes</a:t>
            </a:r>
            <a:endParaRPr lang="en-US" sz="4800" dirty="0"/>
          </a:p>
        </p:txBody>
      </p:sp>
      <p:sp>
        <p:nvSpPr>
          <p:cNvPr id="4" name="Text 2"/>
          <p:cNvSpPr txBox="1"/>
          <p:nvPr/>
        </p:nvSpPr>
        <p:spPr>
          <a:xfrm>
            <a:off x="731520" y="3154680"/>
            <a:ext cx="8778240" cy="822960"/>
          </a:xfrm>
          <a:prstGeom prst="rect">
            <a:avLst/>
          </a:prstGeom>
          <a:noFill/>
          <a:ln/>
        </p:spPr>
        <p:txBody>
          <a:bodyPr wrap="square" lIns="0" tIns="0" rIns="0" bIns="0" rtlCol="0" anchor="t"/>
          <a:lstStyle/>
          <a:p>
            <a:pPr marL="0" indent="0">
              <a:buNone/>
            </a:pPr>
            <a:r>
              <a:rPr lang="en-US" sz="2000" dirty="0">
                <a:solidFill>
                  <a:srgbClr val="CFE0F7"/>
                </a:solidFill>
              </a:rPr>
              <a:t>Online test requests, online workflow, tamper-evident reports for the CPRI Short Circuit Laboratory.</a:t>
            </a:r>
            <a:endParaRPr lang="en-US" sz="2000" dirty="0"/>
          </a:p>
        </p:txBody>
      </p:sp>
      <p:sp>
        <p:nvSpPr>
          <p:cNvPr id="5" name="Stat tile"/>
          <p:cNvSpPr/>
          <p:nvPr/>
        </p:nvSpPr>
        <p:spPr>
          <a:xfrm>
            <a:off x="731520" y="4297680"/>
            <a:ext cx="2468880" cy="1051560"/>
          </a:xfrm>
          <a:prstGeom prst="roundRect">
            <a:avLst>
              <a:gd name="adj" fmla="val 13913"/>
            </a:avLst>
          </a:prstGeom>
          <a:solidFill>
            <a:srgbClr val="FFFFFF">
              <a:alpha val="12000"/>
            </a:srgbClr>
          </a:solidFill>
          <a:ln w="9525">
            <a:solidFill>
              <a:srgbClr val="FFFFFF">
                <a:alpha val="35000"/>
              </a:srgbClr>
            </a:solidFill>
            <a:prstDash val="solid"/>
          </a:ln>
        </p:spPr>
      </p:sp>
      <p:sp>
        <p:nvSpPr>
          <p:cNvPr id="6" name="Text 4"/>
          <p:cNvSpPr txBox="1"/>
          <p:nvPr/>
        </p:nvSpPr>
        <p:spPr>
          <a:xfrm>
            <a:off x="960120" y="4370832"/>
            <a:ext cx="2011680" cy="548640"/>
          </a:xfrm>
          <a:prstGeom prst="rect">
            <a:avLst/>
          </a:prstGeom>
          <a:noFill/>
          <a:ln/>
        </p:spPr>
        <p:txBody>
          <a:bodyPr wrap="square" lIns="0" tIns="0" rIns="0" bIns="0" rtlCol="0" anchor="t"/>
          <a:lstStyle/>
          <a:p>
            <a:pPr marL="0" indent="0">
              <a:buNone/>
            </a:pPr>
            <a:r>
              <a:rPr lang="en-US" sz="3200" dirty="0">
                <a:solidFill>
                  <a:srgbClr val="FFFFFF"/>
                </a:solidFill>
                <a:latin typeface="Segoe UI Semibold"/>
              </a:rPr>
              <a:t>10</a:t>
            </a:r>
            <a:endParaRPr lang="en-US" sz="3200" dirty="0"/>
          </a:p>
        </p:txBody>
      </p:sp>
      <p:sp>
        <p:nvSpPr>
          <p:cNvPr id="7" name="Text 5"/>
          <p:cNvSpPr txBox="1"/>
          <p:nvPr/>
        </p:nvSpPr>
        <p:spPr>
          <a:xfrm>
            <a:off x="960120" y="4919472"/>
            <a:ext cx="2011680" cy="274320"/>
          </a:xfrm>
          <a:prstGeom prst="rect">
            <a:avLst/>
          </a:prstGeom>
          <a:noFill/>
          <a:ln/>
        </p:spPr>
        <p:txBody>
          <a:bodyPr wrap="square" lIns="0" tIns="0" rIns="0" bIns="0" rtlCol="0" anchor="t"/>
          <a:lstStyle/>
          <a:p>
            <a:pPr marL="0" indent="0">
              <a:buNone/>
            </a:pPr>
            <a:r>
              <a:rPr lang="en-US" sz="1400" dirty="0">
                <a:solidFill>
                  <a:srgbClr val="CFE0F7"/>
                </a:solidFill>
              </a:rPr>
              <a:t>Document types</a:t>
            </a:r>
            <a:endParaRPr lang="en-US" sz="1400" dirty="0"/>
          </a:p>
        </p:txBody>
      </p:sp>
      <p:sp>
        <p:nvSpPr>
          <p:cNvPr id="8" name="Stat tile"/>
          <p:cNvSpPr/>
          <p:nvPr/>
        </p:nvSpPr>
        <p:spPr>
          <a:xfrm>
            <a:off x="3429000" y="4297680"/>
            <a:ext cx="2468880" cy="1051560"/>
          </a:xfrm>
          <a:prstGeom prst="roundRect">
            <a:avLst>
              <a:gd name="adj" fmla="val 13913"/>
            </a:avLst>
          </a:prstGeom>
          <a:solidFill>
            <a:srgbClr val="FFFFFF">
              <a:alpha val="12000"/>
            </a:srgbClr>
          </a:solidFill>
          <a:ln w="9525">
            <a:solidFill>
              <a:srgbClr val="FFFFFF">
                <a:alpha val="35000"/>
              </a:srgbClr>
            </a:solidFill>
            <a:prstDash val="solid"/>
          </a:ln>
        </p:spPr>
      </p:sp>
      <p:sp>
        <p:nvSpPr>
          <p:cNvPr id="9" name="Text 7"/>
          <p:cNvSpPr txBox="1"/>
          <p:nvPr/>
        </p:nvSpPr>
        <p:spPr>
          <a:xfrm>
            <a:off x="3657600" y="4370832"/>
            <a:ext cx="2011680" cy="548640"/>
          </a:xfrm>
          <a:prstGeom prst="rect">
            <a:avLst/>
          </a:prstGeom>
          <a:noFill/>
          <a:ln/>
        </p:spPr>
        <p:txBody>
          <a:bodyPr wrap="square" lIns="0" tIns="0" rIns="0" bIns="0" rtlCol="0" anchor="t"/>
          <a:lstStyle/>
          <a:p>
            <a:pPr marL="0" indent="0">
              <a:buNone/>
            </a:pPr>
            <a:r>
              <a:rPr lang="en-US" sz="3200" dirty="0">
                <a:solidFill>
                  <a:srgbClr val="FFFFFF"/>
                </a:solidFill>
                <a:latin typeface="Segoe UI Semibold"/>
              </a:rPr>
              <a:t>4</a:t>
            </a:r>
            <a:endParaRPr lang="en-US" sz="3200" dirty="0"/>
          </a:p>
        </p:txBody>
      </p:sp>
      <p:sp>
        <p:nvSpPr>
          <p:cNvPr id="10" name="Text 8"/>
          <p:cNvSpPr txBox="1"/>
          <p:nvPr/>
        </p:nvSpPr>
        <p:spPr>
          <a:xfrm>
            <a:off x="3657600" y="4919472"/>
            <a:ext cx="2011680" cy="274320"/>
          </a:xfrm>
          <a:prstGeom prst="rect">
            <a:avLst/>
          </a:prstGeom>
          <a:noFill/>
          <a:ln/>
        </p:spPr>
        <p:txBody>
          <a:bodyPr wrap="square" lIns="0" tIns="0" rIns="0" bIns="0" rtlCol="0" anchor="t"/>
          <a:lstStyle/>
          <a:p>
            <a:pPr marL="0" indent="0">
              <a:buNone/>
            </a:pPr>
            <a:r>
              <a:rPr lang="en-US" sz="1400" dirty="0">
                <a:solidFill>
                  <a:srgbClr val="CFE0F7"/>
                </a:solidFill>
              </a:rPr>
              <a:t>Import formats</a:t>
            </a:r>
            <a:endParaRPr lang="en-US" sz="1400" dirty="0"/>
          </a:p>
        </p:txBody>
      </p:sp>
      <p:sp>
        <p:nvSpPr>
          <p:cNvPr id="11" name="Stat tile"/>
          <p:cNvSpPr/>
          <p:nvPr/>
        </p:nvSpPr>
        <p:spPr>
          <a:xfrm>
            <a:off x="6126480" y="4297680"/>
            <a:ext cx="2468880" cy="1051560"/>
          </a:xfrm>
          <a:prstGeom prst="roundRect">
            <a:avLst>
              <a:gd name="adj" fmla="val 13913"/>
            </a:avLst>
          </a:prstGeom>
          <a:solidFill>
            <a:srgbClr val="FFFFFF">
              <a:alpha val="12000"/>
            </a:srgbClr>
          </a:solidFill>
          <a:ln w="9525">
            <a:solidFill>
              <a:srgbClr val="FFFFFF">
                <a:alpha val="35000"/>
              </a:srgbClr>
            </a:solidFill>
            <a:prstDash val="solid"/>
          </a:ln>
        </p:spPr>
      </p:sp>
      <p:sp>
        <p:nvSpPr>
          <p:cNvPr id="12" name="Text 10"/>
          <p:cNvSpPr txBox="1"/>
          <p:nvPr/>
        </p:nvSpPr>
        <p:spPr>
          <a:xfrm>
            <a:off x="6355080" y="4370832"/>
            <a:ext cx="2011680" cy="548640"/>
          </a:xfrm>
          <a:prstGeom prst="rect">
            <a:avLst/>
          </a:prstGeom>
          <a:noFill/>
          <a:ln/>
        </p:spPr>
        <p:txBody>
          <a:bodyPr wrap="square" lIns="0" tIns="0" rIns="0" bIns="0" rtlCol="0" anchor="t"/>
          <a:lstStyle/>
          <a:p>
            <a:pPr marL="0" indent="0">
              <a:buNone/>
            </a:pPr>
            <a:r>
              <a:rPr lang="en-US" sz="3200" dirty="0">
                <a:solidFill>
                  <a:srgbClr val="FFFFFF"/>
                </a:solidFill>
                <a:latin typeface="Segoe UI Semibold"/>
              </a:rPr>
              <a:t>157</a:t>
            </a:r>
            <a:endParaRPr lang="en-US" sz="3200" dirty="0"/>
          </a:p>
        </p:txBody>
      </p:sp>
      <p:sp>
        <p:nvSpPr>
          <p:cNvPr id="13" name="Text 11"/>
          <p:cNvSpPr txBox="1"/>
          <p:nvPr/>
        </p:nvSpPr>
        <p:spPr>
          <a:xfrm>
            <a:off x="6355080" y="4919472"/>
            <a:ext cx="2011680" cy="274320"/>
          </a:xfrm>
          <a:prstGeom prst="rect">
            <a:avLst/>
          </a:prstGeom>
          <a:noFill/>
          <a:ln/>
        </p:spPr>
        <p:txBody>
          <a:bodyPr wrap="square" lIns="0" tIns="0" rIns="0" bIns="0" rtlCol="0" anchor="t"/>
          <a:lstStyle/>
          <a:p>
            <a:pPr marL="0" indent="0">
              <a:buNone/>
            </a:pPr>
            <a:r>
              <a:rPr lang="en-US" sz="1400" dirty="0">
                <a:solidFill>
                  <a:srgbClr val="CFE0F7"/>
                </a:solidFill>
              </a:rPr>
              <a:t>Automated tests</a:t>
            </a:r>
            <a:endParaRPr lang="en-US" sz="1400" dirty="0"/>
          </a:p>
        </p:txBody>
      </p:sp>
      <p:sp>
        <p:nvSpPr>
          <p:cNvPr id="14" name="Text 12"/>
          <p:cNvSpPr txBox="1"/>
          <p:nvPr/>
        </p:nvSpPr>
        <p:spPr>
          <a:xfrm>
            <a:off x="731520" y="5577840"/>
            <a:ext cx="8229600" cy="640080"/>
          </a:xfrm>
          <a:prstGeom prst="rect">
            <a:avLst/>
          </a:prstGeom>
          <a:noFill/>
          <a:ln/>
        </p:spPr>
        <p:txBody>
          <a:bodyPr wrap="square" lIns="0" tIns="0" rIns="0" bIns="0" rtlCol="0" anchor="t"/>
          <a:lstStyle/>
          <a:p>
            <a:pPr marL="0" indent="0">
              <a:buNone/>
            </a:pPr>
            <a:r>
              <a:rPr lang="en-US" sz="1800" dirty="0">
                <a:solidFill>
                  <a:srgbClr val="FFFFFF"/>
                </a:solidFill>
                <a:latin typeface="Segoe UI Semibold"/>
              </a:rPr>
              <a:t>Team CyberSiege</a:t>
            </a:r>
            <a:endParaRPr lang="en-US" sz="1400" dirty="0"/>
          </a:p>
          <a:p>
            <a:pPr marL="0" indent="0">
              <a:buNone/>
            </a:pPr>
            <a:r>
              <a:rPr lang="en-US" sz="1400" dirty="0">
                <a:solidFill>
                  <a:srgbClr val="DCE8F8"/>
                </a:solidFill>
              </a:rPr>
              <a:t>Siddhartha  ·  Bhargav  ·  Koushik  ·  Abhijit</a:t>
            </a:r>
            <a:endParaRPr lang="en-US" sz="1400" dirty="0"/>
          </a:p>
        </p:txBody>
      </p:sp>
      <p:sp>
        <p:nvSpPr>
          <p:cNvPr id="25"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A9BCD9"/>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503920" cy="1005840"/>
          </a:xfrm>
          <a:prstGeom prst="rect">
            <a:avLst/>
          </a:prstGeom>
          <a:noFill/>
          <a:ln/>
        </p:spPr>
        <p:txBody>
          <a:bodyPr wrap="square" lIns="0" tIns="0" rIns="0" bIns="0" rtlCol="0" anchor="t"/>
          <a:lstStyle/>
          <a:p>
            <a:pPr marL="0" indent="0" algn="l">
              <a:buNone/>
            </a:pPr>
            <a:r>
              <a:rPr lang="en-US" sz="2800" spc="-20" dirty="0">
                <a:solidFill>
                  <a:schemeClr val="tx2"/>
                </a:solidFill>
                <a:latin typeface="Segoe UI Semibold"/>
              </a:rPr>
              <a:t>Reports depend on data from many sources that people collect and retype by hand</a:t>
            </a:r>
            <a:endParaRPr lang="en-US" sz="2800" dirty="0"/>
          </a:p>
        </p:txBody>
      </p:sp>
      <p:sp>
        <p:nvSpPr>
          <p:cNvPr id="3" name="Pill: PROBLEM UNDERSTANDING"/>
          <p:cNvSpPr txBox="1"/>
          <p:nvPr/>
        </p:nvSpPr>
        <p:spPr>
          <a:xfrm>
            <a:off x="9035186" y="457200"/>
            <a:ext cx="2607869" cy="329184"/>
          </a:xfrm>
          <a:prstGeom prst="roundRect">
            <a:avLst>
              <a:gd name="adj" fmla="val 50000"/>
            </a:avLst>
          </a:prstGeom>
          <a:solidFill>
            <a:srgbClr val="EEF3FA"/>
          </a:solidFill>
          <a:ln w="6350">
            <a:solidFill>
              <a:srgbClr val="EEF3FA"/>
            </a:solidFill>
          </a:ln>
        </p:spPr>
        <p:txBody>
          <a:bodyPr wrap="square" lIns="0" tIns="0" rIns="0" bIns="0" rtlCol="0" anchor="ctr"/>
          <a:lstStyle/>
          <a:p>
            <a:pPr marL="0" indent="0" algn="ctr">
              <a:buNone/>
            </a:pPr>
            <a:r>
              <a:rPr lang="en-US" sz="1100" kern="0" spc="60" dirty="0">
                <a:solidFill>
                  <a:srgbClr val="56667F"/>
                </a:solidFill>
                <a:latin typeface="Segoe UI Semibold"/>
              </a:rPr>
              <a:t>PROBLEM UNDERSTANDING</a:t>
            </a:r>
            <a:endParaRPr lang="en-US" sz="1100" dirty="0"/>
          </a:p>
        </p:txBody>
      </p:sp>
      <p:sp>
        <p:nvSpPr>
          <p:cNvPr id="4" name="Card"/>
          <p:cNvSpPr/>
          <p:nvPr/>
        </p:nvSpPr>
        <p:spPr>
          <a:xfrm>
            <a:off x="548640" y="1691640"/>
            <a:ext cx="3520440" cy="2880360"/>
          </a:xfrm>
          <a:prstGeom prst="roundRect">
            <a:avLst>
              <a:gd name="adj" fmla="val 5079"/>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pic>
        <p:nvPicPr>
          <p:cNvPr id="5" name="Image 0" descr="Icon: file"/>
          <p:cNvPicPr>
            <a:picLocks noChangeAspect="1"/>
          </p:cNvPicPr>
          <p:nvPr/>
        </p:nvPicPr>
        <p:blipFill>
          <a:blip r:embed="rId3"/>
          <a:stretch>
            <a:fillRect/>
          </a:stretch>
        </p:blipFill>
        <p:spPr>
          <a:xfrm>
            <a:off x="868680" y="1965960"/>
            <a:ext cx="685800" cy="685800"/>
          </a:xfrm>
          <a:prstGeom prst="rect">
            <a:avLst/>
          </a:prstGeom>
        </p:spPr>
      </p:pic>
      <p:sp>
        <p:nvSpPr>
          <p:cNvPr id="6" name="Text 3"/>
          <p:cNvSpPr txBox="1"/>
          <p:nvPr/>
        </p:nvSpPr>
        <p:spPr>
          <a:xfrm>
            <a:off x="868680" y="2834640"/>
            <a:ext cx="2926080" cy="365760"/>
          </a:xfrm>
          <a:prstGeom prst="rect">
            <a:avLst/>
          </a:prstGeom>
          <a:noFill/>
          <a:ln/>
        </p:spPr>
        <p:txBody>
          <a:bodyPr wrap="square" lIns="0" tIns="0" rIns="0" bIns="0" rtlCol="0" anchor="t"/>
          <a:lstStyle/>
          <a:p>
            <a:pPr marL="0" indent="0">
              <a:buNone/>
            </a:pPr>
            <a:r>
              <a:rPr lang="en-US" sz="2200" dirty="0">
                <a:solidFill>
                  <a:srgbClr val="12315F"/>
                </a:solidFill>
                <a:latin typeface="Segoe UI Semibold"/>
              </a:rPr>
              <a:t>Many sources, no flow</a:t>
            </a:r>
            <a:endParaRPr lang="en-US" sz="2200" dirty="0"/>
          </a:p>
        </p:txBody>
      </p:sp>
      <p:sp>
        <p:nvSpPr>
          <p:cNvPr id="7" name="Text 4"/>
          <p:cNvSpPr txBox="1"/>
          <p:nvPr/>
        </p:nvSpPr>
        <p:spPr>
          <a:xfrm>
            <a:off x="868680" y="3291840"/>
            <a:ext cx="2926080" cy="1188720"/>
          </a:xfrm>
          <a:prstGeom prst="rect">
            <a:avLst/>
          </a:prstGeom>
          <a:noFill/>
          <a:ln/>
        </p:spPr>
        <p:txBody>
          <a:bodyPr wrap="square" lIns="0" tIns="0" rIns="0" bIns="0" rtlCol="0" anchor="t"/>
          <a:lstStyle/>
          <a:p>
            <a:pPr marL="0" indent="0">
              <a:buNone/>
            </a:pPr>
            <a:r>
              <a:rPr lang="en-US" sz="1600" dirty="0">
                <a:solidFill>
                  <a:srgbClr val="14233C"/>
                </a:solidFill>
              </a:rPr>
              <a:t>Request forms, test logs, measurement records and laboratory databases are collected separately.</a:t>
            </a:r>
            <a:endParaRPr lang="en-US" sz="1600" dirty="0"/>
          </a:p>
        </p:txBody>
      </p:sp>
      <p:sp>
        <p:nvSpPr>
          <p:cNvPr id="8" name="Card"/>
          <p:cNvSpPr/>
          <p:nvPr/>
        </p:nvSpPr>
        <p:spPr>
          <a:xfrm>
            <a:off x="4334256" y="1691640"/>
            <a:ext cx="3520440" cy="2880360"/>
          </a:xfrm>
          <a:prstGeom prst="roundRect">
            <a:avLst>
              <a:gd name="adj" fmla="val 5079"/>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pic>
        <p:nvPicPr>
          <p:cNvPr id="9" name="Image 1" descr="Icon: repeat"/>
          <p:cNvPicPr>
            <a:picLocks noChangeAspect="1"/>
          </p:cNvPicPr>
          <p:nvPr/>
        </p:nvPicPr>
        <p:blipFill>
          <a:blip r:embed="rId4"/>
          <a:stretch>
            <a:fillRect/>
          </a:stretch>
        </p:blipFill>
        <p:spPr>
          <a:xfrm>
            <a:off x="4654296" y="1965960"/>
            <a:ext cx="685800" cy="685800"/>
          </a:xfrm>
          <a:prstGeom prst="rect">
            <a:avLst/>
          </a:prstGeom>
        </p:spPr>
      </p:pic>
      <p:sp>
        <p:nvSpPr>
          <p:cNvPr id="10" name="Text 6"/>
          <p:cNvSpPr txBox="1"/>
          <p:nvPr/>
        </p:nvSpPr>
        <p:spPr>
          <a:xfrm>
            <a:off x="4654296" y="2834640"/>
            <a:ext cx="2926080" cy="365760"/>
          </a:xfrm>
          <a:prstGeom prst="rect">
            <a:avLst/>
          </a:prstGeom>
          <a:noFill/>
          <a:ln/>
        </p:spPr>
        <p:txBody>
          <a:bodyPr wrap="square" lIns="0" tIns="0" rIns="0" bIns="0" rtlCol="0" anchor="t"/>
          <a:lstStyle/>
          <a:p>
            <a:pPr marL="0" indent="0">
              <a:buNone/>
            </a:pPr>
            <a:r>
              <a:rPr lang="en-US" sz="2200" dirty="0">
                <a:solidFill>
                  <a:srgbClr val="12315F"/>
                </a:solidFill>
                <a:latin typeface="Segoe UI Semibold"/>
              </a:rPr>
              <a:t>Manual retyping</a:t>
            </a:r>
            <a:endParaRPr lang="en-US" sz="2200" dirty="0"/>
          </a:p>
        </p:txBody>
      </p:sp>
      <p:sp>
        <p:nvSpPr>
          <p:cNvPr id="11" name="Text 7"/>
          <p:cNvSpPr txBox="1"/>
          <p:nvPr/>
        </p:nvSpPr>
        <p:spPr>
          <a:xfrm>
            <a:off x="4654296" y="3291840"/>
            <a:ext cx="2926080" cy="1188720"/>
          </a:xfrm>
          <a:prstGeom prst="rect">
            <a:avLst/>
          </a:prstGeom>
          <a:noFill/>
          <a:ln/>
        </p:spPr>
        <p:txBody>
          <a:bodyPr wrap="square" lIns="0" tIns="0" rIns="0" bIns="0" rtlCol="0" anchor="t"/>
          <a:lstStyle/>
          <a:p>
            <a:pPr marL="0" indent="0">
              <a:buNone/>
            </a:pPr>
            <a:r>
              <a:rPr lang="en-US" sz="1600" dirty="0">
                <a:solidFill>
                  <a:srgbClr val="14233C"/>
                </a:solidFill>
              </a:rPr>
              <a:t>Entries are checked and copied into report templates by hand, which is slow and error-prone.</a:t>
            </a:r>
            <a:endParaRPr lang="en-US" sz="1600" dirty="0"/>
          </a:p>
        </p:txBody>
      </p:sp>
      <p:sp>
        <p:nvSpPr>
          <p:cNvPr id="12" name="Card"/>
          <p:cNvSpPr/>
          <p:nvPr/>
        </p:nvSpPr>
        <p:spPr>
          <a:xfrm>
            <a:off x="8119872" y="1691640"/>
            <a:ext cx="3520440" cy="2880360"/>
          </a:xfrm>
          <a:prstGeom prst="roundRect">
            <a:avLst>
              <a:gd name="adj" fmla="val 5079"/>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pic>
        <p:nvPicPr>
          <p:cNvPr id="13" name="Image 2" descr="Icon: alert"/>
          <p:cNvPicPr>
            <a:picLocks noChangeAspect="1"/>
          </p:cNvPicPr>
          <p:nvPr/>
        </p:nvPicPr>
        <p:blipFill>
          <a:blip r:embed="rId5"/>
          <a:stretch>
            <a:fillRect/>
          </a:stretch>
        </p:blipFill>
        <p:spPr>
          <a:xfrm>
            <a:off x="8439912" y="1965960"/>
            <a:ext cx="685800" cy="685800"/>
          </a:xfrm>
          <a:prstGeom prst="rect">
            <a:avLst/>
          </a:prstGeom>
        </p:spPr>
      </p:pic>
      <p:sp>
        <p:nvSpPr>
          <p:cNvPr id="14" name="Text 9"/>
          <p:cNvSpPr txBox="1"/>
          <p:nvPr/>
        </p:nvSpPr>
        <p:spPr>
          <a:xfrm>
            <a:off x="8439912" y="2834640"/>
            <a:ext cx="2926080" cy="365760"/>
          </a:xfrm>
          <a:prstGeom prst="rect">
            <a:avLst/>
          </a:prstGeom>
          <a:noFill/>
          <a:ln/>
        </p:spPr>
        <p:txBody>
          <a:bodyPr wrap="square" lIns="0" tIns="0" rIns="0" bIns="0" rtlCol="0" anchor="t"/>
          <a:lstStyle/>
          <a:p>
            <a:pPr marL="0" indent="0">
              <a:buNone/>
            </a:pPr>
            <a:r>
              <a:rPr lang="en-US" sz="2200" dirty="0">
                <a:solidFill>
                  <a:srgbClr val="12315F"/>
                </a:solidFill>
                <a:latin typeface="Segoe UI Semibold"/>
              </a:rPr>
              <a:t>Delay and doubt</a:t>
            </a:r>
            <a:endParaRPr lang="en-US" sz="2200" dirty="0"/>
          </a:p>
        </p:txBody>
      </p:sp>
      <p:sp>
        <p:nvSpPr>
          <p:cNvPr id="15" name="Text 10"/>
          <p:cNvSpPr txBox="1"/>
          <p:nvPr/>
        </p:nvSpPr>
        <p:spPr>
          <a:xfrm>
            <a:off x="8439912" y="3291840"/>
            <a:ext cx="2926080" cy="1188720"/>
          </a:xfrm>
          <a:prstGeom prst="rect">
            <a:avLst/>
          </a:prstGeom>
          <a:noFill/>
          <a:ln/>
        </p:spPr>
        <p:txBody>
          <a:bodyPr wrap="square" lIns="0" tIns="0" rIns="0" bIns="0" rtlCol="0" anchor="t"/>
          <a:lstStyle/>
          <a:p>
            <a:pPr marL="0" indent="0">
              <a:buNone/>
            </a:pPr>
            <a:r>
              <a:rPr lang="en-US" sz="1600" dirty="0">
                <a:solidFill>
                  <a:srgbClr val="14233C"/>
                </a:solidFill>
              </a:rPr>
              <a:t>Customers wait for the report and cannot verify the finished PDF.</a:t>
            </a:r>
            <a:endParaRPr lang="en-US" sz="1600" dirty="0"/>
          </a:p>
        </p:txBody>
      </p:sp>
      <p:sp>
        <p:nvSpPr>
          <p:cNvPr id="16" name="Fill-in placeholder"/>
          <p:cNvSpPr/>
          <p:nvPr/>
        </p:nvSpPr>
        <p:spPr>
          <a:xfrm>
            <a:off x="548640" y="4892040"/>
            <a:ext cx="11094415" cy="1051560"/>
          </a:xfrm>
          <a:prstGeom prst="roundRect">
            <a:avLst>
              <a:gd name="adj" fmla="val 13913"/>
            </a:avLst>
          </a:prstGeom>
          <a:solidFill>
            <a:srgbClr val="EEF3FA"/>
          </a:solidFill>
          <a:ln w="12700">
            <a:solidFill>
              <a:srgbClr val="9DB6D8"/>
            </a:solidFill>
            <a:prstDash val="solid"/>
          </a:ln>
        </p:spPr>
        <p:txBody>
          <a:bodyPr/>
          <a:lstStyle/>
          <a:p>
            <a:endParaRPr lang="en-US"/>
          </a:p>
        </p:txBody>
      </p:sp>
      <p:sp>
        <p:nvSpPr>
          <p:cNvPr id="17" name="Text 12"/>
          <p:cNvSpPr txBox="1"/>
          <p:nvPr/>
        </p:nvSpPr>
        <p:spPr>
          <a:xfrm>
            <a:off x="914400" y="4892040"/>
            <a:ext cx="10362895" cy="1051560"/>
          </a:xfrm>
          <a:prstGeom prst="rect">
            <a:avLst/>
          </a:prstGeom>
          <a:noFill/>
          <a:ln/>
        </p:spPr>
        <p:txBody>
          <a:bodyPr wrap="square" lIns="0" tIns="0" rIns="0" bIns="0" rtlCol="0" anchor="ctr"/>
          <a:lstStyle/>
          <a:p>
            <a:pPr marL="0" indent="0">
              <a:buNone/>
            </a:pPr>
            <a:r>
              <a:rPr lang="en-US" sz="1950" i="1" dirty="0">
                <a:solidFill>
                  <a:srgbClr val="56667F"/>
                </a:solidFill>
              </a:rPr>
              <a:t>Today the request, logsheets and report live in separate files and hand-offs, so every value is retyped and re-checked by hand.</a:t>
            </a:r>
            <a:endParaRPr lang="en-US" sz="1950" dirty="0"/>
          </a:p>
        </p:txBody>
      </p:sp>
      <p:sp>
        <p:nvSpPr>
          <p:cNvPr id="25"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6667F"/>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503920" cy="1005840"/>
          </a:xfrm>
          <a:prstGeom prst="rect">
            <a:avLst/>
          </a:prstGeom>
          <a:noFill/>
          <a:ln/>
        </p:spPr>
        <p:txBody>
          <a:bodyPr wrap="square" lIns="0" tIns="0" rIns="0" bIns="0" rtlCol="0" anchor="t"/>
          <a:lstStyle/>
          <a:p>
            <a:pPr marL="0" indent="0" algn="l">
              <a:buNone/>
            </a:pPr>
            <a:r>
              <a:rPr lang="en-US" sz="2800" spc="-20" dirty="0">
                <a:solidFill>
                  <a:schemeClr val="tx2"/>
                </a:solidFill>
                <a:latin typeface="Segoe UI Semibold"/>
              </a:rPr>
              <a:t>Aletheia answers each of the four objectives with a working feature</a:t>
            </a:r>
            <a:endParaRPr lang="en-US" sz="2800" dirty="0"/>
          </a:p>
        </p:txBody>
      </p:sp>
      <p:sp>
        <p:nvSpPr>
          <p:cNvPr id="3" name="Pill: THE FOUR OBJECTIVES"/>
          <p:cNvSpPr txBox="1"/>
          <p:nvPr/>
        </p:nvSpPr>
        <p:spPr>
          <a:xfrm>
            <a:off x="9240012" y="457200"/>
            <a:ext cx="2403043" cy="329184"/>
          </a:xfrm>
          <a:prstGeom prst="roundRect">
            <a:avLst>
              <a:gd name="adj" fmla="val 50000"/>
            </a:avLst>
          </a:prstGeom>
          <a:solidFill>
            <a:srgbClr val="EEF3FA"/>
          </a:solidFill>
          <a:ln w="6350">
            <a:solidFill>
              <a:srgbClr val="EEF3FA"/>
            </a:solidFill>
          </a:ln>
        </p:spPr>
        <p:txBody>
          <a:bodyPr wrap="square" lIns="0" tIns="0" rIns="0" bIns="0" rtlCol="0" anchor="ctr"/>
          <a:lstStyle/>
          <a:p>
            <a:pPr marL="0" indent="0" algn="ctr">
              <a:buNone/>
            </a:pPr>
            <a:r>
              <a:rPr lang="en-US" sz="1100" kern="0" spc="60" dirty="0">
                <a:solidFill>
                  <a:srgbClr val="56667F"/>
                </a:solidFill>
                <a:latin typeface="Segoe UI Semibold"/>
              </a:rPr>
              <a:t>THE FOUR OBJECTIVES</a:t>
            </a:r>
            <a:endParaRPr lang="en-US" sz="1100" dirty="0"/>
          </a:p>
        </p:txBody>
      </p:sp>
      <p:sp>
        <p:nvSpPr>
          <p:cNvPr id="4" name="Card"/>
          <p:cNvSpPr/>
          <p:nvPr/>
        </p:nvSpPr>
        <p:spPr>
          <a:xfrm>
            <a:off x="548640" y="1691640"/>
            <a:ext cx="2615184" cy="3429000"/>
          </a:xfrm>
          <a:prstGeom prst="roundRect">
            <a:avLst>
              <a:gd name="adj" fmla="val 5594"/>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5" name="Step 1"/>
          <p:cNvSpPr txBox="1"/>
          <p:nvPr/>
        </p:nvSpPr>
        <p:spPr>
          <a:xfrm>
            <a:off x="777240" y="1920240"/>
            <a:ext cx="457200" cy="457200"/>
          </a:xfrm>
          <a:prstGeom prst="ellipse">
            <a:avLst/>
          </a:prstGeom>
          <a:solidFill>
            <a:srgbClr val="0B2347"/>
          </a:solidFill>
          <a:ln>
            <a:solidFill>
              <a:srgbClr val="0B2347"/>
            </a:solidFill>
          </a:ln>
        </p:spPr>
        <p:txBody>
          <a:bodyPr wrap="square" lIns="0" tIns="0" rIns="0" bIns="0" rtlCol="0" anchor="ctr"/>
          <a:lstStyle/>
          <a:p>
            <a:pPr marL="0" indent="0" algn="ctr">
              <a:buNone/>
            </a:pPr>
            <a:r>
              <a:rPr lang="en-US" dirty="0">
                <a:solidFill>
                  <a:srgbClr val="FFFFFF"/>
                </a:solidFill>
                <a:latin typeface="Segoe UI Semibold"/>
              </a:rPr>
              <a:t>1</a:t>
            </a:r>
            <a:endParaRPr lang="en-US" dirty="0"/>
          </a:p>
        </p:txBody>
      </p:sp>
      <p:sp>
        <p:nvSpPr>
          <p:cNvPr id="6" name="Text 4"/>
          <p:cNvSpPr txBox="1"/>
          <p:nvPr/>
        </p:nvSpPr>
        <p:spPr>
          <a:xfrm>
            <a:off x="777240" y="2560320"/>
            <a:ext cx="2157984" cy="640080"/>
          </a:xfrm>
          <a:prstGeom prst="rect">
            <a:avLst/>
          </a:prstGeom>
          <a:noFill/>
          <a:ln/>
        </p:spPr>
        <p:txBody>
          <a:bodyPr wrap="square" lIns="0" tIns="0" rIns="0" bIns="0" rtlCol="0" anchor="t"/>
          <a:lstStyle/>
          <a:p>
            <a:pPr marL="0" indent="0">
              <a:buNone/>
            </a:pPr>
            <a:r>
              <a:rPr lang="en-US" sz="1750" dirty="0">
                <a:solidFill>
                  <a:srgbClr val="12315F"/>
                </a:solidFill>
                <a:latin typeface="Segoe UI Semibold"/>
              </a:rPr>
              <a:t>Reduce report generation time</a:t>
            </a:r>
            <a:endParaRPr lang="en-US" sz="1750" dirty="0"/>
          </a:p>
        </p:txBody>
      </p:sp>
      <p:sp>
        <p:nvSpPr>
          <p:cNvPr id="7" name="Text 5"/>
          <p:cNvSpPr txBox="1"/>
          <p:nvPr/>
        </p:nvSpPr>
        <p:spPr>
          <a:xfrm>
            <a:off x="777240" y="3246120"/>
            <a:ext cx="2157984" cy="1371600"/>
          </a:xfrm>
          <a:prstGeom prst="rect">
            <a:avLst/>
          </a:prstGeom>
          <a:noFill/>
          <a:ln/>
        </p:spPr>
        <p:txBody>
          <a:bodyPr wrap="square" lIns="0" tIns="0" rIns="0" bIns="0" rtlCol="0" anchor="t"/>
          <a:lstStyle/>
          <a:p>
            <a:pPr marL="0" indent="0">
              <a:buNone/>
            </a:pPr>
            <a:r>
              <a:rPr lang="en-US" sz="1350" dirty="0">
                <a:solidFill>
                  <a:srgbClr val="14233C"/>
                </a:solidFill>
              </a:rPr>
              <a:t>Template mapping fills the report from stored data. A numbered, hashed PDF is built in seconds.</a:t>
            </a:r>
            <a:endParaRPr lang="en-US" sz="1350" dirty="0"/>
          </a:p>
        </p:txBody>
      </p:sp>
      <p:sp>
        <p:nvSpPr>
          <p:cNvPr id="8" name="Pill: EFFICIENCY"/>
          <p:cNvSpPr txBox="1"/>
          <p:nvPr/>
        </p:nvSpPr>
        <p:spPr>
          <a:xfrm>
            <a:off x="777240" y="4663440"/>
            <a:ext cx="1097280" cy="274320"/>
          </a:xfrm>
          <a:prstGeom prst="roundRect">
            <a:avLst>
              <a:gd name="adj" fmla="val 50000"/>
            </a:avLst>
          </a:prstGeom>
          <a:solidFill>
            <a:srgbClr val="E2ECFA"/>
          </a:solidFill>
          <a:ln w="6350">
            <a:solidFill>
              <a:srgbClr val="E2ECFA"/>
            </a:solidFill>
          </a:ln>
        </p:spPr>
        <p:txBody>
          <a:bodyPr wrap="square" lIns="0" tIns="0" rIns="0" bIns="0" rtlCol="0" anchor="ctr"/>
          <a:lstStyle/>
          <a:p>
            <a:pPr marL="0" indent="0" algn="ctr">
              <a:buNone/>
            </a:pPr>
            <a:r>
              <a:rPr lang="en-US" sz="900" kern="0" spc="60" dirty="0">
                <a:solidFill>
                  <a:srgbClr val="1C4F9C"/>
                </a:solidFill>
                <a:latin typeface="Segoe UI Semibold"/>
              </a:rPr>
              <a:t>EFFICIENCY</a:t>
            </a:r>
            <a:endParaRPr lang="en-US" sz="900" dirty="0"/>
          </a:p>
        </p:txBody>
      </p:sp>
      <p:sp>
        <p:nvSpPr>
          <p:cNvPr id="9" name="Card"/>
          <p:cNvSpPr/>
          <p:nvPr/>
        </p:nvSpPr>
        <p:spPr>
          <a:xfrm>
            <a:off x="3374136" y="1691640"/>
            <a:ext cx="2615184" cy="3429000"/>
          </a:xfrm>
          <a:prstGeom prst="roundRect">
            <a:avLst>
              <a:gd name="adj" fmla="val 5594"/>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10" name="Step 2"/>
          <p:cNvSpPr txBox="1"/>
          <p:nvPr/>
        </p:nvSpPr>
        <p:spPr>
          <a:xfrm>
            <a:off x="3602736" y="1920240"/>
            <a:ext cx="457200" cy="457200"/>
          </a:xfrm>
          <a:prstGeom prst="ellipse">
            <a:avLst/>
          </a:prstGeom>
          <a:solidFill>
            <a:srgbClr val="0B2347"/>
          </a:solidFill>
          <a:ln>
            <a:solidFill>
              <a:srgbClr val="0B2347"/>
            </a:solidFill>
          </a:ln>
        </p:spPr>
        <p:txBody>
          <a:bodyPr wrap="square" lIns="0" tIns="0" rIns="0" bIns="0" rtlCol="0" anchor="ctr"/>
          <a:lstStyle/>
          <a:p>
            <a:pPr marL="0" indent="0" algn="ctr">
              <a:buNone/>
            </a:pPr>
            <a:r>
              <a:rPr lang="en-US" dirty="0">
                <a:solidFill>
                  <a:srgbClr val="FFFFFF"/>
                </a:solidFill>
                <a:latin typeface="Segoe UI Semibold"/>
              </a:rPr>
              <a:t>2</a:t>
            </a:r>
            <a:endParaRPr lang="en-US" dirty="0"/>
          </a:p>
        </p:txBody>
      </p:sp>
      <p:sp>
        <p:nvSpPr>
          <p:cNvPr id="11" name="Text 9"/>
          <p:cNvSpPr txBox="1"/>
          <p:nvPr/>
        </p:nvSpPr>
        <p:spPr>
          <a:xfrm>
            <a:off x="3602736" y="2560320"/>
            <a:ext cx="2157984" cy="640080"/>
          </a:xfrm>
          <a:prstGeom prst="rect">
            <a:avLst/>
          </a:prstGeom>
          <a:noFill/>
          <a:ln/>
        </p:spPr>
        <p:txBody>
          <a:bodyPr wrap="square" lIns="0" tIns="0" rIns="0" bIns="0" rtlCol="0" anchor="t"/>
          <a:lstStyle/>
          <a:p>
            <a:pPr marL="0" indent="0">
              <a:buNone/>
            </a:pPr>
            <a:r>
              <a:rPr lang="en-US" sz="1750" dirty="0">
                <a:solidFill>
                  <a:srgbClr val="12315F"/>
                </a:solidFill>
                <a:latin typeface="Segoe UI Semibold"/>
              </a:rPr>
              <a:t>Minimise manual errors</a:t>
            </a:r>
            <a:endParaRPr lang="en-US" sz="1750" dirty="0"/>
          </a:p>
        </p:txBody>
      </p:sp>
      <p:sp>
        <p:nvSpPr>
          <p:cNvPr id="12" name="Text 10"/>
          <p:cNvSpPr txBox="1"/>
          <p:nvPr/>
        </p:nvSpPr>
        <p:spPr>
          <a:xfrm>
            <a:off x="3602736" y="3246120"/>
            <a:ext cx="2157984" cy="1371600"/>
          </a:xfrm>
          <a:prstGeom prst="rect">
            <a:avLst/>
          </a:prstGeom>
          <a:noFill/>
          <a:ln/>
        </p:spPr>
        <p:txBody>
          <a:bodyPr wrap="square" lIns="0" tIns="0" rIns="0" bIns="0" rtlCol="0" anchor="t"/>
          <a:lstStyle/>
          <a:p>
            <a:pPr marL="0" indent="0">
              <a:buNone/>
            </a:pPr>
            <a:r>
              <a:rPr lang="en-US" sz="1350" dirty="0">
                <a:solidFill>
                  <a:srgbClr val="14233C"/>
                </a:solidFill>
              </a:rPr>
              <a:t>Values come straight from the logsheet with source cells. Automatic checks and independent verification catch the rest.</a:t>
            </a:r>
            <a:endParaRPr lang="en-US" sz="1350" dirty="0"/>
          </a:p>
        </p:txBody>
      </p:sp>
      <p:sp>
        <p:nvSpPr>
          <p:cNvPr id="13" name="Pill: INTEGRITY"/>
          <p:cNvSpPr txBox="1"/>
          <p:nvPr/>
        </p:nvSpPr>
        <p:spPr>
          <a:xfrm>
            <a:off x="3602736" y="4663440"/>
            <a:ext cx="1097280" cy="274320"/>
          </a:xfrm>
          <a:prstGeom prst="roundRect">
            <a:avLst>
              <a:gd name="adj" fmla="val 50000"/>
            </a:avLst>
          </a:prstGeom>
          <a:solidFill>
            <a:srgbClr val="E1F4EA"/>
          </a:solidFill>
          <a:ln w="6350">
            <a:solidFill>
              <a:srgbClr val="E1F4EA"/>
            </a:solidFill>
          </a:ln>
        </p:spPr>
        <p:txBody>
          <a:bodyPr wrap="square" lIns="0" tIns="0" rIns="0" bIns="0" rtlCol="0" anchor="ctr"/>
          <a:lstStyle/>
          <a:p>
            <a:pPr marL="0" indent="0" algn="ctr">
              <a:buNone/>
            </a:pPr>
            <a:r>
              <a:rPr lang="en-US" sz="900" kern="0" spc="60" dirty="0">
                <a:solidFill>
                  <a:srgbClr val="14804A"/>
                </a:solidFill>
                <a:latin typeface="Segoe UI Semibold"/>
              </a:rPr>
              <a:t>INTEGRITY</a:t>
            </a:r>
            <a:endParaRPr lang="en-US" sz="900" dirty="0"/>
          </a:p>
        </p:txBody>
      </p:sp>
      <p:sp>
        <p:nvSpPr>
          <p:cNvPr id="14" name="Card"/>
          <p:cNvSpPr/>
          <p:nvPr/>
        </p:nvSpPr>
        <p:spPr>
          <a:xfrm>
            <a:off x="6199632" y="1691640"/>
            <a:ext cx="2615184" cy="3429000"/>
          </a:xfrm>
          <a:prstGeom prst="roundRect">
            <a:avLst>
              <a:gd name="adj" fmla="val 5594"/>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15" name="Step 3"/>
          <p:cNvSpPr txBox="1"/>
          <p:nvPr/>
        </p:nvSpPr>
        <p:spPr>
          <a:xfrm>
            <a:off x="6428232" y="1920240"/>
            <a:ext cx="457200" cy="457200"/>
          </a:xfrm>
          <a:prstGeom prst="ellipse">
            <a:avLst/>
          </a:prstGeom>
          <a:solidFill>
            <a:srgbClr val="0B2347"/>
          </a:solidFill>
          <a:ln>
            <a:solidFill>
              <a:srgbClr val="0B2347"/>
            </a:solidFill>
          </a:ln>
        </p:spPr>
        <p:txBody>
          <a:bodyPr wrap="square" lIns="0" tIns="0" rIns="0" bIns="0" rtlCol="0" anchor="ctr"/>
          <a:lstStyle/>
          <a:p>
            <a:pPr marL="0" indent="0" algn="ctr">
              <a:buNone/>
            </a:pPr>
            <a:r>
              <a:rPr lang="en-US" dirty="0">
                <a:solidFill>
                  <a:srgbClr val="FFFFFF"/>
                </a:solidFill>
                <a:latin typeface="Segoe UI Semibold"/>
              </a:rPr>
              <a:t>3</a:t>
            </a:r>
            <a:endParaRPr lang="en-US" dirty="0"/>
          </a:p>
        </p:txBody>
      </p:sp>
      <p:sp>
        <p:nvSpPr>
          <p:cNvPr id="16" name="Text 14"/>
          <p:cNvSpPr txBox="1"/>
          <p:nvPr/>
        </p:nvSpPr>
        <p:spPr>
          <a:xfrm>
            <a:off x="6428232" y="2560320"/>
            <a:ext cx="2157984" cy="640080"/>
          </a:xfrm>
          <a:prstGeom prst="rect">
            <a:avLst/>
          </a:prstGeom>
          <a:noFill/>
          <a:ln/>
        </p:spPr>
        <p:txBody>
          <a:bodyPr wrap="square" lIns="0" tIns="0" rIns="0" bIns="0" rtlCol="0" anchor="t"/>
          <a:lstStyle/>
          <a:p>
            <a:pPr marL="0" indent="0">
              <a:buNone/>
            </a:pPr>
            <a:r>
              <a:rPr lang="en-US" sz="1750" dirty="0">
                <a:solidFill>
                  <a:srgbClr val="12315F"/>
                </a:solidFill>
                <a:latin typeface="Segoe UI Semibold"/>
              </a:rPr>
              <a:t>Improve productivity</a:t>
            </a:r>
            <a:endParaRPr lang="en-US" sz="1750" dirty="0"/>
          </a:p>
        </p:txBody>
      </p:sp>
      <p:sp>
        <p:nvSpPr>
          <p:cNvPr id="17" name="Text 15"/>
          <p:cNvSpPr txBox="1"/>
          <p:nvPr/>
        </p:nvSpPr>
        <p:spPr>
          <a:xfrm>
            <a:off x="6428232" y="3246120"/>
            <a:ext cx="2157984" cy="1371600"/>
          </a:xfrm>
          <a:prstGeom prst="rect">
            <a:avLst/>
          </a:prstGeom>
          <a:noFill/>
          <a:ln/>
        </p:spPr>
        <p:txBody>
          <a:bodyPr wrap="square" lIns="0" tIns="0" rIns="0" bIns="0" rtlCol="0" anchor="t"/>
          <a:lstStyle/>
          <a:p>
            <a:pPr marL="0" indent="0">
              <a:buNone/>
            </a:pPr>
            <a:r>
              <a:rPr lang="en-US" sz="1350" dirty="0">
                <a:solidFill>
                  <a:srgbClr val="14233C"/>
                </a:solidFill>
              </a:rPr>
              <a:t>Upload once, no re-keying. Each person's dashboard lists the tasks waiting for them.</a:t>
            </a:r>
            <a:endParaRPr lang="en-US" sz="1350" dirty="0"/>
          </a:p>
        </p:txBody>
      </p:sp>
      <p:sp>
        <p:nvSpPr>
          <p:cNvPr id="18" name="Pill: EFFICIENCY"/>
          <p:cNvSpPr txBox="1"/>
          <p:nvPr/>
        </p:nvSpPr>
        <p:spPr>
          <a:xfrm>
            <a:off x="6428232" y="4663440"/>
            <a:ext cx="1097280" cy="274320"/>
          </a:xfrm>
          <a:prstGeom prst="roundRect">
            <a:avLst>
              <a:gd name="adj" fmla="val 50000"/>
            </a:avLst>
          </a:prstGeom>
          <a:solidFill>
            <a:srgbClr val="E2ECFA"/>
          </a:solidFill>
          <a:ln w="6350">
            <a:solidFill>
              <a:srgbClr val="E2ECFA"/>
            </a:solidFill>
          </a:ln>
        </p:spPr>
        <p:txBody>
          <a:bodyPr wrap="square" lIns="0" tIns="0" rIns="0" bIns="0" rtlCol="0" anchor="ctr"/>
          <a:lstStyle/>
          <a:p>
            <a:pPr marL="0" indent="0" algn="ctr">
              <a:buNone/>
            </a:pPr>
            <a:r>
              <a:rPr lang="en-US" sz="900" kern="0" spc="60" dirty="0">
                <a:solidFill>
                  <a:srgbClr val="1C4F9C"/>
                </a:solidFill>
                <a:latin typeface="Segoe UI Semibold"/>
              </a:rPr>
              <a:t>EFFICIENCY</a:t>
            </a:r>
            <a:endParaRPr lang="en-US" sz="900" dirty="0"/>
          </a:p>
        </p:txBody>
      </p:sp>
      <p:sp>
        <p:nvSpPr>
          <p:cNvPr id="19" name="Card"/>
          <p:cNvSpPr/>
          <p:nvPr/>
        </p:nvSpPr>
        <p:spPr>
          <a:xfrm>
            <a:off x="9025128" y="1691640"/>
            <a:ext cx="2615184" cy="3429000"/>
          </a:xfrm>
          <a:prstGeom prst="roundRect">
            <a:avLst>
              <a:gd name="adj" fmla="val 5594"/>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20" name="Step 4"/>
          <p:cNvSpPr txBox="1"/>
          <p:nvPr/>
        </p:nvSpPr>
        <p:spPr>
          <a:xfrm>
            <a:off x="9253728" y="1920240"/>
            <a:ext cx="457200" cy="457200"/>
          </a:xfrm>
          <a:prstGeom prst="ellipse">
            <a:avLst/>
          </a:prstGeom>
          <a:solidFill>
            <a:srgbClr val="0B2347"/>
          </a:solidFill>
          <a:ln>
            <a:solidFill>
              <a:srgbClr val="0B2347"/>
            </a:solidFill>
          </a:ln>
        </p:spPr>
        <p:txBody>
          <a:bodyPr wrap="square" lIns="0" tIns="0" rIns="0" bIns="0" rtlCol="0" anchor="ctr"/>
          <a:lstStyle/>
          <a:p>
            <a:pPr marL="0" indent="0" algn="ctr">
              <a:buNone/>
            </a:pPr>
            <a:r>
              <a:rPr lang="en-US" dirty="0">
                <a:solidFill>
                  <a:srgbClr val="FFFFFF"/>
                </a:solidFill>
                <a:latin typeface="Segoe UI Semibold"/>
              </a:rPr>
              <a:t>4</a:t>
            </a:r>
            <a:endParaRPr lang="en-US" dirty="0"/>
          </a:p>
        </p:txBody>
      </p:sp>
      <p:sp>
        <p:nvSpPr>
          <p:cNvPr id="21" name="Text 19"/>
          <p:cNvSpPr txBox="1"/>
          <p:nvPr/>
        </p:nvSpPr>
        <p:spPr>
          <a:xfrm>
            <a:off x="9253728" y="2560320"/>
            <a:ext cx="2157984" cy="640080"/>
          </a:xfrm>
          <a:prstGeom prst="rect">
            <a:avLst/>
          </a:prstGeom>
          <a:noFill/>
          <a:ln/>
        </p:spPr>
        <p:txBody>
          <a:bodyPr wrap="square" lIns="0" tIns="0" rIns="0" bIns="0" rtlCol="0" anchor="t"/>
          <a:lstStyle/>
          <a:p>
            <a:pPr marL="0" indent="0">
              <a:buNone/>
            </a:pPr>
            <a:r>
              <a:rPr lang="en-US" sz="1750" dirty="0">
                <a:solidFill>
                  <a:srgbClr val="12315F"/>
                </a:solidFill>
                <a:latin typeface="Segoe UI Semibold"/>
              </a:rPr>
              <a:t>Enhance customer experience</a:t>
            </a:r>
            <a:endParaRPr lang="en-US" sz="1750" dirty="0"/>
          </a:p>
        </p:txBody>
      </p:sp>
      <p:sp>
        <p:nvSpPr>
          <p:cNvPr id="22" name="Text 20"/>
          <p:cNvSpPr txBox="1"/>
          <p:nvPr/>
        </p:nvSpPr>
        <p:spPr>
          <a:xfrm>
            <a:off x="9253728" y="3246120"/>
            <a:ext cx="2157984" cy="1371600"/>
          </a:xfrm>
          <a:prstGeom prst="rect">
            <a:avLst/>
          </a:prstGeom>
          <a:noFill/>
          <a:ln/>
        </p:spPr>
        <p:txBody>
          <a:bodyPr wrap="square" lIns="0" tIns="0" rIns="0" bIns="0" rtlCol="0" anchor="t"/>
          <a:lstStyle/>
          <a:p>
            <a:pPr marL="0" indent="0">
              <a:buNone/>
            </a:pPr>
            <a:r>
              <a:rPr lang="en-US" sz="1350" dirty="0">
                <a:solidFill>
                  <a:srgbClr val="14233C"/>
                </a:solidFill>
              </a:rPr>
              <a:t>Apply online, follow status, raise tickets, ask the assistant, download and verify the report.</a:t>
            </a:r>
            <a:endParaRPr lang="en-US" sz="1350" dirty="0"/>
          </a:p>
        </p:txBody>
      </p:sp>
      <p:sp>
        <p:nvSpPr>
          <p:cNvPr id="23" name="Pill: CUSTOMER"/>
          <p:cNvSpPr txBox="1"/>
          <p:nvPr/>
        </p:nvSpPr>
        <p:spPr>
          <a:xfrm>
            <a:off x="9253728" y="4663440"/>
            <a:ext cx="1097280" cy="274320"/>
          </a:xfrm>
          <a:prstGeom prst="roundRect">
            <a:avLst>
              <a:gd name="adj" fmla="val 50000"/>
            </a:avLst>
          </a:prstGeom>
          <a:solidFill>
            <a:srgbClr val="FFF1DA"/>
          </a:solidFill>
          <a:ln w="6350">
            <a:solidFill>
              <a:srgbClr val="FFF1DA"/>
            </a:solidFill>
          </a:ln>
        </p:spPr>
        <p:txBody>
          <a:bodyPr wrap="square" lIns="0" tIns="0" rIns="0" bIns="0" rtlCol="0" anchor="ctr"/>
          <a:lstStyle/>
          <a:p>
            <a:pPr marL="0" indent="0" algn="ctr">
              <a:buNone/>
            </a:pPr>
            <a:r>
              <a:rPr lang="en-US" sz="900" kern="0" spc="60" dirty="0">
                <a:solidFill>
                  <a:srgbClr val="A85D00"/>
                </a:solidFill>
                <a:latin typeface="Segoe UI Semibold"/>
              </a:rPr>
              <a:t>CUSTOMER</a:t>
            </a:r>
            <a:endParaRPr lang="en-US" sz="900" dirty="0"/>
          </a:p>
        </p:txBody>
      </p:sp>
      <p:sp>
        <p:nvSpPr>
          <p:cNvPr id="24" name="Story banner"/>
          <p:cNvSpPr/>
          <p:nvPr/>
        </p:nvSpPr>
        <p:spPr>
          <a:xfrm>
            <a:off x="548640" y="5349240"/>
            <a:ext cx="11094415" cy="731520"/>
          </a:xfrm>
          <a:prstGeom prst="roundRect">
            <a:avLst>
              <a:gd name="adj" fmla="val 20000"/>
            </a:avLst>
          </a:prstGeom>
          <a:solidFill>
            <a:srgbClr val="0B2347"/>
          </a:solidFill>
          <a:ln w="12700">
            <a:solidFill>
              <a:srgbClr val="0B2347"/>
            </a:solidFill>
            <a:prstDash val="solid"/>
          </a:ln>
        </p:spPr>
        <p:txBody>
          <a:bodyPr/>
          <a:lstStyle/>
          <a:p>
            <a:endParaRPr lang="en-US"/>
          </a:p>
        </p:txBody>
      </p:sp>
      <p:sp>
        <p:nvSpPr>
          <p:cNvPr id="25" name="Text 23"/>
          <p:cNvSpPr txBox="1"/>
          <p:nvPr/>
        </p:nvSpPr>
        <p:spPr>
          <a:xfrm>
            <a:off x="914400" y="5349240"/>
            <a:ext cx="10362895" cy="731520"/>
          </a:xfrm>
          <a:prstGeom prst="rect">
            <a:avLst/>
          </a:prstGeom>
          <a:noFill/>
          <a:ln/>
        </p:spPr>
        <p:txBody>
          <a:bodyPr wrap="square" lIns="0" tIns="0" rIns="0" bIns="0" rtlCol="0" anchor="ctr"/>
          <a:lstStyle/>
          <a:p>
            <a:pPr marL="0" indent="0">
              <a:buNone/>
            </a:pPr>
            <a:r>
              <a:rPr lang="en-US" sz="1950" dirty="0">
                <a:solidFill>
                  <a:srgbClr val="FFFFFF"/>
                </a:solidFill>
                <a:latin typeface="Segoe UI Semibold"/>
              </a:rPr>
              <a:t>From paper and hand-offs to one online flow:</a:t>
            </a:r>
            <a:br>
              <a:rPr lang="en-US" sz="1950" dirty="0">
                <a:solidFill>
                  <a:srgbClr val="FFFFFF"/>
                </a:solidFill>
                <a:latin typeface="Segoe UI Semibold"/>
              </a:rPr>
            </a:br>
            <a:r>
              <a:rPr lang="en-US" sz="1950" dirty="0">
                <a:solidFill>
                  <a:srgbClr val="FFFFFF"/>
                </a:solidFill>
                <a:latin typeface="Segoe UI Semibold"/>
              </a:rPr>
              <a:t>faster for the lab, clearer for the customer, and impossible to tamper with quietly.</a:t>
            </a:r>
            <a:endParaRPr lang="en-US" sz="1950" dirty="0"/>
          </a:p>
        </p:txBody>
      </p:sp>
      <p:sp>
        <p:nvSpPr>
          <p:cNvPr id="26"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6667F"/>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503920" cy="1005840"/>
          </a:xfrm>
          <a:prstGeom prst="rect">
            <a:avLst/>
          </a:prstGeom>
          <a:noFill/>
          <a:ln/>
        </p:spPr>
        <p:txBody>
          <a:bodyPr wrap="square" lIns="0" tIns="0" rIns="0" bIns="0" rtlCol="0" anchor="t"/>
          <a:lstStyle/>
          <a:p>
            <a:pPr marL="0" indent="0" algn="l">
              <a:buNone/>
            </a:pPr>
            <a:r>
              <a:rPr lang="en-US" sz="2800" spc="-20" dirty="0">
                <a:solidFill>
                  <a:schemeClr val="tx2"/>
                </a:solidFill>
                <a:latin typeface="Segoe UI Semibold"/>
              </a:rPr>
              <a:t>The prototype covers every module and input source the problem statement asks for</a:t>
            </a:r>
            <a:endParaRPr lang="en-US" sz="2800" dirty="0"/>
          </a:p>
        </p:txBody>
      </p:sp>
      <p:sp>
        <p:nvSpPr>
          <p:cNvPr id="3" name="Pill: EXPECTED SOLUTION"/>
          <p:cNvSpPr txBox="1"/>
          <p:nvPr/>
        </p:nvSpPr>
        <p:spPr>
          <a:xfrm>
            <a:off x="9444838" y="457200"/>
            <a:ext cx="2198218" cy="329184"/>
          </a:xfrm>
          <a:prstGeom prst="roundRect">
            <a:avLst>
              <a:gd name="adj" fmla="val 50000"/>
            </a:avLst>
          </a:prstGeom>
          <a:solidFill>
            <a:srgbClr val="EEF3FA"/>
          </a:solidFill>
          <a:ln w="6350">
            <a:solidFill>
              <a:srgbClr val="EEF3FA"/>
            </a:solidFill>
          </a:ln>
        </p:spPr>
        <p:txBody>
          <a:bodyPr wrap="square" lIns="0" tIns="0" rIns="0" bIns="0" rtlCol="0" anchor="ctr"/>
          <a:lstStyle/>
          <a:p>
            <a:pPr marL="0" indent="0" algn="ctr">
              <a:buNone/>
            </a:pPr>
            <a:r>
              <a:rPr lang="en-US" sz="1100" kern="0" spc="60" dirty="0">
                <a:solidFill>
                  <a:srgbClr val="56667F"/>
                </a:solidFill>
                <a:latin typeface="Segoe UI Semibold"/>
              </a:rPr>
              <a:t>EXPECTED SOLUTION</a:t>
            </a:r>
            <a:endParaRPr lang="en-US" sz="1100" dirty="0"/>
          </a:p>
        </p:txBody>
      </p:sp>
      <p:sp>
        <p:nvSpPr>
          <p:cNvPr id="4" name="Card"/>
          <p:cNvSpPr/>
          <p:nvPr/>
        </p:nvSpPr>
        <p:spPr>
          <a:xfrm>
            <a:off x="548640" y="1691640"/>
            <a:ext cx="2615184" cy="2697480"/>
          </a:xfrm>
          <a:prstGeom prst="roundRect">
            <a:avLst>
              <a:gd name="adj" fmla="val 5594"/>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5" name="Module tab"/>
          <p:cNvSpPr txBox="1"/>
          <p:nvPr/>
        </p:nvSpPr>
        <p:spPr>
          <a:xfrm>
            <a:off x="731520" y="1874520"/>
            <a:ext cx="2249424" cy="329184"/>
          </a:xfrm>
          <a:prstGeom prst="roundRect">
            <a:avLst>
              <a:gd name="adj" fmla="val 22222"/>
            </a:avLst>
          </a:prstGeom>
          <a:solidFill>
            <a:srgbClr val="0B2347"/>
          </a:solidFill>
          <a:ln>
            <a:solidFill>
              <a:srgbClr val="0B2347"/>
            </a:solidFill>
          </a:ln>
        </p:spPr>
        <p:txBody>
          <a:bodyPr wrap="square" lIns="0" tIns="0" rIns="0" bIns="0" rtlCol="0" anchor="ctr"/>
          <a:lstStyle/>
          <a:p>
            <a:pPr marL="0" indent="0" algn="ctr">
              <a:buNone/>
            </a:pPr>
            <a:r>
              <a:rPr lang="en-US" sz="1100" kern="0" spc="80" dirty="0">
                <a:solidFill>
                  <a:srgbClr val="FFFFFF"/>
                </a:solidFill>
                <a:latin typeface="Segoe UI Semibold"/>
              </a:rPr>
              <a:t>DATA COLLECTION</a:t>
            </a:r>
            <a:endParaRPr lang="en-US" sz="1100" dirty="0"/>
          </a:p>
        </p:txBody>
      </p:sp>
      <p:sp>
        <p:nvSpPr>
          <p:cNvPr id="6" name="Bullet dot"/>
          <p:cNvSpPr/>
          <p:nvPr/>
        </p:nvSpPr>
        <p:spPr>
          <a:xfrm>
            <a:off x="777240" y="2423160"/>
            <a:ext cx="146304" cy="146304"/>
          </a:xfrm>
          <a:prstGeom prst="ellipse">
            <a:avLst/>
          </a:prstGeom>
          <a:solidFill>
            <a:srgbClr val="1C4F9C"/>
          </a:solidFill>
          <a:ln w="12700">
            <a:solidFill>
              <a:srgbClr val="1C4F9C"/>
            </a:solidFill>
            <a:prstDash val="solid"/>
          </a:ln>
        </p:spPr>
      </p:sp>
      <p:sp>
        <p:nvSpPr>
          <p:cNvPr id="7" name="Text 5"/>
          <p:cNvSpPr txBox="1"/>
          <p:nvPr/>
        </p:nvSpPr>
        <p:spPr>
          <a:xfrm>
            <a:off x="1069848" y="2359152"/>
            <a:ext cx="1865376" cy="621792"/>
          </a:xfrm>
          <a:prstGeom prst="rect">
            <a:avLst/>
          </a:prstGeom>
          <a:noFill/>
          <a:ln/>
        </p:spPr>
        <p:txBody>
          <a:bodyPr wrap="square" lIns="0" tIns="0" rIns="0" bIns="0" rtlCol="0" anchor="t"/>
          <a:lstStyle/>
          <a:p>
            <a:pPr marL="0" indent="0">
              <a:buNone/>
            </a:pPr>
            <a:r>
              <a:rPr lang="en-US" sz="1350" dirty="0">
                <a:solidFill>
                  <a:srgbClr val="14233C"/>
                </a:solidFill>
              </a:rPr>
              <a:t>Customer request form, online</a:t>
            </a:r>
            <a:endParaRPr lang="en-US" sz="1350" dirty="0"/>
          </a:p>
        </p:txBody>
      </p:sp>
      <p:sp>
        <p:nvSpPr>
          <p:cNvPr id="8" name="Bullet dot"/>
          <p:cNvSpPr/>
          <p:nvPr/>
        </p:nvSpPr>
        <p:spPr>
          <a:xfrm>
            <a:off x="777240" y="3081528"/>
            <a:ext cx="146304" cy="146304"/>
          </a:xfrm>
          <a:prstGeom prst="ellipse">
            <a:avLst/>
          </a:prstGeom>
          <a:solidFill>
            <a:srgbClr val="1C4F9C"/>
          </a:solidFill>
          <a:ln w="12700">
            <a:solidFill>
              <a:srgbClr val="1C4F9C"/>
            </a:solidFill>
            <a:prstDash val="solid"/>
          </a:ln>
        </p:spPr>
      </p:sp>
      <p:sp>
        <p:nvSpPr>
          <p:cNvPr id="9" name="Text 7"/>
          <p:cNvSpPr txBox="1"/>
          <p:nvPr/>
        </p:nvSpPr>
        <p:spPr>
          <a:xfrm>
            <a:off x="1069848" y="3017520"/>
            <a:ext cx="1865376" cy="621792"/>
          </a:xfrm>
          <a:prstGeom prst="rect">
            <a:avLst/>
          </a:prstGeom>
          <a:noFill/>
          <a:ln/>
        </p:spPr>
        <p:txBody>
          <a:bodyPr wrap="square" lIns="0" tIns="0" rIns="0" bIns="0" rtlCol="0" anchor="t"/>
          <a:lstStyle/>
          <a:p>
            <a:pPr marL="0" indent="0">
              <a:buNone/>
            </a:pPr>
            <a:r>
              <a:rPr lang="en-US" sz="1350" dirty="0">
                <a:solidFill>
                  <a:srgbClr val="14233C"/>
                </a:solidFill>
              </a:rPr>
              <a:t>Excel and CSV logsheets with source cells</a:t>
            </a:r>
            <a:endParaRPr lang="en-US" sz="1350" dirty="0"/>
          </a:p>
        </p:txBody>
      </p:sp>
      <p:sp>
        <p:nvSpPr>
          <p:cNvPr id="10" name="Bullet dot"/>
          <p:cNvSpPr/>
          <p:nvPr/>
        </p:nvSpPr>
        <p:spPr>
          <a:xfrm>
            <a:off x="777240" y="3739896"/>
            <a:ext cx="146304" cy="146304"/>
          </a:xfrm>
          <a:prstGeom prst="ellipse">
            <a:avLst/>
          </a:prstGeom>
          <a:solidFill>
            <a:srgbClr val="1C4F9C"/>
          </a:solidFill>
          <a:ln w="12700">
            <a:solidFill>
              <a:srgbClr val="1C4F9C"/>
            </a:solidFill>
            <a:prstDash val="solid"/>
          </a:ln>
        </p:spPr>
      </p:sp>
      <p:sp>
        <p:nvSpPr>
          <p:cNvPr id="11" name="Text 9"/>
          <p:cNvSpPr txBox="1"/>
          <p:nvPr/>
        </p:nvSpPr>
        <p:spPr>
          <a:xfrm>
            <a:off x="1069848" y="3675888"/>
            <a:ext cx="1865376" cy="621792"/>
          </a:xfrm>
          <a:prstGeom prst="rect">
            <a:avLst/>
          </a:prstGeom>
          <a:noFill/>
          <a:ln/>
        </p:spPr>
        <p:txBody>
          <a:bodyPr wrap="square" lIns="0" tIns="0" rIns="0" bIns="0" rtlCol="0" anchor="t"/>
          <a:lstStyle/>
          <a:p>
            <a:pPr marL="0" indent="0">
              <a:buNone/>
            </a:pPr>
            <a:r>
              <a:rPr lang="en-US" sz="1350" dirty="0">
                <a:solidFill>
                  <a:srgbClr val="14233C"/>
                </a:solidFill>
              </a:rPr>
              <a:t>CSV, Excel, JSON, SQLite and legacy registers</a:t>
            </a:r>
            <a:endParaRPr lang="en-US" sz="1350" dirty="0"/>
          </a:p>
        </p:txBody>
      </p:sp>
      <p:sp>
        <p:nvSpPr>
          <p:cNvPr id="12" name="Card"/>
          <p:cNvSpPr/>
          <p:nvPr/>
        </p:nvSpPr>
        <p:spPr>
          <a:xfrm>
            <a:off x="3374136" y="1691640"/>
            <a:ext cx="2615184" cy="2697480"/>
          </a:xfrm>
          <a:prstGeom prst="roundRect">
            <a:avLst>
              <a:gd name="adj" fmla="val 5594"/>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13" name="Module tab"/>
          <p:cNvSpPr txBox="1"/>
          <p:nvPr/>
        </p:nvSpPr>
        <p:spPr>
          <a:xfrm>
            <a:off x="3557016" y="1874520"/>
            <a:ext cx="2249424" cy="329184"/>
          </a:xfrm>
          <a:prstGeom prst="roundRect">
            <a:avLst>
              <a:gd name="adj" fmla="val 22222"/>
            </a:avLst>
          </a:prstGeom>
          <a:solidFill>
            <a:srgbClr val="0B2347"/>
          </a:solidFill>
          <a:ln>
            <a:solidFill>
              <a:srgbClr val="0B2347"/>
            </a:solidFill>
          </a:ln>
        </p:spPr>
        <p:txBody>
          <a:bodyPr wrap="square" lIns="0" tIns="0" rIns="0" bIns="0" rtlCol="0" anchor="ctr"/>
          <a:lstStyle/>
          <a:p>
            <a:pPr marL="0" indent="0" algn="ctr">
              <a:buNone/>
            </a:pPr>
            <a:r>
              <a:rPr lang="en-US" sz="1100" kern="0" spc="80" dirty="0">
                <a:solidFill>
                  <a:srgbClr val="FFFFFF"/>
                </a:solidFill>
                <a:latin typeface="Segoe UI Semibold"/>
              </a:rPr>
              <a:t>DATABASE MANAGEMENT</a:t>
            </a:r>
            <a:endParaRPr lang="en-US" sz="1100" dirty="0"/>
          </a:p>
        </p:txBody>
      </p:sp>
      <p:sp>
        <p:nvSpPr>
          <p:cNvPr id="14" name="Bullet dot"/>
          <p:cNvSpPr/>
          <p:nvPr/>
        </p:nvSpPr>
        <p:spPr>
          <a:xfrm>
            <a:off x="3602736" y="2423160"/>
            <a:ext cx="146304" cy="146304"/>
          </a:xfrm>
          <a:prstGeom prst="ellipse">
            <a:avLst/>
          </a:prstGeom>
          <a:solidFill>
            <a:srgbClr val="1C4F9C"/>
          </a:solidFill>
          <a:ln w="12700">
            <a:solidFill>
              <a:srgbClr val="1C4F9C"/>
            </a:solidFill>
            <a:prstDash val="solid"/>
          </a:ln>
        </p:spPr>
      </p:sp>
      <p:sp>
        <p:nvSpPr>
          <p:cNvPr id="15" name="Text 13"/>
          <p:cNvSpPr txBox="1"/>
          <p:nvPr/>
        </p:nvSpPr>
        <p:spPr>
          <a:xfrm>
            <a:off x="3895344" y="2359152"/>
            <a:ext cx="1865376" cy="621792"/>
          </a:xfrm>
          <a:prstGeom prst="rect">
            <a:avLst/>
          </a:prstGeom>
          <a:noFill/>
          <a:ln/>
        </p:spPr>
        <p:txBody>
          <a:bodyPr wrap="square" lIns="0" tIns="0" rIns="0" bIns="0" rtlCol="0" anchor="t"/>
          <a:lstStyle/>
          <a:p>
            <a:pPr marL="0" indent="0">
              <a:buNone/>
            </a:pPr>
            <a:r>
              <a:rPr lang="en-US" sz="1350" dirty="0">
                <a:solidFill>
                  <a:srgbClr val="14233C"/>
                </a:solidFill>
              </a:rPr>
              <a:t>Every test stored with its full history</a:t>
            </a:r>
            <a:endParaRPr lang="en-US" sz="1350" dirty="0"/>
          </a:p>
        </p:txBody>
      </p:sp>
      <p:sp>
        <p:nvSpPr>
          <p:cNvPr id="16" name="Bullet dot"/>
          <p:cNvSpPr/>
          <p:nvPr/>
        </p:nvSpPr>
        <p:spPr>
          <a:xfrm>
            <a:off x="3602736" y="3081528"/>
            <a:ext cx="146304" cy="146304"/>
          </a:xfrm>
          <a:prstGeom prst="ellipse">
            <a:avLst/>
          </a:prstGeom>
          <a:solidFill>
            <a:srgbClr val="1C4F9C"/>
          </a:solidFill>
          <a:ln w="12700">
            <a:solidFill>
              <a:srgbClr val="1C4F9C"/>
            </a:solidFill>
            <a:prstDash val="solid"/>
          </a:ln>
        </p:spPr>
      </p:sp>
      <p:sp>
        <p:nvSpPr>
          <p:cNvPr id="17" name="Text 15"/>
          <p:cNvSpPr txBox="1"/>
          <p:nvPr/>
        </p:nvSpPr>
        <p:spPr>
          <a:xfrm>
            <a:off x="3895344" y="3017520"/>
            <a:ext cx="1865376" cy="621792"/>
          </a:xfrm>
          <a:prstGeom prst="rect">
            <a:avLst/>
          </a:prstGeom>
          <a:noFill/>
          <a:ln/>
        </p:spPr>
        <p:txBody>
          <a:bodyPr wrap="square" lIns="0" tIns="0" rIns="0" bIns="0" rtlCol="0" anchor="t"/>
          <a:lstStyle/>
          <a:p>
            <a:pPr marL="0" indent="0">
              <a:buNone/>
            </a:pPr>
            <a:r>
              <a:rPr lang="en-US" sz="1350" dirty="0">
                <a:solidFill>
                  <a:srgbClr val="14233C"/>
                </a:solidFill>
              </a:rPr>
              <a:t>Files kept with SHA-256 fingerprints</a:t>
            </a:r>
            <a:endParaRPr lang="en-US" sz="1350" dirty="0"/>
          </a:p>
        </p:txBody>
      </p:sp>
      <p:sp>
        <p:nvSpPr>
          <p:cNvPr id="18" name="Bullet dot"/>
          <p:cNvSpPr/>
          <p:nvPr/>
        </p:nvSpPr>
        <p:spPr>
          <a:xfrm>
            <a:off x="3602736" y="3739896"/>
            <a:ext cx="146304" cy="146304"/>
          </a:xfrm>
          <a:prstGeom prst="ellipse">
            <a:avLst/>
          </a:prstGeom>
          <a:solidFill>
            <a:srgbClr val="1C4F9C"/>
          </a:solidFill>
          <a:ln w="12700">
            <a:solidFill>
              <a:srgbClr val="1C4F9C"/>
            </a:solidFill>
            <a:prstDash val="solid"/>
          </a:ln>
        </p:spPr>
      </p:sp>
      <p:sp>
        <p:nvSpPr>
          <p:cNvPr id="19" name="Text 17"/>
          <p:cNvSpPr txBox="1"/>
          <p:nvPr/>
        </p:nvSpPr>
        <p:spPr>
          <a:xfrm>
            <a:off x="3895344" y="3675888"/>
            <a:ext cx="1865376" cy="621792"/>
          </a:xfrm>
          <a:prstGeom prst="rect">
            <a:avLst/>
          </a:prstGeom>
          <a:noFill/>
          <a:ln/>
        </p:spPr>
        <p:txBody>
          <a:bodyPr wrap="square" lIns="0" tIns="0" rIns="0" bIns="0" rtlCol="0" anchor="t"/>
          <a:lstStyle/>
          <a:p>
            <a:pPr marL="0" indent="0">
              <a:buNone/>
            </a:pPr>
            <a:r>
              <a:rPr lang="en-US" sz="1350" dirty="0">
                <a:solidFill>
                  <a:srgbClr val="14233C"/>
                </a:solidFill>
              </a:rPr>
              <a:t>Historical records searchable</a:t>
            </a:r>
            <a:endParaRPr lang="en-US" sz="1350" dirty="0"/>
          </a:p>
        </p:txBody>
      </p:sp>
      <p:sp>
        <p:nvSpPr>
          <p:cNvPr id="20" name="Card"/>
          <p:cNvSpPr/>
          <p:nvPr/>
        </p:nvSpPr>
        <p:spPr>
          <a:xfrm>
            <a:off x="6199632" y="1691640"/>
            <a:ext cx="2615184" cy="2697480"/>
          </a:xfrm>
          <a:prstGeom prst="roundRect">
            <a:avLst>
              <a:gd name="adj" fmla="val 5594"/>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21" name="Module tab"/>
          <p:cNvSpPr txBox="1"/>
          <p:nvPr/>
        </p:nvSpPr>
        <p:spPr>
          <a:xfrm>
            <a:off x="6382512" y="1874520"/>
            <a:ext cx="2249424" cy="329184"/>
          </a:xfrm>
          <a:prstGeom prst="roundRect">
            <a:avLst>
              <a:gd name="adj" fmla="val 22222"/>
            </a:avLst>
          </a:prstGeom>
          <a:solidFill>
            <a:srgbClr val="0B2347"/>
          </a:solidFill>
          <a:ln>
            <a:solidFill>
              <a:srgbClr val="0B2347"/>
            </a:solidFill>
          </a:ln>
        </p:spPr>
        <p:txBody>
          <a:bodyPr wrap="square" lIns="0" tIns="0" rIns="0" bIns="0" rtlCol="0" anchor="ctr"/>
          <a:lstStyle/>
          <a:p>
            <a:pPr marL="0" indent="0" algn="ctr">
              <a:buNone/>
            </a:pPr>
            <a:r>
              <a:rPr lang="en-US" sz="1100" kern="0" spc="80" dirty="0">
                <a:solidFill>
                  <a:srgbClr val="FFFFFF"/>
                </a:solidFill>
                <a:latin typeface="Segoe UI Semibold"/>
              </a:rPr>
              <a:t>REPORT ENGINE</a:t>
            </a:r>
            <a:endParaRPr lang="en-US" sz="1100" dirty="0"/>
          </a:p>
        </p:txBody>
      </p:sp>
      <p:sp>
        <p:nvSpPr>
          <p:cNvPr id="22" name="Bullet dot"/>
          <p:cNvSpPr/>
          <p:nvPr/>
        </p:nvSpPr>
        <p:spPr>
          <a:xfrm>
            <a:off x="6428232" y="2423160"/>
            <a:ext cx="146304" cy="146304"/>
          </a:xfrm>
          <a:prstGeom prst="ellipse">
            <a:avLst/>
          </a:prstGeom>
          <a:solidFill>
            <a:srgbClr val="1C4F9C"/>
          </a:solidFill>
          <a:ln w="12700">
            <a:solidFill>
              <a:srgbClr val="1C4F9C"/>
            </a:solidFill>
            <a:prstDash val="solid"/>
          </a:ln>
        </p:spPr>
      </p:sp>
      <p:sp>
        <p:nvSpPr>
          <p:cNvPr id="23" name="Text 21"/>
          <p:cNvSpPr txBox="1"/>
          <p:nvPr/>
        </p:nvSpPr>
        <p:spPr>
          <a:xfrm>
            <a:off x="6720840" y="2359152"/>
            <a:ext cx="1865376" cy="621792"/>
          </a:xfrm>
          <a:prstGeom prst="rect">
            <a:avLst/>
          </a:prstGeom>
          <a:noFill/>
          <a:ln/>
        </p:spPr>
        <p:txBody>
          <a:bodyPr wrap="square" lIns="0" tIns="0" rIns="0" bIns="0" rtlCol="0" anchor="t"/>
          <a:lstStyle/>
          <a:p>
            <a:pPr marL="0" indent="0">
              <a:buNone/>
            </a:pPr>
            <a:r>
              <a:rPr lang="en-US" sz="1350" dirty="0">
                <a:solidFill>
                  <a:srgbClr val="14233C"/>
                </a:solidFill>
              </a:rPr>
              <a:t>Template mapping to the lab's format</a:t>
            </a:r>
            <a:endParaRPr lang="en-US" sz="1350" dirty="0"/>
          </a:p>
        </p:txBody>
      </p:sp>
      <p:sp>
        <p:nvSpPr>
          <p:cNvPr id="24" name="Bullet dot"/>
          <p:cNvSpPr/>
          <p:nvPr/>
        </p:nvSpPr>
        <p:spPr>
          <a:xfrm>
            <a:off x="6428232" y="3081528"/>
            <a:ext cx="146304" cy="146304"/>
          </a:xfrm>
          <a:prstGeom prst="ellipse">
            <a:avLst/>
          </a:prstGeom>
          <a:solidFill>
            <a:srgbClr val="1C4F9C"/>
          </a:solidFill>
          <a:ln w="12700">
            <a:solidFill>
              <a:srgbClr val="1C4F9C"/>
            </a:solidFill>
            <a:prstDash val="solid"/>
          </a:ln>
        </p:spPr>
      </p:sp>
      <p:sp>
        <p:nvSpPr>
          <p:cNvPr id="25" name="Text 23"/>
          <p:cNvSpPr txBox="1"/>
          <p:nvPr/>
        </p:nvSpPr>
        <p:spPr>
          <a:xfrm>
            <a:off x="6720840" y="3017520"/>
            <a:ext cx="1865376" cy="621792"/>
          </a:xfrm>
          <a:prstGeom prst="rect">
            <a:avLst/>
          </a:prstGeom>
          <a:noFill/>
          <a:ln/>
        </p:spPr>
        <p:txBody>
          <a:bodyPr wrap="square" lIns="0" tIns="0" rIns="0" bIns="0" rtlCol="0" anchor="t"/>
          <a:lstStyle/>
          <a:p>
            <a:pPr marL="0" indent="0">
              <a:buNone/>
            </a:pPr>
            <a:r>
              <a:rPr lang="en-US" sz="1350" dirty="0">
                <a:solidFill>
                  <a:srgbClr val="14233C"/>
                </a:solidFill>
              </a:rPr>
              <a:t>Numbered, hashed, downloadable PDF</a:t>
            </a:r>
            <a:endParaRPr lang="en-US" sz="1350" dirty="0"/>
          </a:p>
        </p:txBody>
      </p:sp>
      <p:sp>
        <p:nvSpPr>
          <p:cNvPr id="26" name="Bullet dot"/>
          <p:cNvSpPr/>
          <p:nvPr/>
        </p:nvSpPr>
        <p:spPr>
          <a:xfrm>
            <a:off x="6428232" y="3739896"/>
            <a:ext cx="146304" cy="146304"/>
          </a:xfrm>
          <a:prstGeom prst="ellipse">
            <a:avLst/>
          </a:prstGeom>
          <a:solidFill>
            <a:srgbClr val="1C4F9C"/>
          </a:solidFill>
          <a:ln w="12700">
            <a:solidFill>
              <a:srgbClr val="1C4F9C"/>
            </a:solidFill>
            <a:prstDash val="solid"/>
          </a:ln>
        </p:spPr>
      </p:sp>
      <p:sp>
        <p:nvSpPr>
          <p:cNvPr id="27" name="Text 25"/>
          <p:cNvSpPr txBox="1"/>
          <p:nvPr/>
        </p:nvSpPr>
        <p:spPr>
          <a:xfrm>
            <a:off x="6720840" y="3675888"/>
            <a:ext cx="1865376" cy="621792"/>
          </a:xfrm>
          <a:prstGeom prst="rect">
            <a:avLst/>
          </a:prstGeom>
          <a:noFill/>
          <a:ln/>
        </p:spPr>
        <p:txBody>
          <a:bodyPr wrap="square" lIns="0" tIns="0" rIns="0" bIns="0" rtlCol="0" anchor="t"/>
          <a:lstStyle/>
          <a:p>
            <a:pPr marL="0" indent="0">
              <a:buNone/>
            </a:pPr>
            <a:r>
              <a:rPr lang="en-US" sz="1350" dirty="0">
                <a:solidFill>
                  <a:srgbClr val="14233C"/>
                </a:solidFill>
              </a:rPr>
              <a:t>Partial report from approved tests</a:t>
            </a:r>
            <a:endParaRPr lang="en-US" sz="1350" dirty="0"/>
          </a:p>
        </p:txBody>
      </p:sp>
      <p:sp>
        <p:nvSpPr>
          <p:cNvPr id="28" name="Card"/>
          <p:cNvSpPr/>
          <p:nvPr/>
        </p:nvSpPr>
        <p:spPr>
          <a:xfrm>
            <a:off x="9025128" y="1691640"/>
            <a:ext cx="2615184" cy="2697480"/>
          </a:xfrm>
          <a:prstGeom prst="roundRect">
            <a:avLst>
              <a:gd name="adj" fmla="val 5594"/>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29" name="Module tab"/>
          <p:cNvSpPr txBox="1"/>
          <p:nvPr/>
        </p:nvSpPr>
        <p:spPr>
          <a:xfrm>
            <a:off x="9208008" y="1874520"/>
            <a:ext cx="2249424" cy="329184"/>
          </a:xfrm>
          <a:prstGeom prst="roundRect">
            <a:avLst>
              <a:gd name="adj" fmla="val 22222"/>
            </a:avLst>
          </a:prstGeom>
          <a:solidFill>
            <a:srgbClr val="0B2347"/>
          </a:solidFill>
          <a:ln>
            <a:solidFill>
              <a:srgbClr val="0B2347"/>
            </a:solidFill>
          </a:ln>
        </p:spPr>
        <p:txBody>
          <a:bodyPr wrap="square" lIns="0" tIns="0" rIns="0" bIns="0" rtlCol="0" anchor="ctr"/>
          <a:lstStyle/>
          <a:p>
            <a:pPr marL="0" indent="0" algn="ctr">
              <a:buNone/>
            </a:pPr>
            <a:r>
              <a:rPr lang="en-US" sz="1100" kern="0" spc="80" dirty="0">
                <a:solidFill>
                  <a:srgbClr val="FFFFFF"/>
                </a:solidFill>
                <a:latin typeface="Segoe UI Semibold"/>
              </a:rPr>
              <a:t>DASHBOARD</a:t>
            </a:r>
            <a:endParaRPr lang="en-US" sz="1100" dirty="0"/>
          </a:p>
        </p:txBody>
      </p:sp>
      <p:sp>
        <p:nvSpPr>
          <p:cNvPr id="30" name="Bullet dot"/>
          <p:cNvSpPr/>
          <p:nvPr/>
        </p:nvSpPr>
        <p:spPr>
          <a:xfrm>
            <a:off x="9253728" y="2423160"/>
            <a:ext cx="146304" cy="146304"/>
          </a:xfrm>
          <a:prstGeom prst="ellipse">
            <a:avLst/>
          </a:prstGeom>
          <a:solidFill>
            <a:srgbClr val="1C4F9C"/>
          </a:solidFill>
          <a:ln w="12700">
            <a:solidFill>
              <a:srgbClr val="1C4F9C"/>
            </a:solidFill>
            <a:prstDash val="solid"/>
          </a:ln>
        </p:spPr>
      </p:sp>
      <p:sp>
        <p:nvSpPr>
          <p:cNvPr id="31" name="Text 29"/>
          <p:cNvSpPr txBox="1"/>
          <p:nvPr/>
        </p:nvSpPr>
        <p:spPr>
          <a:xfrm>
            <a:off x="9546336" y="2359152"/>
            <a:ext cx="1865376" cy="621792"/>
          </a:xfrm>
          <a:prstGeom prst="rect">
            <a:avLst/>
          </a:prstGeom>
          <a:noFill/>
          <a:ln/>
        </p:spPr>
        <p:txBody>
          <a:bodyPr wrap="square" lIns="0" tIns="0" rIns="0" bIns="0" rtlCol="0" anchor="t"/>
          <a:lstStyle/>
          <a:p>
            <a:pPr marL="0" indent="0">
              <a:buNone/>
            </a:pPr>
            <a:r>
              <a:rPr lang="en-US" sz="1350" dirty="0">
                <a:solidFill>
                  <a:srgbClr val="14233C"/>
                </a:solidFill>
              </a:rPr>
              <a:t>Report status and progress per job</a:t>
            </a:r>
            <a:endParaRPr lang="en-US" sz="1350" dirty="0"/>
          </a:p>
        </p:txBody>
      </p:sp>
      <p:sp>
        <p:nvSpPr>
          <p:cNvPr id="32" name="Bullet dot"/>
          <p:cNvSpPr/>
          <p:nvPr/>
        </p:nvSpPr>
        <p:spPr>
          <a:xfrm>
            <a:off x="9253728" y="3081528"/>
            <a:ext cx="146304" cy="146304"/>
          </a:xfrm>
          <a:prstGeom prst="ellipse">
            <a:avLst/>
          </a:prstGeom>
          <a:solidFill>
            <a:srgbClr val="1C4F9C"/>
          </a:solidFill>
          <a:ln w="12700">
            <a:solidFill>
              <a:srgbClr val="1C4F9C"/>
            </a:solidFill>
            <a:prstDash val="solid"/>
          </a:ln>
        </p:spPr>
      </p:sp>
      <p:sp>
        <p:nvSpPr>
          <p:cNvPr id="33" name="Text 31"/>
          <p:cNvSpPr txBox="1"/>
          <p:nvPr/>
        </p:nvSpPr>
        <p:spPr>
          <a:xfrm>
            <a:off x="9546336" y="3017520"/>
            <a:ext cx="1865376" cy="621792"/>
          </a:xfrm>
          <a:prstGeom prst="rect">
            <a:avLst/>
          </a:prstGeom>
          <a:noFill/>
          <a:ln/>
        </p:spPr>
        <p:txBody>
          <a:bodyPr wrap="square" lIns="0" tIns="0" rIns="0" bIns="0" rtlCol="0" anchor="t"/>
          <a:lstStyle/>
          <a:p>
            <a:pPr marL="0" indent="0">
              <a:buNone/>
            </a:pPr>
            <a:r>
              <a:rPr lang="en-US" sz="1350" dirty="0">
                <a:solidFill>
                  <a:srgbClr val="14233C"/>
                </a:solidFill>
              </a:rPr>
              <a:t>Search records, export many jobs to Excel</a:t>
            </a:r>
            <a:endParaRPr lang="en-US" sz="1350" dirty="0"/>
          </a:p>
        </p:txBody>
      </p:sp>
      <p:sp>
        <p:nvSpPr>
          <p:cNvPr id="34" name="Bullet dot"/>
          <p:cNvSpPr/>
          <p:nvPr/>
        </p:nvSpPr>
        <p:spPr>
          <a:xfrm>
            <a:off x="9253728" y="3739896"/>
            <a:ext cx="146304" cy="146304"/>
          </a:xfrm>
          <a:prstGeom prst="ellipse">
            <a:avLst/>
          </a:prstGeom>
          <a:solidFill>
            <a:srgbClr val="1C4F9C"/>
          </a:solidFill>
          <a:ln w="12700">
            <a:solidFill>
              <a:srgbClr val="1C4F9C"/>
            </a:solidFill>
            <a:prstDash val="solid"/>
          </a:ln>
        </p:spPr>
      </p:sp>
      <p:sp>
        <p:nvSpPr>
          <p:cNvPr id="35" name="Text 33"/>
          <p:cNvSpPr txBox="1"/>
          <p:nvPr/>
        </p:nvSpPr>
        <p:spPr>
          <a:xfrm>
            <a:off x="9546336" y="3675888"/>
            <a:ext cx="1865376" cy="621792"/>
          </a:xfrm>
          <a:prstGeom prst="rect">
            <a:avLst/>
          </a:prstGeom>
          <a:noFill/>
          <a:ln/>
        </p:spPr>
        <p:txBody>
          <a:bodyPr wrap="square" lIns="0" tIns="0" rIns="0" bIns="0" rtlCol="0" anchor="t"/>
          <a:lstStyle/>
          <a:p>
            <a:pPr marL="0" indent="0">
              <a:buNone/>
            </a:pPr>
            <a:r>
              <a:rPr lang="en-US" sz="1350" dirty="0">
                <a:solidFill>
                  <a:srgbClr val="14233C"/>
                </a:solidFill>
              </a:rPr>
              <a:t>Tasks waiting for each person</a:t>
            </a:r>
            <a:endParaRPr lang="en-US" sz="1350" dirty="0"/>
          </a:p>
        </p:txBody>
      </p:sp>
      <p:sp>
        <p:nvSpPr>
          <p:cNvPr id="301" name="Callout: Excel templates"/>
          <p:cNvSpPr/>
          <p:nvPr/>
        </p:nvSpPr>
        <p:spPr>
          <a:xfrm>
            <a:off x="548640" y="4553712"/>
            <a:ext cx="11091672" cy="914400"/>
          </a:xfrm>
          <a:prstGeom prst="roundRect">
            <a:avLst>
              <a:gd name="adj" fmla="val 5594"/>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pic>
        <p:nvPicPr>
          <p:cNvPr id="302" name="Icon: Excel template" descr="Icon: document"/>
          <p:cNvPicPr>
            <a:picLocks noChangeAspect="1"/>
          </p:cNvPicPr>
          <p:nvPr/>
        </p:nvPicPr>
        <p:blipFill>
          <a:blip r:embed="rId3"/>
          <a:stretch>
            <a:fillRect/>
          </a:stretch>
        </p:blipFill>
        <p:spPr>
          <a:xfrm>
            <a:off x="768096" y="4754880"/>
            <a:ext cx="512064" cy="512064"/>
          </a:xfrm>
          <a:prstGeom prst="rect">
            <a:avLst/>
          </a:prstGeom>
        </p:spPr>
      </p:pic>
      <p:sp>
        <p:nvSpPr>
          <p:cNvPr id="303" name="Callout heading"/>
          <p:cNvSpPr txBox="1"/>
          <p:nvPr/>
        </p:nvSpPr>
        <p:spPr>
          <a:xfrm>
            <a:off x="1481328" y="4663440"/>
            <a:ext cx="7589520" cy="274320"/>
          </a:xfrm>
          <a:prstGeom prst="rect">
            <a:avLst/>
          </a:prstGeom>
          <a:noFill/>
          <a:ln/>
        </p:spPr>
        <p:txBody>
          <a:bodyPr wrap="square" lIns="0" tIns="0" rIns="0" bIns="0" rtlCol="0" anchor="t"/>
          <a:lstStyle/>
          <a:p>
            <a:pPr marL="0" indent="0">
              <a:buNone/>
            </a:pPr>
            <a:r>
              <a:rPr lang="en-US" sz="1900" dirty="0">
                <a:solidFill>
                  <a:srgbClr val="12315F"/>
                </a:solidFill>
                <a:latin typeface="Segoe UI Semibold"/>
              </a:rPr>
              <a:t>Excel templates that mirror the paper logsheets</a:t>
            </a:r>
          </a:p>
        </p:txBody>
      </p:sp>
      <p:sp>
        <p:nvSpPr>
          <p:cNvPr id="304" name="Callout body"/>
          <p:cNvSpPr txBox="1"/>
          <p:nvPr/>
        </p:nvSpPr>
        <p:spPr>
          <a:xfrm>
            <a:off x="1481328" y="4965192"/>
            <a:ext cx="7680960" cy="438912"/>
          </a:xfrm>
          <a:prstGeom prst="rect">
            <a:avLst/>
          </a:prstGeom>
          <a:noFill/>
          <a:ln/>
        </p:spPr>
        <p:txBody>
          <a:bodyPr wrap="square" lIns="0" tIns="0" rIns="0" bIns="0" rtlCol="0" anchor="t"/>
          <a:lstStyle/>
          <a:p>
            <a:pPr marL="0" indent="0">
              <a:buNone/>
            </a:pPr>
            <a:r>
              <a:rPr lang="en-US" sz="1500" dirty="0">
                <a:solidFill>
                  <a:srgbClr val="56667F"/>
                </a:solidFill>
              </a:rPr>
              <a:t>Testers fill in the same layout they use on paper, then upload it once: an easy move online, with every value imported beside its source cell.</a:t>
            </a:r>
          </a:p>
        </p:txBody>
      </p:sp>
      <p:sp>
        <p:nvSpPr>
          <p:cNvPr id="305" name="Pill: EFFICIENCY"/>
          <p:cNvSpPr txBox="1"/>
          <p:nvPr/>
        </p:nvSpPr>
        <p:spPr>
          <a:xfrm>
            <a:off x="9372600" y="4882896"/>
            <a:ext cx="1024128" cy="274320"/>
          </a:xfrm>
          <a:prstGeom prst="roundRect">
            <a:avLst>
              <a:gd name="adj" fmla="val 50000"/>
            </a:avLst>
          </a:prstGeom>
          <a:solidFill>
            <a:srgbClr val="E2ECFA"/>
          </a:solidFill>
          <a:ln w="6350">
            <a:solidFill>
              <a:srgbClr val="E2ECFA"/>
            </a:solidFill>
          </a:ln>
        </p:spPr>
        <p:txBody>
          <a:bodyPr wrap="square" lIns="0" tIns="0" rIns="0" bIns="0" rtlCol="0" anchor="ctr"/>
          <a:lstStyle/>
          <a:p>
            <a:pPr marL="0" indent="0" algn="ctr">
              <a:buNone/>
            </a:pPr>
            <a:r>
              <a:rPr lang="en-US" sz="1000" kern="0" spc="60" dirty="0">
                <a:solidFill>
                  <a:srgbClr val="1C4F9C"/>
                </a:solidFill>
                <a:latin typeface="Segoe UI Semibold"/>
              </a:rPr>
              <a:t>EFFICIENCY</a:t>
            </a:r>
          </a:p>
        </p:txBody>
      </p:sp>
      <p:sp>
        <p:nvSpPr>
          <p:cNvPr id="306" name="Pill: INTEGRITY"/>
          <p:cNvSpPr txBox="1"/>
          <p:nvPr/>
        </p:nvSpPr>
        <p:spPr>
          <a:xfrm>
            <a:off x="10497312" y="4882896"/>
            <a:ext cx="960120" cy="274320"/>
          </a:xfrm>
          <a:prstGeom prst="roundRect">
            <a:avLst>
              <a:gd name="adj" fmla="val 50000"/>
            </a:avLst>
          </a:prstGeom>
          <a:solidFill>
            <a:srgbClr val="E1F4EA"/>
          </a:solidFill>
          <a:ln w="6350">
            <a:solidFill>
              <a:srgbClr val="E1F4EA"/>
            </a:solidFill>
          </a:ln>
        </p:spPr>
        <p:txBody>
          <a:bodyPr wrap="square" lIns="0" tIns="0" rIns="0" bIns="0" rtlCol="0" anchor="ctr"/>
          <a:lstStyle/>
          <a:p>
            <a:pPr marL="0" indent="0" algn="ctr">
              <a:buNone/>
            </a:pPr>
            <a:r>
              <a:rPr lang="en-US" sz="1000" kern="0" spc="60" dirty="0">
                <a:solidFill>
                  <a:srgbClr val="14804A"/>
                </a:solidFill>
                <a:latin typeface="Segoe UI Semibold"/>
              </a:rPr>
              <a:t>INTEGRITY</a:t>
            </a:r>
          </a:p>
        </p:txBody>
      </p:sp>
      <p:sp>
        <p:nvSpPr>
          <p:cNvPr id="36" name="Text 34"/>
          <p:cNvSpPr txBox="1"/>
          <p:nvPr/>
        </p:nvSpPr>
        <p:spPr>
          <a:xfrm>
            <a:off x="548640" y="5596128"/>
            <a:ext cx="3657600" cy="256032"/>
          </a:xfrm>
          <a:prstGeom prst="rect">
            <a:avLst/>
          </a:prstGeom>
          <a:noFill/>
          <a:ln/>
        </p:spPr>
        <p:txBody>
          <a:bodyPr wrap="square" lIns="0" tIns="0" rIns="0" bIns="0" rtlCol="0" anchor="t"/>
          <a:lstStyle/>
          <a:p>
            <a:pPr marL="0" indent="0">
              <a:buNone/>
            </a:pPr>
            <a:r>
              <a:rPr lang="en-US" sz="1550" dirty="0">
                <a:solidFill>
                  <a:srgbClr val="56667F"/>
                </a:solidFill>
                <a:latin typeface="Segoe UI Semibold"/>
              </a:rPr>
              <a:t>Input sources handled</a:t>
            </a:r>
            <a:endParaRPr lang="en-US" sz="1550" dirty="0"/>
          </a:p>
        </p:txBody>
      </p:sp>
      <p:sp>
        <p:nvSpPr>
          <p:cNvPr id="37" name="Pill: Customer request forms"/>
          <p:cNvSpPr txBox="1"/>
          <p:nvPr/>
        </p:nvSpPr>
        <p:spPr>
          <a:xfrm>
            <a:off x="548640" y="5870448"/>
            <a:ext cx="2423160" cy="347472"/>
          </a:xfrm>
          <a:prstGeom prst="roundRect">
            <a:avLst>
              <a:gd name="adj" fmla="val 50000"/>
            </a:avLst>
          </a:prstGeom>
          <a:solidFill>
            <a:srgbClr val="E2ECFA"/>
          </a:solidFill>
          <a:ln w="6350">
            <a:solidFill>
              <a:srgbClr val="E2ECFA"/>
            </a:solidFill>
          </a:ln>
        </p:spPr>
        <p:txBody>
          <a:bodyPr wrap="square" lIns="0" tIns="0" rIns="0" bIns="0" rtlCol="0" anchor="ctr"/>
          <a:lstStyle/>
          <a:p>
            <a:pPr marL="0" indent="0" algn="ctr">
              <a:buNone/>
            </a:pPr>
            <a:r>
              <a:rPr lang="en-US" sz="1100" kern="0" spc="60" dirty="0">
                <a:solidFill>
                  <a:srgbClr val="1C4F9C"/>
                </a:solidFill>
                <a:latin typeface="Segoe UI Semibold"/>
              </a:rPr>
              <a:t>Customer request forms</a:t>
            </a:r>
            <a:endParaRPr lang="en-US" sz="1100" dirty="0"/>
          </a:p>
        </p:txBody>
      </p:sp>
      <p:sp>
        <p:nvSpPr>
          <p:cNvPr id="38" name="Pill: Laboratory log sheets"/>
          <p:cNvSpPr txBox="1"/>
          <p:nvPr/>
        </p:nvSpPr>
        <p:spPr>
          <a:xfrm>
            <a:off x="3108960" y="5870448"/>
            <a:ext cx="2240280" cy="347472"/>
          </a:xfrm>
          <a:prstGeom prst="roundRect">
            <a:avLst>
              <a:gd name="adj" fmla="val 50000"/>
            </a:avLst>
          </a:prstGeom>
          <a:solidFill>
            <a:srgbClr val="E2ECFA"/>
          </a:solidFill>
          <a:ln w="6350">
            <a:solidFill>
              <a:srgbClr val="E2ECFA"/>
            </a:solidFill>
          </a:ln>
        </p:spPr>
        <p:txBody>
          <a:bodyPr wrap="square" lIns="0" tIns="0" rIns="0" bIns="0" rtlCol="0" anchor="ctr"/>
          <a:lstStyle/>
          <a:p>
            <a:pPr marL="0" indent="0" algn="ctr">
              <a:buNone/>
            </a:pPr>
            <a:r>
              <a:rPr lang="en-US" sz="1100" kern="0" spc="60" dirty="0">
                <a:solidFill>
                  <a:srgbClr val="1C4F9C"/>
                </a:solidFill>
                <a:latin typeface="Segoe UI Semibold"/>
              </a:rPr>
              <a:t>Laboratory log sheets</a:t>
            </a:r>
            <a:endParaRPr lang="en-US" sz="1100" dirty="0"/>
          </a:p>
        </p:txBody>
      </p:sp>
      <p:sp>
        <p:nvSpPr>
          <p:cNvPr id="39" name="Pill: Test measurements and results"/>
          <p:cNvSpPr txBox="1"/>
          <p:nvPr/>
        </p:nvSpPr>
        <p:spPr>
          <a:xfrm>
            <a:off x="5486400" y="5870448"/>
            <a:ext cx="2834640" cy="347472"/>
          </a:xfrm>
          <a:prstGeom prst="roundRect">
            <a:avLst>
              <a:gd name="adj" fmla="val 50000"/>
            </a:avLst>
          </a:prstGeom>
          <a:solidFill>
            <a:srgbClr val="E2ECFA"/>
          </a:solidFill>
          <a:ln w="6350">
            <a:solidFill>
              <a:srgbClr val="E2ECFA"/>
            </a:solidFill>
          </a:ln>
        </p:spPr>
        <p:txBody>
          <a:bodyPr wrap="square" lIns="0" tIns="0" rIns="0" bIns="0" rtlCol="0" anchor="ctr"/>
          <a:lstStyle/>
          <a:p>
            <a:pPr marL="0" indent="0" algn="ctr">
              <a:buNone/>
            </a:pPr>
            <a:r>
              <a:rPr lang="en-US" sz="1100" kern="0" spc="60" dirty="0">
                <a:solidFill>
                  <a:srgbClr val="1C4F9C"/>
                </a:solidFill>
                <a:latin typeface="Segoe UI Semibold"/>
              </a:rPr>
              <a:t>Test measurements and results</a:t>
            </a:r>
            <a:endParaRPr lang="en-US" sz="1100" dirty="0"/>
          </a:p>
        </p:txBody>
      </p:sp>
      <p:sp>
        <p:nvSpPr>
          <p:cNvPr id="40" name="Pill: Existing databases and spreadsheets"/>
          <p:cNvSpPr txBox="1"/>
          <p:nvPr/>
        </p:nvSpPr>
        <p:spPr>
          <a:xfrm>
            <a:off x="8458200" y="5870448"/>
            <a:ext cx="3185160" cy="347472"/>
          </a:xfrm>
          <a:prstGeom prst="roundRect">
            <a:avLst>
              <a:gd name="adj" fmla="val 50000"/>
            </a:avLst>
          </a:prstGeom>
          <a:solidFill>
            <a:srgbClr val="E2ECFA"/>
          </a:solidFill>
          <a:ln w="6350">
            <a:solidFill>
              <a:srgbClr val="E2ECFA"/>
            </a:solidFill>
          </a:ln>
        </p:spPr>
        <p:txBody>
          <a:bodyPr wrap="square" lIns="0" tIns="0" rIns="0" bIns="0" rtlCol="0" anchor="ctr"/>
          <a:lstStyle/>
          <a:p>
            <a:pPr marL="0" indent="0" algn="ctr">
              <a:buNone/>
            </a:pPr>
            <a:r>
              <a:rPr lang="en-US" sz="1100" kern="0" spc="60" dirty="0">
                <a:solidFill>
                  <a:srgbClr val="1C4F9C"/>
                </a:solidFill>
                <a:latin typeface="Segoe UI Semibold"/>
              </a:rPr>
              <a:t>Existing databases and spreadsheets</a:t>
            </a:r>
            <a:endParaRPr lang="en-US" sz="1100" dirty="0"/>
          </a:p>
        </p:txBody>
      </p:sp>
      <p:sp>
        <p:nvSpPr>
          <p:cNvPr id="41"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6667F"/>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503920" cy="1005840"/>
          </a:xfrm>
          <a:prstGeom prst="rect">
            <a:avLst/>
          </a:prstGeom>
          <a:noFill/>
          <a:ln/>
        </p:spPr>
        <p:txBody>
          <a:bodyPr wrap="square" lIns="0" tIns="0" rIns="0" bIns="0" rtlCol="0" anchor="t"/>
          <a:lstStyle/>
          <a:p>
            <a:pPr marL="0" indent="0" algn="l">
              <a:buNone/>
            </a:pPr>
            <a:r>
              <a:rPr lang="en-US" sz="2800" spc="-20" dirty="0">
                <a:solidFill>
                  <a:schemeClr val="tx2"/>
                </a:solidFill>
                <a:latin typeface="Segoe UI Semibold"/>
              </a:rPr>
              <a:t>Aletheia follows the suggested six-step workflow and adds verification</a:t>
            </a:r>
            <a:endParaRPr lang="en-US" sz="2800" dirty="0"/>
          </a:p>
        </p:txBody>
      </p:sp>
      <p:sp>
        <p:nvSpPr>
          <p:cNvPr id="3" name="Pill: SUGGESTED WORKFLOW"/>
          <p:cNvSpPr txBox="1"/>
          <p:nvPr/>
        </p:nvSpPr>
        <p:spPr>
          <a:xfrm>
            <a:off x="9342425" y="457200"/>
            <a:ext cx="2300630" cy="329184"/>
          </a:xfrm>
          <a:prstGeom prst="roundRect">
            <a:avLst>
              <a:gd name="adj" fmla="val 50000"/>
            </a:avLst>
          </a:prstGeom>
          <a:solidFill>
            <a:srgbClr val="EEF3FA"/>
          </a:solidFill>
          <a:ln w="6350">
            <a:solidFill>
              <a:srgbClr val="EEF3FA"/>
            </a:solidFill>
          </a:ln>
        </p:spPr>
        <p:txBody>
          <a:bodyPr wrap="square" lIns="0" tIns="0" rIns="0" bIns="0" rtlCol="0" anchor="ctr"/>
          <a:lstStyle/>
          <a:p>
            <a:pPr marL="0" indent="0" algn="ctr">
              <a:buNone/>
            </a:pPr>
            <a:r>
              <a:rPr lang="en-US" sz="1100" kern="0" spc="60" dirty="0">
                <a:solidFill>
                  <a:srgbClr val="56667F"/>
                </a:solidFill>
                <a:latin typeface="Segoe UI Semibold"/>
              </a:rPr>
              <a:t>SUGGESTED WORKFLOW</a:t>
            </a:r>
            <a:endParaRPr lang="en-US" sz="1100" dirty="0"/>
          </a:p>
        </p:txBody>
      </p:sp>
      <p:sp>
        <p:nvSpPr>
          <p:cNvPr id="4" name="Card"/>
          <p:cNvSpPr/>
          <p:nvPr/>
        </p:nvSpPr>
        <p:spPr>
          <a:xfrm>
            <a:off x="548640" y="1691640"/>
            <a:ext cx="1709928" cy="3246120"/>
          </a:xfrm>
          <a:prstGeom prst="roundRect">
            <a:avLst>
              <a:gd name="adj" fmla="val 7487"/>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5" name="Step 1"/>
          <p:cNvSpPr txBox="1"/>
          <p:nvPr/>
        </p:nvSpPr>
        <p:spPr>
          <a:xfrm>
            <a:off x="731520" y="1874520"/>
            <a:ext cx="402336" cy="402336"/>
          </a:xfrm>
          <a:prstGeom prst="ellipse">
            <a:avLst/>
          </a:prstGeom>
          <a:solidFill>
            <a:srgbClr val="1C4F9C"/>
          </a:solidFill>
          <a:ln>
            <a:solidFill>
              <a:srgbClr val="1C4F9C"/>
            </a:solidFill>
          </a:ln>
        </p:spPr>
        <p:txBody>
          <a:bodyPr wrap="square" lIns="0" tIns="0" rIns="0" bIns="0" rtlCol="0" anchor="ctr"/>
          <a:lstStyle/>
          <a:p>
            <a:pPr marL="0" indent="0" algn="ctr">
              <a:buNone/>
            </a:pPr>
            <a:r>
              <a:rPr lang="en-US" sz="1400" dirty="0">
                <a:solidFill>
                  <a:srgbClr val="FFFFFF"/>
                </a:solidFill>
                <a:latin typeface="Segoe UI Semibold"/>
              </a:rPr>
              <a:t>1</a:t>
            </a:r>
            <a:endParaRPr lang="en-US" sz="1400" dirty="0"/>
          </a:p>
        </p:txBody>
      </p:sp>
      <p:sp>
        <p:nvSpPr>
          <p:cNvPr id="6" name="Text 4"/>
          <p:cNvSpPr txBox="1"/>
          <p:nvPr/>
        </p:nvSpPr>
        <p:spPr>
          <a:xfrm>
            <a:off x="731520" y="2395728"/>
            <a:ext cx="1344168" cy="914400"/>
          </a:xfrm>
          <a:prstGeom prst="rect">
            <a:avLst/>
          </a:prstGeom>
          <a:noFill/>
          <a:ln/>
        </p:spPr>
        <p:txBody>
          <a:bodyPr wrap="square" lIns="0" tIns="0" rIns="0" bIns="0" rtlCol="0" anchor="t"/>
          <a:lstStyle/>
          <a:p>
            <a:pPr marL="0" indent="0">
              <a:buNone/>
            </a:pPr>
            <a:r>
              <a:rPr lang="en-US" sz="1450" dirty="0">
                <a:solidFill>
                  <a:srgbClr val="12315F"/>
                </a:solidFill>
                <a:latin typeface="Segoe UI Semibold"/>
              </a:rPr>
              <a:t>Capture customer request details</a:t>
            </a:r>
            <a:endParaRPr lang="en-US" sz="1450" dirty="0"/>
          </a:p>
        </p:txBody>
      </p:sp>
      <p:sp>
        <p:nvSpPr>
          <p:cNvPr id="7" name="Text 5"/>
          <p:cNvSpPr txBox="1"/>
          <p:nvPr/>
        </p:nvSpPr>
        <p:spPr>
          <a:xfrm>
            <a:off x="731520" y="3456432"/>
            <a:ext cx="1344168" cy="1325880"/>
          </a:xfrm>
          <a:prstGeom prst="rect">
            <a:avLst/>
          </a:prstGeom>
          <a:noFill/>
          <a:ln/>
        </p:spPr>
        <p:txBody>
          <a:bodyPr wrap="square" lIns="0" tIns="0" rIns="0" bIns="0" rtlCol="0" anchor="t"/>
          <a:lstStyle/>
          <a:p>
            <a:pPr marL="0" indent="0">
              <a:buNone/>
            </a:pPr>
            <a:r>
              <a:rPr lang="en-US" sz="1500" dirty="0">
                <a:solidFill>
                  <a:srgbClr val="14233C"/>
                </a:solidFill>
              </a:rPr>
              <a:t>Online Customer Request Form</a:t>
            </a:r>
            <a:endParaRPr lang="en-US" sz="1500" dirty="0"/>
          </a:p>
        </p:txBody>
      </p:sp>
      <p:sp>
        <p:nvSpPr>
          <p:cNvPr id="8" name="Flow arrow"/>
          <p:cNvSpPr/>
          <p:nvPr/>
        </p:nvSpPr>
        <p:spPr>
          <a:xfrm>
            <a:off x="2276856" y="3209544"/>
            <a:ext cx="130393" cy="201168"/>
          </a:xfrm>
          <a:prstGeom prst="rightArrow">
            <a:avLst/>
          </a:prstGeom>
          <a:solidFill>
            <a:srgbClr val="FFB35C"/>
          </a:solidFill>
          <a:ln w="12700">
            <a:solidFill>
              <a:srgbClr val="FFB35C"/>
            </a:solidFill>
            <a:prstDash val="solid"/>
          </a:ln>
        </p:spPr>
      </p:sp>
      <p:sp>
        <p:nvSpPr>
          <p:cNvPr id="9" name="Card"/>
          <p:cNvSpPr/>
          <p:nvPr/>
        </p:nvSpPr>
        <p:spPr>
          <a:xfrm>
            <a:off x="2425537" y="1691640"/>
            <a:ext cx="1709928" cy="3246120"/>
          </a:xfrm>
          <a:prstGeom prst="roundRect">
            <a:avLst>
              <a:gd name="adj" fmla="val 7487"/>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10" name="Step 2"/>
          <p:cNvSpPr txBox="1"/>
          <p:nvPr/>
        </p:nvSpPr>
        <p:spPr>
          <a:xfrm>
            <a:off x="2608417" y="1874520"/>
            <a:ext cx="402336" cy="402336"/>
          </a:xfrm>
          <a:prstGeom prst="ellipse">
            <a:avLst/>
          </a:prstGeom>
          <a:solidFill>
            <a:srgbClr val="1C4F9C"/>
          </a:solidFill>
          <a:ln>
            <a:solidFill>
              <a:srgbClr val="1C4F9C"/>
            </a:solidFill>
          </a:ln>
        </p:spPr>
        <p:txBody>
          <a:bodyPr wrap="square" lIns="0" tIns="0" rIns="0" bIns="0" rtlCol="0" anchor="ctr"/>
          <a:lstStyle/>
          <a:p>
            <a:pPr marL="0" indent="0" algn="ctr">
              <a:buNone/>
            </a:pPr>
            <a:r>
              <a:rPr lang="en-US" sz="1400" dirty="0">
                <a:solidFill>
                  <a:srgbClr val="FFFFFF"/>
                </a:solidFill>
                <a:latin typeface="Segoe UI Semibold"/>
              </a:rPr>
              <a:t>2</a:t>
            </a:r>
            <a:endParaRPr lang="en-US" sz="1400" dirty="0"/>
          </a:p>
        </p:txBody>
      </p:sp>
      <p:sp>
        <p:nvSpPr>
          <p:cNvPr id="11" name="Text 9"/>
          <p:cNvSpPr txBox="1"/>
          <p:nvPr/>
        </p:nvSpPr>
        <p:spPr>
          <a:xfrm>
            <a:off x="2608417" y="2395728"/>
            <a:ext cx="1344168" cy="914400"/>
          </a:xfrm>
          <a:prstGeom prst="rect">
            <a:avLst/>
          </a:prstGeom>
          <a:noFill/>
          <a:ln/>
        </p:spPr>
        <p:txBody>
          <a:bodyPr wrap="square" lIns="0" tIns="0" rIns="0" bIns="0" rtlCol="0" anchor="t"/>
          <a:lstStyle/>
          <a:p>
            <a:pPr marL="0" indent="0">
              <a:buNone/>
            </a:pPr>
            <a:r>
              <a:rPr lang="en-US" sz="1450" dirty="0">
                <a:solidFill>
                  <a:srgbClr val="12315F"/>
                </a:solidFill>
                <a:latin typeface="Segoe UI Semibold"/>
              </a:rPr>
              <a:t>Import test and measurement data</a:t>
            </a:r>
            <a:endParaRPr lang="en-US" sz="1450" dirty="0"/>
          </a:p>
        </p:txBody>
      </p:sp>
      <p:sp>
        <p:nvSpPr>
          <p:cNvPr id="12" name="Text 10"/>
          <p:cNvSpPr txBox="1"/>
          <p:nvPr/>
        </p:nvSpPr>
        <p:spPr>
          <a:xfrm>
            <a:off x="2608417" y="3456432"/>
            <a:ext cx="1344168" cy="1325880"/>
          </a:xfrm>
          <a:prstGeom prst="rect">
            <a:avLst/>
          </a:prstGeom>
          <a:noFill/>
          <a:ln/>
        </p:spPr>
        <p:txBody>
          <a:bodyPr wrap="square" lIns="0" tIns="0" rIns="0" bIns="0" rtlCol="0" anchor="t"/>
          <a:lstStyle/>
          <a:p>
            <a:pPr marL="0" indent="0">
              <a:buNone/>
            </a:pPr>
            <a:r>
              <a:rPr lang="en-US" sz="1500" dirty="0">
                <a:solidFill>
                  <a:srgbClr val="14233C"/>
                </a:solidFill>
              </a:rPr>
              <a:t>Excel, CSV, JSON or SQLite upload, with source-cell preview</a:t>
            </a:r>
            <a:endParaRPr lang="en-US" sz="1500" dirty="0"/>
          </a:p>
        </p:txBody>
      </p:sp>
      <p:sp>
        <p:nvSpPr>
          <p:cNvPr id="13" name="Flow arrow"/>
          <p:cNvSpPr/>
          <p:nvPr/>
        </p:nvSpPr>
        <p:spPr>
          <a:xfrm>
            <a:off x="4153753" y="3209544"/>
            <a:ext cx="130393" cy="201168"/>
          </a:xfrm>
          <a:prstGeom prst="rightArrow">
            <a:avLst/>
          </a:prstGeom>
          <a:solidFill>
            <a:srgbClr val="FFB35C"/>
          </a:solidFill>
          <a:ln w="12700">
            <a:solidFill>
              <a:srgbClr val="FFB35C"/>
            </a:solidFill>
            <a:prstDash val="solid"/>
          </a:ln>
        </p:spPr>
      </p:sp>
      <p:sp>
        <p:nvSpPr>
          <p:cNvPr id="14" name="Card"/>
          <p:cNvSpPr/>
          <p:nvPr/>
        </p:nvSpPr>
        <p:spPr>
          <a:xfrm>
            <a:off x="4302435" y="1691640"/>
            <a:ext cx="1709928" cy="3246120"/>
          </a:xfrm>
          <a:prstGeom prst="roundRect">
            <a:avLst>
              <a:gd name="adj" fmla="val 7487"/>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15" name="Step 3"/>
          <p:cNvSpPr txBox="1"/>
          <p:nvPr/>
        </p:nvSpPr>
        <p:spPr>
          <a:xfrm>
            <a:off x="4485315" y="1874520"/>
            <a:ext cx="402336" cy="402336"/>
          </a:xfrm>
          <a:prstGeom prst="ellipse">
            <a:avLst/>
          </a:prstGeom>
          <a:solidFill>
            <a:srgbClr val="1C4F9C"/>
          </a:solidFill>
          <a:ln>
            <a:solidFill>
              <a:srgbClr val="1C4F9C"/>
            </a:solidFill>
          </a:ln>
        </p:spPr>
        <p:txBody>
          <a:bodyPr wrap="square" lIns="0" tIns="0" rIns="0" bIns="0" rtlCol="0" anchor="ctr"/>
          <a:lstStyle/>
          <a:p>
            <a:pPr marL="0" indent="0" algn="ctr">
              <a:buNone/>
            </a:pPr>
            <a:r>
              <a:rPr lang="en-US" sz="1400" dirty="0">
                <a:solidFill>
                  <a:srgbClr val="FFFFFF"/>
                </a:solidFill>
                <a:latin typeface="Segoe UI Semibold"/>
              </a:rPr>
              <a:t>3</a:t>
            </a:r>
            <a:endParaRPr lang="en-US" sz="1400" dirty="0"/>
          </a:p>
        </p:txBody>
      </p:sp>
      <p:sp>
        <p:nvSpPr>
          <p:cNvPr id="16" name="Text 14"/>
          <p:cNvSpPr txBox="1"/>
          <p:nvPr/>
        </p:nvSpPr>
        <p:spPr>
          <a:xfrm>
            <a:off x="4485315" y="2395728"/>
            <a:ext cx="1344168" cy="914400"/>
          </a:xfrm>
          <a:prstGeom prst="rect">
            <a:avLst/>
          </a:prstGeom>
          <a:noFill/>
          <a:ln/>
        </p:spPr>
        <p:txBody>
          <a:bodyPr wrap="square" lIns="0" tIns="0" rIns="0" bIns="0" rtlCol="0" anchor="t"/>
          <a:lstStyle/>
          <a:p>
            <a:pPr marL="0" indent="0">
              <a:buNone/>
            </a:pPr>
            <a:r>
              <a:rPr lang="en-US" sz="1450" dirty="0">
                <a:solidFill>
                  <a:srgbClr val="12315F"/>
                </a:solidFill>
                <a:latin typeface="Segoe UI Semibold"/>
              </a:rPr>
              <a:t>Validate and store data</a:t>
            </a:r>
            <a:endParaRPr lang="en-US" sz="1450" dirty="0"/>
          </a:p>
        </p:txBody>
      </p:sp>
      <p:sp>
        <p:nvSpPr>
          <p:cNvPr id="17" name="Text 15"/>
          <p:cNvSpPr txBox="1"/>
          <p:nvPr/>
        </p:nvSpPr>
        <p:spPr>
          <a:xfrm>
            <a:off x="4485315" y="3456432"/>
            <a:ext cx="1344168" cy="1325880"/>
          </a:xfrm>
          <a:prstGeom prst="rect">
            <a:avLst/>
          </a:prstGeom>
          <a:noFill/>
          <a:ln/>
        </p:spPr>
        <p:txBody>
          <a:bodyPr wrap="square" lIns="0" tIns="0" rIns="0" bIns="0" rtlCol="0" anchor="t"/>
          <a:lstStyle/>
          <a:p>
            <a:pPr marL="0" indent="0">
              <a:buNone/>
            </a:pPr>
            <a:r>
              <a:rPr lang="en-US" sz="1500" dirty="0">
                <a:solidFill>
                  <a:srgbClr val="14233C"/>
                </a:solidFill>
              </a:rPr>
              <a:t>Automatic checks, then the database with full history</a:t>
            </a:r>
            <a:endParaRPr lang="en-US" sz="1500" dirty="0"/>
          </a:p>
        </p:txBody>
      </p:sp>
      <p:sp>
        <p:nvSpPr>
          <p:cNvPr id="18" name="Flow arrow"/>
          <p:cNvSpPr/>
          <p:nvPr/>
        </p:nvSpPr>
        <p:spPr>
          <a:xfrm>
            <a:off x="6030651" y="3209544"/>
            <a:ext cx="130393" cy="201168"/>
          </a:xfrm>
          <a:prstGeom prst="rightArrow">
            <a:avLst/>
          </a:prstGeom>
          <a:solidFill>
            <a:srgbClr val="FFB35C"/>
          </a:solidFill>
          <a:ln w="12700">
            <a:solidFill>
              <a:srgbClr val="FFB35C"/>
            </a:solidFill>
            <a:prstDash val="solid"/>
          </a:ln>
        </p:spPr>
      </p:sp>
      <p:sp>
        <p:nvSpPr>
          <p:cNvPr id="19" name="Card"/>
          <p:cNvSpPr/>
          <p:nvPr/>
        </p:nvSpPr>
        <p:spPr>
          <a:xfrm>
            <a:off x="6179332" y="1691640"/>
            <a:ext cx="1709928" cy="3246120"/>
          </a:xfrm>
          <a:prstGeom prst="roundRect">
            <a:avLst>
              <a:gd name="adj" fmla="val 7487"/>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20" name="Step 4"/>
          <p:cNvSpPr txBox="1"/>
          <p:nvPr/>
        </p:nvSpPr>
        <p:spPr>
          <a:xfrm>
            <a:off x="6362212" y="1874520"/>
            <a:ext cx="402336" cy="402336"/>
          </a:xfrm>
          <a:prstGeom prst="ellipse">
            <a:avLst/>
          </a:prstGeom>
          <a:solidFill>
            <a:srgbClr val="1C4F9C"/>
          </a:solidFill>
          <a:ln>
            <a:solidFill>
              <a:srgbClr val="1C4F9C"/>
            </a:solidFill>
          </a:ln>
        </p:spPr>
        <p:txBody>
          <a:bodyPr wrap="square" lIns="0" tIns="0" rIns="0" bIns="0" rtlCol="0" anchor="ctr"/>
          <a:lstStyle/>
          <a:p>
            <a:pPr marL="0" indent="0" algn="ctr">
              <a:buNone/>
            </a:pPr>
            <a:r>
              <a:rPr lang="en-US" sz="1400" dirty="0">
                <a:solidFill>
                  <a:srgbClr val="FFFFFF"/>
                </a:solidFill>
                <a:latin typeface="Segoe UI Semibold"/>
              </a:rPr>
              <a:t>4</a:t>
            </a:r>
            <a:endParaRPr lang="en-US" sz="1400" dirty="0"/>
          </a:p>
        </p:txBody>
      </p:sp>
      <p:sp>
        <p:nvSpPr>
          <p:cNvPr id="21" name="Text 19"/>
          <p:cNvSpPr txBox="1"/>
          <p:nvPr/>
        </p:nvSpPr>
        <p:spPr>
          <a:xfrm>
            <a:off x="6362212" y="2395728"/>
            <a:ext cx="1344168" cy="914400"/>
          </a:xfrm>
          <a:prstGeom prst="rect">
            <a:avLst/>
          </a:prstGeom>
          <a:noFill/>
          <a:ln/>
        </p:spPr>
        <p:txBody>
          <a:bodyPr wrap="square" lIns="0" tIns="0" rIns="0" bIns="0" rtlCol="0" anchor="t"/>
          <a:lstStyle/>
          <a:p>
            <a:pPr marL="0" indent="0">
              <a:buNone/>
            </a:pPr>
            <a:r>
              <a:rPr lang="en-US" sz="1450" dirty="0">
                <a:solidFill>
                  <a:srgbClr val="12315F"/>
                </a:solidFill>
                <a:latin typeface="Segoe UI Semibold"/>
              </a:rPr>
              <a:t>Populate the template automatically</a:t>
            </a:r>
            <a:endParaRPr lang="en-US" sz="1450" dirty="0"/>
          </a:p>
        </p:txBody>
      </p:sp>
      <p:sp>
        <p:nvSpPr>
          <p:cNvPr id="22" name="Text 20"/>
          <p:cNvSpPr txBox="1"/>
          <p:nvPr/>
        </p:nvSpPr>
        <p:spPr>
          <a:xfrm>
            <a:off x="6362212" y="3456432"/>
            <a:ext cx="1344168" cy="1325880"/>
          </a:xfrm>
          <a:prstGeom prst="rect">
            <a:avLst/>
          </a:prstGeom>
          <a:noFill/>
          <a:ln/>
        </p:spPr>
        <p:txBody>
          <a:bodyPr wrap="square" lIns="0" tIns="0" rIns="0" bIns="0" rtlCol="0" anchor="t"/>
          <a:lstStyle/>
          <a:p>
            <a:pPr marL="0" indent="0">
              <a:buNone/>
            </a:pPr>
            <a:r>
              <a:rPr lang="en-US" sz="1500" dirty="0">
                <a:solidFill>
                  <a:srgbClr val="14233C"/>
                </a:solidFill>
              </a:rPr>
              <a:t>Template mapping to the lab's report format</a:t>
            </a:r>
            <a:endParaRPr lang="en-US" sz="1500" dirty="0"/>
          </a:p>
        </p:txBody>
      </p:sp>
      <p:sp>
        <p:nvSpPr>
          <p:cNvPr id="23" name="Flow arrow"/>
          <p:cNvSpPr/>
          <p:nvPr/>
        </p:nvSpPr>
        <p:spPr>
          <a:xfrm>
            <a:off x="7907548" y="3209544"/>
            <a:ext cx="130393" cy="201168"/>
          </a:xfrm>
          <a:prstGeom prst="rightArrow">
            <a:avLst/>
          </a:prstGeom>
          <a:solidFill>
            <a:srgbClr val="FFB35C"/>
          </a:solidFill>
          <a:ln w="12700">
            <a:solidFill>
              <a:srgbClr val="FFB35C"/>
            </a:solidFill>
            <a:prstDash val="solid"/>
          </a:ln>
        </p:spPr>
      </p:sp>
      <p:sp>
        <p:nvSpPr>
          <p:cNvPr id="24" name="Card"/>
          <p:cNvSpPr/>
          <p:nvPr/>
        </p:nvSpPr>
        <p:spPr>
          <a:xfrm>
            <a:off x="8056230" y="1691640"/>
            <a:ext cx="1709928" cy="3246120"/>
          </a:xfrm>
          <a:prstGeom prst="roundRect">
            <a:avLst>
              <a:gd name="adj" fmla="val 7487"/>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25" name="Step 5"/>
          <p:cNvSpPr txBox="1"/>
          <p:nvPr/>
        </p:nvSpPr>
        <p:spPr>
          <a:xfrm>
            <a:off x="8239110" y="1874520"/>
            <a:ext cx="402336" cy="402336"/>
          </a:xfrm>
          <a:prstGeom prst="ellipse">
            <a:avLst/>
          </a:prstGeom>
          <a:solidFill>
            <a:srgbClr val="1C4F9C"/>
          </a:solidFill>
          <a:ln>
            <a:solidFill>
              <a:srgbClr val="1C4F9C"/>
            </a:solidFill>
          </a:ln>
        </p:spPr>
        <p:txBody>
          <a:bodyPr wrap="square" lIns="0" tIns="0" rIns="0" bIns="0" rtlCol="0" anchor="ctr"/>
          <a:lstStyle/>
          <a:p>
            <a:pPr marL="0" indent="0" algn="ctr">
              <a:buNone/>
            </a:pPr>
            <a:r>
              <a:rPr lang="en-US" sz="1400" dirty="0">
                <a:solidFill>
                  <a:srgbClr val="FFFFFF"/>
                </a:solidFill>
                <a:latin typeface="Segoe UI Semibold"/>
              </a:rPr>
              <a:t>5</a:t>
            </a:r>
            <a:endParaRPr lang="en-US" sz="1400" dirty="0"/>
          </a:p>
        </p:txBody>
      </p:sp>
      <p:sp>
        <p:nvSpPr>
          <p:cNvPr id="26" name="Text 24"/>
          <p:cNvSpPr txBox="1"/>
          <p:nvPr/>
        </p:nvSpPr>
        <p:spPr>
          <a:xfrm>
            <a:off x="8239110" y="2395728"/>
            <a:ext cx="1344168" cy="914400"/>
          </a:xfrm>
          <a:prstGeom prst="rect">
            <a:avLst/>
          </a:prstGeom>
          <a:noFill/>
          <a:ln/>
        </p:spPr>
        <p:txBody>
          <a:bodyPr wrap="square" lIns="0" tIns="0" rIns="0" bIns="0" rtlCol="0" anchor="t"/>
          <a:lstStyle/>
          <a:p>
            <a:pPr marL="0" indent="0">
              <a:buNone/>
            </a:pPr>
            <a:r>
              <a:rPr lang="en-US" sz="1450" dirty="0">
                <a:solidFill>
                  <a:srgbClr val="12315F"/>
                </a:solidFill>
                <a:latin typeface="Segoe UI Semibold"/>
              </a:rPr>
              <a:t>Generate the final report</a:t>
            </a:r>
            <a:endParaRPr lang="en-US" sz="1450" dirty="0"/>
          </a:p>
        </p:txBody>
      </p:sp>
      <p:sp>
        <p:nvSpPr>
          <p:cNvPr id="27" name="Text 25"/>
          <p:cNvSpPr txBox="1"/>
          <p:nvPr/>
        </p:nvSpPr>
        <p:spPr>
          <a:xfrm>
            <a:off x="8239110" y="3456432"/>
            <a:ext cx="1344168" cy="1325880"/>
          </a:xfrm>
          <a:prstGeom prst="rect">
            <a:avLst/>
          </a:prstGeom>
          <a:noFill/>
          <a:ln/>
        </p:spPr>
        <p:txBody>
          <a:bodyPr wrap="square" lIns="0" tIns="0" rIns="0" bIns="0" rtlCol="0" anchor="t"/>
          <a:lstStyle/>
          <a:p>
            <a:pPr marL="0" indent="0">
              <a:buNone/>
            </a:pPr>
            <a:r>
              <a:rPr lang="en-US" sz="1500" dirty="0">
                <a:solidFill>
                  <a:srgbClr val="14233C"/>
                </a:solidFill>
              </a:rPr>
              <a:t>Numbered, hashed PDF with a QR code</a:t>
            </a:r>
            <a:endParaRPr lang="en-US" sz="1500" dirty="0"/>
          </a:p>
        </p:txBody>
      </p:sp>
      <p:sp>
        <p:nvSpPr>
          <p:cNvPr id="28" name="Flow arrow"/>
          <p:cNvSpPr/>
          <p:nvPr/>
        </p:nvSpPr>
        <p:spPr>
          <a:xfrm>
            <a:off x="9784446" y="3209544"/>
            <a:ext cx="130393" cy="201168"/>
          </a:xfrm>
          <a:prstGeom prst="rightArrow">
            <a:avLst/>
          </a:prstGeom>
          <a:solidFill>
            <a:srgbClr val="FFB35C"/>
          </a:solidFill>
          <a:ln w="12700">
            <a:solidFill>
              <a:srgbClr val="FFB35C"/>
            </a:solidFill>
            <a:prstDash val="solid"/>
          </a:ln>
        </p:spPr>
      </p:sp>
      <p:sp>
        <p:nvSpPr>
          <p:cNvPr id="29" name="Card"/>
          <p:cNvSpPr/>
          <p:nvPr/>
        </p:nvSpPr>
        <p:spPr>
          <a:xfrm>
            <a:off x="9933127" y="1691640"/>
            <a:ext cx="1709928" cy="3246120"/>
          </a:xfrm>
          <a:prstGeom prst="roundRect">
            <a:avLst>
              <a:gd name="adj" fmla="val 7487"/>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30" name="Step 6"/>
          <p:cNvSpPr txBox="1"/>
          <p:nvPr/>
        </p:nvSpPr>
        <p:spPr>
          <a:xfrm>
            <a:off x="10116007" y="1874520"/>
            <a:ext cx="402336" cy="402336"/>
          </a:xfrm>
          <a:prstGeom prst="ellipse">
            <a:avLst/>
          </a:prstGeom>
          <a:solidFill>
            <a:srgbClr val="1C4F9C"/>
          </a:solidFill>
          <a:ln>
            <a:solidFill>
              <a:srgbClr val="1C4F9C"/>
            </a:solidFill>
          </a:ln>
        </p:spPr>
        <p:txBody>
          <a:bodyPr wrap="square" lIns="0" tIns="0" rIns="0" bIns="0" rtlCol="0" anchor="ctr"/>
          <a:lstStyle/>
          <a:p>
            <a:pPr marL="0" indent="0" algn="ctr">
              <a:buNone/>
            </a:pPr>
            <a:r>
              <a:rPr lang="en-US" sz="1400" dirty="0">
                <a:solidFill>
                  <a:srgbClr val="FFFFFF"/>
                </a:solidFill>
                <a:latin typeface="Segoe UI Semibold"/>
              </a:rPr>
              <a:t>6</a:t>
            </a:r>
            <a:endParaRPr lang="en-US" sz="1400" dirty="0"/>
          </a:p>
        </p:txBody>
      </p:sp>
      <p:sp>
        <p:nvSpPr>
          <p:cNvPr id="31" name="Text 29"/>
          <p:cNvSpPr txBox="1"/>
          <p:nvPr/>
        </p:nvSpPr>
        <p:spPr>
          <a:xfrm>
            <a:off x="10116007" y="2395728"/>
            <a:ext cx="1344168" cy="914400"/>
          </a:xfrm>
          <a:prstGeom prst="rect">
            <a:avLst/>
          </a:prstGeom>
          <a:noFill/>
          <a:ln/>
        </p:spPr>
        <p:txBody>
          <a:bodyPr wrap="square" lIns="0" tIns="0" rIns="0" bIns="0" rtlCol="0" anchor="t"/>
          <a:lstStyle/>
          <a:p>
            <a:pPr marL="0" indent="0">
              <a:buNone/>
            </a:pPr>
            <a:r>
              <a:rPr lang="en-US" sz="1450" dirty="0">
                <a:solidFill>
                  <a:srgbClr val="12315F"/>
                </a:solidFill>
                <a:latin typeface="Segoe UI Semibold"/>
              </a:rPr>
              <a:t>Review and export</a:t>
            </a:r>
            <a:endParaRPr lang="en-US" sz="1450" dirty="0"/>
          </a:p>
        </p:txBody>
      </p:sp>
      <p:sp>
        <p:nvSpPr>
          <p:cNvPr id="32" name="Text 30"/>
          <p:cNvSpPr txBox="1"/>
          <p:nvPr/>
        </p:nvSpPr>
        <p:spPr>
          <a:xfrm>
            <a:off x="10116007" y="3456432"/>
            <a:ext cx="1344168" cy="1325880"/>
          </a:xfrm>
          <a:prstGeom prst="rect">
            <a:avLst/>
          </a:prstGeom>
          <a:noFill/>
          <a:ln/>
        </p:spPr>
        <p:txBody>
          <a:bodyPr wrap="square" lIns="0" tIns="0" rIns="0" bIns="0" rtlCol="0" anchor="t"/>
          <a:lstStyle/>
          <a:p>
            <a:pPr marL="0" indent="0">
              <a:buNone/>
            </a:pPr>
            <a:r>
              <a:rPr lang="en-US" sz="1500" dirty="0">
                <a:solidFill>
                  <a:srgbClr val="14233C"/>
                </a:solidFill>
              </a:rPr>
              <a:t>Verify, approve, sign off, then download</a:t>
            </a:r>
            <a:endParaRPr lang="en-US" sz="1500" dirty="0"/>
          </a:p>
        </p:txBody>
      </p:sp>
      <p:sp>
        <p:nvSpPr>
          <p:cNvPr id="33" name="Text 31"/>
          <p:cNvSpPr txBox="1"/>
          <p:nvPr/>
        </p:nvSpPr>
        <p:spPr>
          <a:xfrm>
            <a:off x="548640" y="5193792"/>
            <a:ext cx="3657600" cy="256032"/>
          </a:xfrm>
          <a:prstGeom prst="rect">
            <a:avLst/>
          </a:prstGeom>
          <a:noFill/>
          <a:ln/>
        </p:spPr>
        <p:txBody>
          <a:bodyPr wrap="square" lIns="0" tIns="0" rIns="0" bIns="0" rtlCol="0" anchor="t"/>
          <a:lstStyle/>
          <a:p>
            <a:pPr marL="0" indent="0">
              <a:buNone/>
            </a:pPr>
            <a:r>
              <a:rPr lang="en-US" sz="1550" dirty="0">
                <a:solidFill>
                  <a:srgbClr val="56667F"/>
                </a:solidFill>
                <a:latin typeface="Segoe UI Semibold"/>
              </a:rPr>
              <a:t>Added by Aletheia</a:t>
            </a:r>
            <a:endParaRPr lang="en-US" sz="1550" dirty="0"/>
          </a:p>
        </p:txBody>
      </p:sp>
      <p:sp>
        <p:nvSpPr>
          <p:cNvPr id="34" name="Pill: Independent verification of every test"/>
          <p:cNvSpPr txBox="1"/>
          <p:nvPr/>
        </p:nvSpPr>
        <p:spPr>
          <a:xfrm>
            <a:off x="548640" y="5541264"/>
            <a:ext cx="3474720" cy="365760"/>
          </a:xfrm>
          <a:prstGeom prst="roundRect">
            <a:avLst>
              <a:gd name="adj" fmla="val 50000"/>
            </a:avLst>
          </a:prstGeom>
          <a:solidFill>
            <a:srgbClr val="E1F4EA"/>
          </a:solidFill>
          <a:ln w="6350">
            <a:solidFill>
              <a:srgbClr val="E1F4EA"/>
            </a:solidFill>
          </a:ln>
        </p:spPr>
        <p:txBody>
          <a:bodyPr wrap="square" lIns="0" tIns="0" rIns="0" bIns="0" rtlCol="0" anchor="ctr"/>
          <a:lstStyle/>
          <a:p>
            <a:pPr marL="0" indent="0" algn="ctr">
              <a:buNone/>
            </a:pPr>
            <a:r>
              <a:rPr lang="en-US" sz="1100" kern="0" spc="60" dirty="0">
                <a:solidFill>
                  <a:srgbClr val="14804A"/>
                </a:solidFill>
                <a:latin typeface="Segoe UI Semibold"/>
              </a:rPr>
              <a:t>Independent verification of every test</a:t>
            </a:r>
            <a:endParaRPr lang="en-US" sz="1100" dirty="0"/>
          </a:p>
        </p:txBody>
      </p:sp>
      <p:sp>
        <p:nvSpPr>
          <p:cNvPr id="35" name="Pill: Admin approval and signed release"/>
          <p:cNvSpPr txBox="1"/>
          <p:nvPr/>
        </p:nvSpPr>
        <p:spPr>
          <a:xfrm>
            <a:off x="4160520" y="5541264"/>
            <a:ext cx="3017520" cy="365760"/>
          </a:xfrm>
          <a:prstGeom prst="roundRect">
            <a:avLst>
              <a:gd name="adj" fmla="val 50000"/>
            </a:avLst>
          </a:prstGeom>
          <a:solidFill>
            <a:srgbClr val="E1F4EA"/>
          </a:solidFill>
          <a:ln w="6350">
            <a:solidFill>
              <a:srgbClr val="E1F4EA"/>
            </a:solidFill>
          </a:ln>
        </p:spPr>
        <p:txBody>
          <a:bodyPr wrap="square" lIns="0" tIns="0" rIns="0" bIns="0" rtlCol="0" anchor="ctr"/>
          <a:lstStyle/>
          <a:p>
            <a:pPr marL="0" indent="0" algn="ctr">
              <a:buNone/>
            </a:pPr>
            <a:r>
              <a:rPr lang="en-US" sz="1100" kern="0" spc="60" dirty="0">
                <a:solidFill>
                  <a:srgbClr val="14804A"/>
                </a:solidFill>
                <a:latin typeface="Segoe UI Semibold"/>
              </a:rPr>
              <a:t>Admin approval and signed release</a:t>
            </a:r>
            <a:endParaRPr lang="en-US" sz="1100" dirty="0"/>
          </a:p>
        </p:txBody>
      </p:sp>
      <p:sp>
        <p:nvSpPr>
          <p:cNvPr id="36" name="Pill: Customer QR verification"/>
          <p:cNvSpPr txBox="1"/>
          <p:nvPr/>
        </p:nvSpPr>
        <p:spPr>
          <a:xfrm>
            <a:off x="7315200" y="5541264"/>
            <a:ext cx="2194560" cy="365760"/>
          </a:xfrm>
          <a:prstGeom prst="roundRect">
            <a:avLst>
              <a:gd name="adj" fmla="val 50000"/>
            </a:avLst>
          </a:prstGeom>
          <a:solidFill>
            <a:srgbClr val="FFF1DA"/>
          </a:solidFill>
          <a:ln w="6350">
            <a:solidFill>
              <a:srgbClr val="FFF1DA"/>
            </a:solidFill>
          </a:ln>
        </p:spPr>
        <p:txBody>
          <a:bodyPr wrap="square" lIns="0" tIns="0" rIns="0" bIns="0" rtlCol="0" anchor="ctr"/>
          <a:lstStyle/>
          <a:p>
            <a:pPr marL="0" indent="0" algn="ctr">
              <a:buNone/>
            </a:pPr>
            <a:r>
              <a:rPr lang="en-US" sz="1100" kern="0" spc="60" dirty="0">
                <a:solidFill>
                  <a:srgbClr val="A85D00"/>
                </a:solidFill>
                <a:latin typeface="Segoe UI Semibold"/>
              </a:rPr>
              <a:t>Customer QR verification</a:t>
            </a:r>
            <a:endParaRPr lang="en-US" sz="1100" dirty="0"/>
          </a:p>
        </p:txBody>
      </p:sp>
      <p:sp>
        <p:nvSpPr>
          <p:cNvPr id="37" name="Pill: Tickets and assistant"/>
          <p:cNvSpPr txBox="1"/>
          <p:nvPr/>
        </p:nvSpPr>
        <p:spPr>
          <a:xfrm>
            <a:off x="9646920" y="5541264"/>
            <a:ext cx="1996440" cy="365760"/>
          </a:xfrm>
          <a:prstGeom prst="roundRect">
            <a:avLst>
              <a:gd name="adj" fmla="val 50000"/>
            </a:avLst>
          </a:prstGeom>
          <a:solidFill>
            <a:srgbClr val="FFF1DA"/>
          </a:solidFill>
          <a:ln w="6350">
            <a:solidFill>
              <a:srgbClr val="FFF1DA"/>
            </a:solidFill>
          </a:ln>
        </p:spPr>
        <p:txBody>
          <a:bodyPr wrap="square" lIns="0" tIns="0" rIns="0" bIns="0" rtlCol="0" anchor="ctr"/>
          <a:lstStyle/>
          <a:p>
            <a:pPr marL="0" indent="0" algn="ctr">
              <a:buNone/>
            </a:pPr>
            <a:r>
              <a:rPr lang="en-US" sz="1100" kern="0" spc="60" dirty="0">
                <a:solidFill>
                  <a:srgbClr val="A85D00"/>
                </a:solidFill>
                <a:latin typeface="Segoe UI Semibold"/>
              </a:rPr>
              <a:t>Tickets and assistant</a:t>
            </a:r>
            <a:endParaRPr lang="en-US" sz="1100" dirty="0"/>
          </a:p>
        </p:txBody>
      </p:sp>
      <p:sp>
        <p:nvSpPr>
          <p:cNvPr id="38"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6667F"/>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503920" cy="1005840"/>
          </a:xfrm>
          <a:prstGeom prst="rect">
            <a:avLst/>
          </a:prstGeom>
          <a:noFill/>
          <a:ln/>
        </p:spPr>
        <p:txBody>
          <a:bodyPr wrap="square" lIns="0" tIns="0" rIns="0" bIns="0" rtlCol="0" anchor="t"/>
          <a:lstStyle/>
          <a:p>
            <a:pPr marL="0" indent="0" algn="l">
              <a:buNone/>
            </a:pPr>
            <a:r>
              <a:rPr lang="en-US" sz="2800" spc="-20" dirty="0">
                <a:solidFill>
                  <a:schemeClr val="tx2"/>
                </a:solidFill>
                <a:latin typeface="Segoe UI Semibold"/>
              </a:rPr>
              <a:t>Customers apply online instead of</a:t>
            </a:r>
            <a:br>
              <a:rPr lang="en-US" sz="2800" spc="-20" dirty="0">
                <a:solidFill>
                  <a:schemeClr val="tx2"/>
                </a:solidFill>
                <a:latin typeface="Segoe UI Semibold"/>
              </a:rPr>
            </a:br>
            <a:r>
              <a:rPr lang="en-US" sz="2800" spc="-20" dirty="0">
                <a:solidFill>
                  <a:schemeClr val="tx2"/>
                </a:solidFill>
                <a:latin typeface="Segoe UI Semibold"/>
              </a:rPr>
              <a:t>filling a paper form</a:t>
            </a:r>
            <a:endParaRPr lang="en-US" sz="2800" dirty="0"/>
          </a:p>
        </p:txBody>
      </p:sp>
      <p:sp>
        <p:nvSpPr>
          <p:cNvPr id="3" name="Text 1"/>
          <p:cNvSpPr txBox="1"/>
          <p:nvPr/>
        </p:nvSpPr>
        <p:spPr>
          <a:xfrm>
            <a:off x="9082735" y="841248"/>
            <a:ext cx="2560320" cy="228600"/>
          </a:xfrm>
          <a:prstGeom prst="rect">
            <a:avLst/>
          </a:prstGeom>
          <a:noFill/>
          <a:ln/>
        </p:spPr>
        <p:txBody>
          <a:bodyPr wrap="square" lIns="0" tIns="0" rIns="0" bIns="0" rtlCol="0" anchor="t"/>
          <a:lstStyle/>
          <a:p>
            <a:pPr marL="0" indent="0" algn="r">
              <a:buNone/>
            </a:pPr>
            <a:r>
              <a:rPr lang="en-US" sz="1050" dirty="0">
                <a:solidFill>
                  <a:srgbClr val="56667F"/>
                </a:solidFill>
              </a:rPr>
              <a:t>Objective 4: Customer experience</a:t>
            </a:r>
            <a:endParaRPr lang="en-US" sz="1050" dirty="0"/>
          </a:p>
        </p:txBody>
      </p:sp>
      <p:sp>
        <p:nvSpPr>
          <p:cNvPr id="4" name="Pill: CUSTOMER EXPERIENCE"/>
          <p:cNvSpPr txBox="1"/>
          <p:nvPr/>
        </p:nvSpPr>
        <p:spPr>
          <a:xfrm>
            <a:off x="9240012" y="457200"/>
            <a:ext cx="2403043" cy="329184"/>
          </a:xfrm>
          <a:prstGeom prst="roundRect">
            <a:avLst>
              <a:gd name="adj" fmla="val 50000"/>
            </a:avLst>
          </a:prstGeom>
          <a:solidFill>
            <a:srgbClr val="FFF1DA"/>
          </a:solidFill>
          <a:ln w="6350">
            <a:solidFill>
              <a:srgbClr val="FFF1DA"/>
            </a:solidFill>
          </a:ln>
        </p:spPr>
        <p:txBody>
          <a:bodyPr wrap="square" lIns="0" tIns="0" rIns="0" bIns="0" rtlCol="0" anchor="ctr"/>
          <a:lstStyle/>
          <a:p>
            <a:pPr marL="0" indent="0" algn="ctr">
              <a:buNone/>
            </a:pPr>
            <a:r>
              <a:rPr lang="en-US" sz="1100" kern="0" spc="60" dirty="0">
                <a:solidFill>
                  <a:srgbClr val="A85D00"/>
                </a:solidFill>
                <a:latin typeface="Segoe UI Semibold"/>
              </a:rPr>
              <a:t>CUSTOMER EXPERIENCE</a:t>
            </a:r>
            <a:endParaRPr lang="en-US" sz="1100" dirty="0"/>
          </a:p>
        </p:txBody>
      </p:sp>
      <p:sp>
        <p:nvSpPr>
          <p:cNvPr id="5" name="Before card"/>
          <p:cNvSpPr/>
          <p:nvPr/>
        </p:nvSpPr>
        <p:spPr>
          <a:xfrm>
            <a:off x="548640" y="1691640"/>
            <a:ext cx="3291840" cy="4297680"/>
          </a:xfrm>
          <a:prstGeom prst="roundRect">
            <a:avLst>
              <a:gd name="adj" fmla="val 4444"/>
            </a:avLst>
          </a:prstGeom>
          <a:solidFill>
            <a:srgbClr val="EDF0F5"/>
          </a:solidFill>
          <a:ln w="12700">
            <a:solidFill>
              <a:srgbClr val="CBD3E0"/>
            </a:solidFill>
            <a:prstDash val="solid"/>
          </a:ln>
        </p:spPr>
        <p:txBody>
          <a:bodyPr/>
          <a:lstStyle/>
          <a:p>
            <a:endParaRPr lang="en-US"/>
          </a:p>
        </p:txBody>
      </p:sp>
      <p:sp>
        <p:nvSpPr>
          <p:cNvPr id="6" name="Pill: BEFORE"/>
          <p:cNvSpPr txBox="1"/>
          <p:nvPr/>
        </p:nvSpPr>
        <p:spPr>
          <a:xfrm>
            <a:off x="822960" y="1920240"/>
            <a:ext cx="914400" cy="274320"/>
          </a:xfrm>
          <a:prstGeom prst="roundRect">
            <a:avLst>
              <a:gd name="adj" fmla="val 50000"/>
            </a:avLst>
          </a:prstGeom>
          <a:solidFill>
            <a:srgbClr val="FDE7E7"/>
          </a:solidFill>
          <a:ln w="6350">
            <a:solidFill>
              <a:srgbClr val="FDE7E7"/>
            </a:solidFill>
          </a:ln>
        </p:spPr>
        <p:txBody>
          <a:bodyPr wrap="square" lIns="0" tIns="0" rIns="0" bIns="0" rtlCol="0" anchor="ctr"/>
          <a:lstStyle/>
          <a:p>
            <a:pPr marL="0" indent="0" algn="ctr">
              <a:buNone/>
            </a:pPr>
            <a:r>
              <a:rPr lang="en-US" sz="1000" kern="0" spc="60" dirty="0">
                <a:solidFill>
                  <a:srgbClr val="C62828"/>
                </a:solidFill>
                <a:latin typeface="Segoe UI Semibold"/>
              </a:rPr>
              <a:t>BEFORE</a:t>
            </a:r>
            <a:endParaRPr lang="en-US" sz="1000" dirty="0"/>
          </a:p>
        </p:txBody>
      </p:sp>
      <p:sp>
        <p:nvSpPr>
          <p:cNvPr id="7" name="Text 5"/>
          <p:cNvSpPr txBox="1"/>
          <p:nvPr/>
        </p:nvSpPr>
        <p:spPr>
          <a:xfrm>
            <a:off x="822960" y="2331720"/>
            <a:ext cx="2743200" cy="365760"/>
          </a:xfrm>
          <a:prstGeom prst="rect">
            <a:avLst/>
          </a:prstGeom>
          <a:noFill/>
          <a:ln/>
        </p:spPr>
        <p:txBody>
          <a:bodyPr wrap="square" lIns="0" tIns="0" rIns="0" bIns="0" rtlCol="0" anchor="t"/>
          <a:lstStyle/>
          <a:p>
            <a:pPr marL="0" indent="0">
              <a:buNone/>
            </a:pPr>
            <a:r>
              <a:rPr lang="en-US" sz="2250" dirty="0">
                <a:solidFill>
                  <a:srgbClr val="56667F"/>
                </a:solidFill>
                <a:latin typeface="Segoe UI Semibold"/>
              </a:rPr>
              <a:t>Paper request form</a:t>
            </a:r>
            <a:endParaRPr lang="en-US" sz="2250" dirty="0"/>
          </a:p>
        </p:txBody>
      </p:sp>
      <p:sp>
        <p:nvSpPr>
          <p:cNvPr id="8" name="Bullet dot"/>
          <p:cNvSpPr/>
          <p:nvPr/>
        </p:nvSpPr>
        <p:spPr>
          <a:xfrm>
            <a:off x="822960" y="2990088"/>
            <a:ext cx="146304" cy="146304"/>
          </a:xfrm>
          <a:prstGeom prst="ellipse">
            <a:avLst/>
          </a:prstGeom>
          <a:solidFill>
            <a:srgbClr val="C62828"/>
          </a:solidFill>
          <a:ln w="12700">
            <a:solidFill>
              <a:srgbClr val="C62828"/>
            </a:solidFill>
            <a:prstDash val="solid"/>
          </a:ln>
        </p:spPr>
      </p:sp>
      <p:sp>
        <p:nvSpPr>
          <p:cNvPr id="9" name="Text 7"/>
          <p:cNvSpPr txBox="1"/>
          <p:nvPr/>
        </p:nvSpPr>
        <p:spPr>
          <a:xfrm>
            <a:off x="1115568" y="2926080"/>
            <a:ext cx="2450592" cy="667512"/>
          </a:xfrm>
          <a:prstGeom prst="rect">
            <a:avLst/>
          </a:prstGeom>
          <a:noFill/>
          <a:ln/>
        </p:spPr>
        <p:txBody>
          <a:bodyPr wrap="square" lIns="0" tIns="0" rIns="0" bIns="0" rtlCol="0" anchor="t"/>
          <a:lstStyle/>
          <a:p>
            <a:pPr marL="0" indent="0">
              <a:buNone/>
            </a:pPr>
            <a:r>
              <a:rPr lang="en-US" sz="1400" dirty="0">
                <a:solidFill>
                  <a:srgbClr val="56667F"/>
                </a:solidFill>
              </a:rPr>
              <a:t>Customer fills in a paper form</a:t>
            </a:r>
            <a:endParaRPr lang="en-US" sz="1400" dirty="0"/>
          </a:p>
        </p:txBody>
      </p:sp>
      <p:sp>
        <p:nvSpPr>
          <p:cNvPr id="10" name="Bullet dot"/>
          <p:cNvSpPr/>
          <p:nvPr/>
        </p:nvSpPr>
        <p:spPr>
          <a:xfrm>
            <a:off x="822960" y="3703320"/>
            <a:ext cx="146304" cy="146304"/>
          </a:xfrm>
          <a:prstGeom prst="ellipse">
            <a:avLst/>
          </a:prstGeom>
          <a:solidFill>
            <a:srgbClr val="C62828"/>
          </a:solidFill>
          <a:ln w="12700">
            <a:solidFill>
              <a:srgbClr val="C62828"/>
            </a:solidFill>
            <a:prstDash val="solid"/>
          </a:ln>
        </p:spPr>
      </p:sp>
      <p:sp>
        <p:nvSpPr>
          <p:cNvPr id="11" name="Text 9"/>
          <p:cNvSpPr txBox="1"/>
          <p:nvPr/>
        </p:nvSpPr>
        <p:spPr>
          <a:xfrm>
            <a:off x="1115568" y="3639312"/>
            <a:ext cx="2450592" cy="667512"/>
          </a:xfrm>
          <a:prstGeom prst="rect">
            <a:avLst/>
          </a:prstGeom>
          <a:noFill/>
          <a:ln/>
        </p:spPr>
        <p:txBody>
          <a:bodyPr wrap="square" lIns="0" tIns="0" rIns="0" bIns="0" rtlCol="0" anchor="t"/>
          <a:lstStyle/>
          <a:p>
            <a:pPr marL="0" indent="0">
              <a:buNone/>
            </a:pPr>
            <a:r>
              <a:rPr lang="en-US" sz="1400" dirty="0">
                <a:solidFill>
                  <a:srgbClr val="56667F"/>
                </a:solidFill>
              </a:rPr>
              <a:t>Delivers or posts it to the lab</a:t>
            </a:r>
            <a:endParaRPr lang="en-US" sz="1400" dirty="0"/>
          </a:p>
        </p:txBody>
      </p:sp>
      <p:sp>
        <p:nvSpPr>
          <p:cNvPr id="12" name="Bullet dot"/>
          <p:cNvSpPr/>
          <p:nvPr/>
        </p:nvSpPr>
        <p:spPr>
          <a:xfrm>
            <a:off x="822960" y="4416552"/>
            <a:ext cx="146304" cy="146304"/>
          </a:xfrm>
          <a:prstGeom prst="ellipse">
            <a:avLst/>
          </a:prstGeom>
          <a:solidFill>
            <a:srgbClr val="C62828"/>
          </a:solidFill>
          <a:ln w="12700">
            <a:solidFill>
              <a:srgbClr val="C62828"/>
            </a:solidFill>
            <a:prstDash val="solid"/>
          </a:ln>
        </p:spPr>
      </p:sp>
      <p:sp>
        <p:nvSpPr>
          <p:cNvPr id="13" name="Text 11"/>
          <p:cNvSpPr txBox="1"/>
          <p:nvPr/>
        </p:nvSpPr>
        <p:spPr>
          <a:xfrm>
            <a:off x="1115568" y="4352544"/>
            <a:ext cx="2450592" cy="667512"/>
          </a:xfrm>
          <a:prstGeom prst="rect">
            <a:avLst/>
          </a:prstGeom>
          <a:noFill/>
          <a:ln/>
        </p:spPr>
        <p:txBody>
          <a:bodyPr wrap="square" lIns="0" tIns="0" rIns="0" bIns="0" rtlCol="0" anchor="t"/>
          <a:lstStyle/>
          <a:p>
            <a:pPr marL="0" indent="0">
              <a:buNone/>
            </a:pPr>
            <a:r>
              <a:rPr lang="en-US" sz="1400" dirty="0">
                <a:solidFill>
                  <a:srgbClr val="56667F"/>
                </a:solidFill>
              </a:rPr>
              <a:t>Lab retypes every field</a:t>
            </a:r>
            <a:endParaRPr lang="en-US" sz="1400" dirty="0"/>
          </a:p>
        </p:txBody>
      </p:sp>
      <p:sp>
        <p:nvSpPr>
          <p:cNvPr id="14" name="Bullet dot"/>
          <p:cNvSpPr/>
          <p:nvPr/>
        </p:nvSpPr>
        <p:spPr>
          <a:xfrm>
            <a:off x="822960" y="5129784"/>
            <a:ext cx="146304" cy="146304"/>
          </a:xfrm>
          <a:prstGeom prst="ellipse">
            <a:avLst/>
          </a:prstGeom>
          <a:solidFill>
            <a:srgbClr val="C62828"/>
          </a:solidFill>
          <a:ln w="12700">
            <a:solidFill>
              <a:srgbClr val="C62828"/>
            </a:solidFill>
            <a:prstDash val="solid"/>
          </a:ln>
        </p:spPr>
      </p:sp>
      <p:sp>
        <p:nvSpPr>
          <p:cNvPr id="15" name="Text 13"/>
          <p:cNvSpPr txBox="1"/>
          <p:nvPr/>
        </p:nvSpPr>
        <p:spPr>
          <a:xfrm>
            <a:off x="1115568" y="5065776"/>
            <a:ext cx="2450592" cy="667512"/>
          </a:xfrm>
          <a:prstGeom prst="rect">
            <a:avLst/>
          </a:prstGeom>
          <a:noFill/>
          <a:ln/>
        </p:spPr>
        <p:txBody>
          <a:bodyPr wrap="square" lIns="0" tIns="0" rIns="0" bIns="0" rtlCol="0" anchor="t"/>
          <a:lstStyle/>
          <a:p>
            <a:pPr marL="0" indent="0">
              <a:buNone/>
            </a:pPr>
            <a:r>
              <a:rPr lang="en-US" sz="1400" dirty="0">
                <a:solidFill>
                  <a:srgbClr val="56667F"/>
                </a:solidFill>
              </a:rPr>
              <a:t>Delays and transcription errors</a:t>
            </a:r>
            <a:endParaRPr lang="en-US" sz="1400" dirty="0"/>
          </a:p>
        </p:txBody>
      </p:sp>
      <p:sp>
        <p:nvSpPr>
          <p:cNvPr id="16" name="Arrow"/>
          <p:cNvSpPr/>
          <p:nvPr/>
        </p:nvSpPr>
        <p:spPr>
          <a:xfrm>
            <a:off x="3913632" y="3611880"/>
            <a:ext cx="502920" cy="457200"/>
          </a:xfrm>
          <a:prstGeom prst="rightArrow">
            <a:avLst/>
          </a:prstGeom>
          <a:solidFill>
            <a:srgbClr val="1C4F9C"/>
          </a:solidFill>
          <a:ln w="12700">
            <a:solidFill>
              <a:srgbClr val="1C4F9C"/>
            </a:solidFill>
            <a:prstDash val="solid"/>
          </a:ln>
        </p:spPr>
        <p:txBody>
          <a:bodyPr/>
          <a:lstStyle/>
          <a:p>
            <a:endParaRPr lang="en-US"/>
          </a:p>
        </p:txBody>
      </p:sp>
      <p:sp>
        <p:nvSpPr>
          <p:cNvPr id="17" name="After card"/>
          <p:cNvSpPr/>
          <p:nvPr/>
        </p:nvSpPr>
        <p:spPr>
          <a:xfrm>
            <a:off x="4526280" y="1691640"/>
            <a:ext cx="3291840" cy="4297680"/>
          </a:xfrm>
          <a:prstGeom prst="roundRect">
            <a:avLst>
              <a:gd name="adj" fmla="val 4444"/>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18" name="Pill: AFTER"/>
          <p:cNvSpPr txBox="1"/>
          <p:nvPr/>
        </p:nvSpPr>
        <p:spPr>
          <a:xfrm>
            <a:off x="4800600" y="1920240"/>
            <a:ext cx="914400" cy="274320"/>
          </a:xfrm>
          <a:prstGeom prst="roundRect">
            <a:avLst>
              <a:gd name="adj" fmla="val 50000"/>
            </a:avLst>
          </a:prstGeom>
          <a:solidFill>
            <a:srgbClr val="E1F4EA"/>
          </a:solidFill>
          <a:ln w="6350">
            <a:solidFill>
              <a:srgbClr val="E1F4EA"/>
            </a:solidFill>
          </a:ln>
        </p:spPr>
        <p:txBody>
          <a:bodyPr wrap="square" lIns="0" tIns="0" rIns="0" bIns="0" rtlCol="0" anchor="ctr"/>
          <a:lstStyle/>
          <a:p>
            <a:pPr marL="0" indent="0" algn="ctr">
              <a:buNone/>
            </a:pPr>
            <a:r>
              <a:rPr lang="en-US" sz="1000" kern="0" spc="60" dirty="0">
                <a:solidFill>
                  <a:srgbClr val="14804A"/>
                </a:solidFill>
                <a:latin typeface="Segoe UI Semibold"/>
              </a:rPr>
              <a:t>AFTER</a:t>
            </a:r>
            <a:endParaRPr lang="en-US" sz="1000" dirty="0"/>
          </a:p>
        </p:txBody>
      </p:sp>
      <p:sp>
        <p:nvSpPr>
          <p:cNvPr id="19" name="Text 17"/>
          <p:cNvSpPr txBox="1"/>
          <p:nvPr/>
        </p:nvSpPr>
        <p:spPr>
          <a:xfrm>
            <a:off x="4800600" y="2331720"/>
            <a:ext cx="2743200" cy="365760"/>
          </a:xfrm>
          <a:prstGeom prst="rect">
            <a:avLst/>
          </a:prstGeom>
          <a:noFill/>
          <a:ln/>
        </p:spPr>
        <p:txBody>
          <a:bodyPr wrap="square" lIns="0" tIns="0" rIns="0" bIns="0" rtlCol="0" anchor="t"/>
          <a:lstStyle/>
          <a:p>
            <a:pPr marL="0" indent="0">
              <a:buNone/>
            </a:pPr>
            <a:r>
              <a:rPr lang="en-US" sz="2250" dirty="0">
                <a:solidFill>
                  <a:srgbClr val="12315F"/>
                </a:solidFill>
                <a:latin typeface="Segoe UI Semibold"/>
              </a:rPr>
              <a:t>Online request form</a:t>
            </a:r>
            <a:endParaRPr lang="en-US" sz="2250" dirty="0"/>
          </a:p>
        </p:txBody>
      </p:sp>
      <p:sp>
        <p:nvSpPr>
          <p:cNvPr id="20" name="Bullet dot"/>
          <p:cNvSpPr/>
          <p:nvPr/>
        </p:nvSpPr>
        <p:spPr>
          <a:xfrm>
            <a:off x="4800600" y="2990088"/>
            <a:ext cx="146304" cy="146304"/>
          </a:xfrm>
          <a:prstGeom prst="ellipse">
            <a:avLst/>
          </a:prstGeom>
          <a:solidFill>
            <a:srgbClr val="1C4F9C"/>
          </a:solidFill>
          <a:ln w="12700">
            <a:solidFill>
              <a:srgbClr val="1C4F9C"/>
            </a:solidFill>
            <a:prstDash val="solid"/>
          </a:ln>
        </p:spPr>
      </p:sp>
      <p:sp>
        <p:nvSpPr>
          <p:cNvPr id="21" name="Text 19"/>
          <p:cNvSpPr txBox="1"/>
          <p:nvPr/>
        </p:nvSpPr>
        <p:spPr>
          <a:xfrm>
            <a:off x="5093208" y="2926080"/>
            <a:ext cx="2450592" cy="667512"/>
          </a:xfrm>
          <a:prstGeom prst="rect">
            <a:avLst/>
          </a:prstGeom>
          <a:noFill/>
          <a:ln/>
        </p:spPr>
        <p:txBody>
          <a:bodyPr wrap="square" lIns="0" tIns="0" rIns="0" bIns="0" rtlCol="0" anchor="t"/>
          <a:lstStyle/>
          <a:p>
            <a:pPr marL="0" indent="0">
              <a:buNone/>
            </a:pPr>
            <a:r>
              <a:rPr lang="en-US" sz="1400" dirty="0">
                <a:solidFill>
                  <a:srgbClr val="14233C"/>
                </a:solidFill>
              </a:rPr>
              <a:t>Same fields as the lab's own form</a:t>
            </a:r>
            <a:endParaRPr lang="en-US" sz="1400" dirty="0"/>
          </a:p>
        </p:txBody>
      </p:sp>
      <p:sp>
        <p:nvSpPr>
          <p:cNvPr id="22" name="Bullet dot"/>
          <p:cNvSpPr/>
          <p:nvPr/>
        </p:nvSpPr>
        <p:spPr>
          <a:xfrm>
            <a:off x="4800600" y="3703320"/>
            <a:ext cx="146304" cy="146304"/>
          </a:xfrm>
          <a:prstGeom prst="ellipse">
            <a:avLst/>
          </a:prstGeom>
          <a:solidFill>
            <a:srgbClr val="1C4F9C"/>
          </a:solidFill>
          <a:ln w="12700">
            <a:solidFill>
              <a:srgbClr val="1C4F9C"/>
            </a:solidFill>
            <a:prstDash val="solid"/>
          </a:ln>
        </p:spPr>
      </p:sp>
      <p:sp>
        <p:nvSpPr>
          <p:cNvPr id="23" name="Text 21"/>
          <p:cNvSpPr txBox="1"/>
          <p:nvPr/>
        </p:nvSpPr>
        <p:spPr>
          <a:xfrm>
            <a:off x="5093208" y="3639312"/>
            <a:ext cx="2450592" cy="667512"/>
          </a:xfrm>
          <a:prstGeom prst="rect">
            <a:avLst/>
          </a:prstGeom>
          <a:noFill/>
          <a:ln/>
        </p:spPr>
        <p:txBody>
          <a:bodyPr wrap="square" lIns="0" tIns="0" rIns="0" bIns="0" rtlCol="0" anchor="t"/>
          <a:lstStyle/>
          <a:p>
            <a:pPr marL="0" indent="0">
              <a:buNone/>
            </a:pPr>
            <a:r>
              <a:rPr lang="en-US" sz="1400" dirty="0">
                <a:solidFill>
                  <a:srgbClr val="14233C"/>
                </a:solidFill>
              </a:rPr>
              <a:t>No retyping at the lab</a:t>
            </a:r>
            <a:endParaRPr lang="en-US" sz="1400" dirty="0"/>
          </a:p>
        </p:txBody>
      </p:sp>
      <p:sp>
        <p:nvSpPr>
          <p:cNvPr id="24" name="Bullet dot"/>
          <p:cNvSpPr/>
          <p:nvPr/>
        </p:nvSpPr>
        <p:spPr>
          <a:xfrm>
            <a:off x="4800600" y="4416552"/>
            <a:ext cx="146304" cy="146304"/>
          </a:xfrm>
          <a:prstGeom prst="ellipse">
            <a:avLst/>
          </a:prstGeom>
          <a:solidFill>
            <a:srgbClr val="1C4F9C"/>
          </a:solidFill>
          <a:ln w="12700">
            <a:solidFill>
              <a:srgbClr val="1C4F9C"/>
            </a:solidFill>
            <a:prstDash val="solid"/>
          </a:ln>
        </p:spPr>
      </p:sp>
      <p:sp>
        <p:nvSpPr>
          <p:cNvPr id="25" name="Text 23"/>
          <p:cNvSpPr txBox="1"/>
          <p:nvPr/>
        </p:nvSpPr>
        <p:spPr>
          <a:xfrm>
            <a:off x="5093208" y="4352544"/>
            <a:ext cx="2450592" cy="667512"/>
          </a:xfrm>
          <a:prstGeom prst="rect">
            <a:avLst/>
          </a:prstGeom>
          <a:noFill/>
          <a:ln/>
        </p:spPr>
        <p:txBody>
          <a:bodyPr wrap="square" lIns="0" tIns="0" rIns="0" bIns="0" rtlCol="0" anchor="t"/>
          <a:lstStyle/>
          <a:p>
            <a:pPr marL="0" indent="0">
              <a:buNone/>
            </a:pPr>
            <a:r>
              <a:rPr lang="en-US" sz="1400" dirty="0">
                <a:solidFill>
                  <a:srgbClr val="14233C"/>
                </a:solidFill>
              </a:rPr>
              <a:t>Lab receives it instantly and accepts it on screen</a:t>
            </a:r>
            <a:endParaRPr lang="en-US" sz="1400" dirty="0"/>
          </a:p>
        </p:txBody>
      </p:sp>
      <p:sp>
        <p:nvSpPr>
          <p:cNvPr id="26" name="Bullet dot"/>
          <p:cNvSpPr/>
          <p:nvPr/>
        </p:nvSpPr>
        <p:spPr>
          <a:xfrm>
            <a:off x="4800600" y="5129784"/>
            <a:ext cx="146304" cy="146304"/>
          </a:xfrm>
          <a:prstGeom prst="ellipse">
            <a:avLst/>
          </a:prstGeom>
          <a:solidFill>
            <a:srgbClr val="1C4F9C"/>
          </a:solidFill>
          <a:ln w="12700">
            <a:solidFill>
              <a:srgbClr val="1C4F9C"/>
            </a:solidFill>
            <a:prstDash val="solid"/>
          </a:ln>
        </p:spPr>
      </p:sp>
      <p:sp>
        <p:nvSpPr>
          <p:cNvPr id="27" name="Text 25"/>
          <p:cNvSpPr txBox="1"/>
          <p:nvPr/>
        </p:nvSpPr>
        <p:spPr>
          <a:xfrm>
            <a:off x="5093208" y="5065776"/>
            <a:ext cx="2450592" cy="667512"/>
          </a:xfrm>
          <a:prstGeom prst="rect">
            <a:avLst/>
          </a:prstGeom>
          <a:noFill/>
          <a:ln/>
        </p:spPr>
        <p:txBody>
          <a:bodyPr wrap="square" lIns="0" tIns="0" rIns="0" bIns="0" rtlCol="0" anchor="t"/>
          <a:lstStyle/>
          <a:p>
            <a:pPr marL="0" indent="0">
              <a:buNone/>
            </a:pPr>
            <a:r>
              <a:rPr lang="en-US" sz="1400" dirty="0">
                <a:solidFill>
                  <a:srgbClr val="14233C"/>
                </a:solidFill>
              </a:rPr>
              <a:t>Series and sample numbers assigned automatically</a:t>
            </a:r>
            <a:endParaRPr lang="en-US" sz="1400" dirty="0"/>
          </a:p>
        </p:txBody>
      </p:sp>
      <p:pic>
        <p:nvPicPr>
          <p:cNvPr id="1701" name="Screenshot: Customer Request Form, online" descr="Screenshot of the Aletheia prototype: Customer Request Form, online"/>
          <p:cNvPicPr>
            <a:picLocks noChangeAspect="1"/>
          </p:cNvPicPr>
          <p:nvPr/>
        </p:nvPicPr>
        <p:blipFill>
          <a:blip r:embed="rId3"/>
          <a:stretch>
            <a:fillRect/>
          </a:stretch>
        </p:blipFill>
        <p:spPr>
          <a:xfrm>
            <a:off x="8372956" y="1764792"/>
            <a:ext cx="2943863" cy="4151376"/>
          </a:xfrm>
          <a:prstGeom prst="rect">
            <a:avLst/>
          </a:prstGeom>
          <a:ln w="12700">
            <a:solidFill>
              <a:srgbClr val="9DB6D8"/>
            </a:solidFill>
          </a:ln>
        </p:spPr>
      </p:pic>
      <p:sp>
        <p:nvSpPr>
          <p:cNvPr id="28"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6667F"/>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503920" cy="1005840"/>
          </a:xfrm>
          <a:prstGeom prst="rect">
            <a:avLst/>
          </a:prstGeom>
          <a:noFill/>
          <a:ln/>
        </p:spPr>
        <p:txBody>
          <a:bodyPr wrap="square" lIns="0" tIns="0" rIns="0" bIns="0" rtlCol="0" anchor="t"/>
          <a:lstStyle/>
          <a:p>
            <a:pPr marL="0" indent="0" algn="l">
              <a:buNone/>
            </a:pPr>
            <a:r>
              <a:rPr lang="en-US" sz="2800" spc="-20" dirty="0">
                <a:solidFill>
                  <a:schemeClr val="tx2"/>
                </a:solidFill>
                <a:latin typeface="Segoe UI Semibold"/>
              </a:rPr>
              <a:t>One logsheet upload feeds checks, verification and the report</a:t>
            </a:r>
            <a:endParaRPr lang="en-US" sz="2800" dirty="0"/>
          </a:p>
        </p:txBody>
      </p:sp>
      <p:sp>
        <p:nvSpPr>
          <p:cNvPr id="3" name="Text 1"/>
          <p:cNvSpPr txBox="1"/>
          <p:nvPr/>
        </p:nvSpPr>
        <p:spPr>
          <a:xfrm>
            <a:off x="9082735" y="841248"/>
            <a:ext cx="2560320" cy="228600"/>
          </a:xfrm>
          <a:prstGeom prst="rect">
            <a:avLst/>
          </a:prstGeom>
          <a:noFill/>
          <a:ln/>
        </p:spPr>
        <p:txBody>
          <a:bodyPr wrap="square" lIns="0" tIns="0" rIns="0" bIns="0" rtlCol="0" anchor="t"/>
          <a:lstStyle/>
          <a:p>
            <a:pPr marL="0" indent="0" algn="r">
              <a:buNone/>
            </a:pPr>
            <a:r>
              <a:rPr lang="en-US" sz="1050" dirty="0">
                <a:solidFill>
                  <a:srgbClr val="56667F"/>
                </a:solidFill>
              </a:rPr>
              <a:t>Objectives 1 and 3</a:t>
            </a:r>
            <a:endParaRPr lang="en-US" sz="1050" dirty="0"/>
          </a:p>
        </p:txBody>
      </p:sp>
      <p:sp>
        <p:nvSpPr>
          <p:cNvPr id="4" name="Pill: IMPROVED EFFICIENCY"/>
          <p:cNvSpPr txBox="1"/>
          <p:nvPr/>
        </p:nvSpPr>
        <p:spPr>
          <a:xfrm>
            <a:off x="9240012" y="457200"/>
            <a:ext cx="2403043" cy="329184"/>
          </a:xfrm>
          <a:prstGeom prst="roundRect">
            <a:avLst>
              <a:gd name="adj" fmla="val 50000"/>
            </a:avLst>
          </a:prstGeom>
          <a:solidFill>
            <a:srgbClr val="E2ECFA"/>
          </a:solidFill>
          <a:ln w="6350">
            <a:solidFill>
              <a:srgbClr val="E2ECFA"/>
            </a:solidFill>
          </a:ln>
        </p:spPr>
        <p:txBody>
          <a:bodyPr wrap="square" lIns="0" tIns="0" rIns="0" bIns="0" rtlCol="0" anchor="ctr"/>
          <a:lstStyle/>
          <a:p>
            <a:pPr marL="0" indent="0" algn="ctr">
              <a:buNone/>
            </a:pPr>
            <a:r>
              <a:rPr lang="en-US" sz="1100" kern="0" spc="60" dirty="0">
                <a:solidFill>
                  <a:srgbClr val="1C4F9C"/>
                </a:solidFill>
                <a:latin typeface="Segoe UI Semibold"/>
              </a:rPr>
              <a:t>IMPROVED EFFICIENCY</a:t>
            </a:r>
            <a:endParaRPr lang="en-US" sz="1100" dirty="0"/>
          </a:p>
        </p:txBody>
      </p:sp>
      <p:sp>
        <p:nvSpPr>
          <p:cNvPr id="5" name="Before card"/>
          <p:cNvSpPr/>
          <p:nvPr/>
        </p:nvSpPr>
        <p:spPr>
          <a:xfrm>
            <a:off x="548640" y="1691640"/>
            <a:ext cx="5029200" cy="2834640"/>
          </a:xfrm>
          <a:prstGeom prst="roundRect">
            <a:avLst>
              <a:gd name="adj" fmla="val 5161"/>
            </a:avLst>
          </a:prstGeom>
          <a:solidFill>
            <a:srgbClr val="EDF0F5"/>
          </a:solidFill>
          <a:ln w="12700">
            <a:solidFill>
              <a:srgbClr val="CBD3E0"/>
            </a:solidFill>
            <a:prstDash val="solid"/>
          </a:ln>
        </p:spPr>
        <p:txBody>
          <a:bodyPr/>
          <a:lstStyle/>
          <a:p>
            <a:endParaRPr lang="en-US"/>
          </a:p>
        </p:txBody>
      </p:sp>
      <p:sp>
        <p:nvSpPr>
          <p:cNvPr id="6" name="Pill: BEFORE"/>
          <p:cNvSpPr txBox="1"/>
          <p:nvPr/>
        </p:nvSpPr>
        <p:spPr>
          <a:xfrm>
            <a:off x="822960" y="1920240"/>
            <a:ext cx="914400" cy="274320"/>
          </a:xfrm>
          <a:prstGeom prst="roundRect">
            <a:avLst>
              <a:gd name="adj" fmla="val 50000"/>
            </a:avLst>
          </a:prstGeom>
          <a:solidFill>
            <a:srgbClr val="FDE7E7"/>
          </a:solidFill>
          <a:ln w="6350">
            <a:solidFill>
              <a:srgbClr val="FDE7E7"/>
            </a:solidFill>
          </a:ln>
        </p:spPr>
        <p:txBody>
          <a:bodyPr wrap="square" lIns="0" tIns="0" rIns="0" bIns="0" rtlCol="0" anchor="ctr"/>
          <a:lstStyle/>
          <a:p>
            <a:pPr marL="0" indent="0" algn="ctr">
              <a:buNone/>
            </a:pPr>
            <a:r>
              <a:rPr lang="en-US" sz="1000" kern="0" spc="60" dirty="0">
                <a:solidFill>
                  <a:srgbClr val="C62828"/>
                </a:solidFill>
                <a:latin typeface="Segoe UI Semibold"/>
              </a:rPr>
              <a:t>BEFORE</a:t>
            </a:r>
            <a:endParaRPr lang="en-US" sz="1000" dirty="0"/>
          </a:p>
        </p:txBody>
      </p:sp>
      <p:sp>
        <p:nvSpPr>
          <p:cNvPr id="7" name="Bullet dot"/>
          <p:cNvSpPr/>
          <p:nvPr/>
        </p:nvSpPr>
        <p:spPr>
          <a:xfrm>
            <a:off x="822960" y="2487168"/>
            <a:ext cx="146304" cy="146304"/>
          </a:xfrm>
          <a:prstGeom prst="ellipse">
            <a:avLst/>
          </a:prstGeom>
          <a:solidFill>
            <a:srgbClr val="C62828"/>
          </a:solidFill>
          <a:ln w="12700">
            <a:solidFill>
              <a:srgbClr val="C62828"/>
            </a:solidFill>
            <a:prstDash val="solid"/>
          </a:ln>
        </p:spPr>
      </p:sp>
      <p:sp>
        <p:nvSpPr>
          <p:cNvPr id="8" name="Text 6"/>
          <p:cNvSpPr txBox="1"/>
          <p:nvPr/>
        </p:nvSpPr>
        <p:spPr>
          <a:xfrm>
            <a:off x="1115568" y="2423160"/>
            <a:ext cx="4187952" cy="621792"/>
          </a:xfrm>
          <a:prstGeom prst="rect">
            <a:avLst/>
          </a:prstGeom>
          <a:noFill/>
          <a:ln/>
        </p:spPr>
        <p:txBody>
          <a:bodyPr wrap="square" lIns="0" tIns="0" rIns="0" bIns="0" rtlCol="0" anchor="t"/>
          <a:lstStyle/>
          <a:p>
            <a:pPr marL="0" indent="0">
              <a:buNone/>
            </a:pPr>
            <a:r>
              <a:rPr lang="en-US" dirty="0">
                <a:solidFill>
                  <a:srgbClr val="56667F"/>
                </a:solidFill>
              </a:rPr>
              <a:t>Logsheets filled by hand or in Excel</a:t>
            </a:r>
            <a:endParaRPr lang="en-US" dirty="0"/>
          </a:p>
        </p:txBody>
      </p:sp>
      <p:sp>
        <p:nvSpPr>
          <p:cNvPr id="9" name="Bullet dot"/>
          <p:cNvSpPr/>
          <p:nvPr/>
        </p:nvSpPr>
        <p:spPr>
          <a:xfrm>
            <a:off x="822960" y="3154680"/>
            <a:ext cx="146304" cy="146304"/>
          </a:xfrm>
          <a:prstGeom prst="ellipse">
            <a:avLst/>
          </a:prstGeom>
          <a:solidFill>
            <a:srgbClr val="C62828"/>
          </a:solidFill>
          <a:ln w="12700">
            <a:solidFill>
              <a:srgbClr val="C62828"/>
            </a:solidFill>
            <a:prstDash val="solid"/>
          </a:ln>
        </p:spPr>
      </p:sp>
      <p:sp>
        <p:nvSpPr>
          <p:cNvPr id="10" name="Text 8"/>
          <p:cNvSpPr txBox="1"/>
          <p:nvPr/>
        </p:nvSpPr>
        <p:spPr>
          <a:xfrm>
            <a:off x="1115568" y="3090672"/>
            <a:ext cx="4187952" cy="621792"/>
          </a:xfrm>
          <a:prstGeom prst="rect">
            <a:avLst/>
          </a:prstGeom>
          <a:noFill/>
          <a:ln/>
        </p:spPr>
        <p:txBody>
          <a:bodyPr wrap="square" lIns="0" tIns="0" rIns="0" bIns="0" rtlCol="0" anchor="t"/>
          <a:lstStyle/>
          <a:p>
            <a:pPr marL="0" indent="0">
              <a:buNone/>
            </a:pPr>
            <a:r>
              <a:rPr lang="en-US" dirty="0">
                <a:solidFill>
                  <a:srgbClr val="56667F"/>
                </a:solidFill>
              </a:rPr>
              <a:t>Emailed or carried between tester, checker and report writer</a:t>
            </a:r>
            <a:endParaRPr lang="en-US" dirty="0"/>
          </a:p>
        </p:txBody>
      </p:sp>
      <p:sp>
        <p:nvSpPr>
          <p:cNvPr id="11" name="Bullet dot"/>
          <p:cNvSpPr/>
          <p:nvPr/>
        </p:nvSpPr>
        <p:spPr>
          <a:xfrm>
            <a:off x="822960" y="3822192"/>
            <a:ext cx="146304" cy="146304"/>
          </a:xfrm>
          <a:prstGeom prst="ellipse">
            <a:avLst/>
          </a:prstGeom>
          <a:solidFill>
            <a:srgbClr val="C62828"/>
          </a:solidFill>
          <a:ln w="12700">
            <a:solidFill>
              <a:srgbClr val="C62828"/>
            </a:solidFill>
            <a:prstDash val="solid"/>
          </a:ln>
        </p:spPr>
      </p:sp>
      <p:sp>
        <p:nvSpPr>
          <p:cNvPr id="12" name="Text 10"/>
          <p:cNvSpPr txBox="1"/>
          <p:nvPr/>
        </p:nvSpPr>
        <p:spPr>
          <a:xfrm>
            <a:off x="1115568" y="3758184"/>
            <a:ext cx="4187952" cy="621792"/>
          </a:xfrm>
          <a:prstGeom prst="rect">
            <a:avLst/>
          </a:prstGeom>
          <a:noFill/>
          <a:ln/>
        </p:spPr>
        <p:txBody>
          <a:bodyPr wrap="square" lIns="0" tIns="0" rIns="0" bIns="0" rtlCol="0" anchor="t"/>
          <a:lstStyle/>
          <a:p>
            <a:pPr marL="0" indent="0">
              <a:buNone/>
            </a:pPr>
            <a:r>
              <a:rPr lang="en-US" dirty="0">
                <a:solidFill>
                  <a:srgbClr val="56667F"/>
                </a:solidFill>
              </a:rPr>
              <a:t>Values retyped into the report</a:t>
            </a:r>
            <a:endParaRPr lang="en-US" dirty="0"/>
          </a:p>
        </p:txBody>
      </p:sp>
      <p:sp>
        <p:nvSpPr>
          <p:cNvPr id="13" name="Arrow"/>
          <p:cNvSpPr/>
          <p:nvPr/>
        </p:nvSpPr>
        <p:spPr>
          <a:xfrm>
            <a:off x="5669280" y="2834640"/>
            <a:ext cx="502920" cy="457200"/>
          </a:xfrm>
          <a:prstGeom prst="rightArrow">
            <a:avLst/>
          </a:prstGeom>
          <a:solidFill>
            <a:srgbClr val="1C4F9C"/>
          </a:solidFill>
          <a:ln w="12700">
            <a:solidFill>
              <a:srgbClr val="1C4F9C"/>
            </a:solidFill>
            <a:prstDash val="solid"/>
          </a:ln>
        </p:spPr>
        <p:txBody>
          <a:bodyPr/>
          <a:lstStyle/>
          <a:p>
            <a:endParaRPr lang="en-US"/>
          </a:p>
        </p:txBody>
      </p:sp>
      <p:sp>
        <p:nvSpPr>
          <p:cNvPr id="14" name="After card"/>
          <p:cNvSpPr/>
          <p:nvPr/>
        </p:nvSpPr>
        <p:spPr>
          <a:xfrm>
            <a:off x="6309360" y="1691640"/>
            <a:ext cx="5333695" cy="2834640"/>
          </a:xfrm>
          <a:prstGeom prst="roundRect">
            <a:avLst>
              <a:gd name="adj" fmla="val 5161"/>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15" name="Pill: AFTER"/>
          <p:cNvSpPr txBox="1"/>
          <p:nvPr/>
        </p:nvSpPr>
        <p:spPr>
          <a:xfrm>
            <a:off x="6583680" y="1920240"/>
            <a:ext cx="914400" cy="274320"/>
          </a:xfrm>
          <a:prstGeom prst="roundRect">
            <a:avLst>
              <a:gd name="adj" fmla="val 50000"/>
            </a:avLst>
          </a:prstGeom>
          <a:solidFill>
            <a:srgbClr val="E1F4EA"/>
          </a:solidFill>
          <a:ln w="6350">
            <a:solidFill>
              <a:srgbClr val="E1F4EA"/>
            </a:solidFill>
          </a:ln>
        </p:spPr>
        <p:txBody>
          <a:bodyPr wrap="square" lIns="0" tIns="0" rIns="0" bIns="0" rtlCol="0" anchor="ctr"/>
          <a:lstStyle/>
          <a:p>
            <a:pPr marL="0" indent="0" algn="ctr">
              <a:buNone/>
            </a:pPr>
            <a:r>
              <a:rPr lang="en-US" sz="1000" kern="0" spc="60" dirty="0">
                <a:solidFill>
                  <a:srgbClr val="14804A"/>
                </a:solidFill>
                <a:latin typeface="Segoe UI Semibold"/>
              </a:rPr>
              <a:t>AFTER</a:t>
            </a:r>
            <a:endParaRPr lang="en-US" sz="1000" dirty="0"/>
          </a:p>
        </p:txBody>
      </p:sp>
      <p:sp>
        <p:nvSpPr>
          <p:cNvPr id="16" name="Bullet dot"/>
          <p:cNvSpPr/>
          <p:nvPr/>
        </p:nvSpPr>
        <p:spPr>
          <a:xfrm>
            <a:off x="6583680" y="2487168"/>
            <a:ext cx="146304" cy="146304"/>
          </a:xfrm>
          <a:prstGeom prst="ellipse">
            <a:avLst/>
          </a:prstGeom>
          <a:solidFill>
            <a:srgbClr val="1C4F9C"/>
          </a:solidFill>
          <a:ln w="12700">
            <a:solidFill>
              <a:srgbClr val="1C4F9C"/>
            </a:solidFill>
            <a:prstDash val="solid"/>
          </a:ln>
        </p:spPr>
      </p:sp>
      <p:sp>
        <p:nvSpPr>
          <p:cNvPr id="17" name="Text 15"/>
          <p:cNvSpPr txBox="1"/>
          <p:nvPr/>
        </p:nvSpPr>
        <p:spPr>
          <a:xfrm>
            <a:off x="6876288" y="2423160"/>
            <a:ext cx="4553712" cy="621792"/>
          </a:xfrm>
          <a:prstGeom prst="rect">
            <a:avLst/>
          </a:prstGeom>
          <a:noFill/>
          <a:ln/>
        </p:spPr>
        <p:txBody>
          <a:bodyPr wrap="square" lIns="0" tIns="0" rIns="0" bIns="0" rtlCol="0" anchor="t"/>
          <a:lstStyle/>
          <a:p>
            <a:pPr marL="0" indent="0">
              <a:buNone/>
            </a:pPr>
            <a:r>
              <a:rPr lang="en-US" dirty="0">
                <a:solidFill>
                  <a:srgbClr val="14233C"/>
                </a:solidFill>
              </a:rPr>
              <a:t>Tester uploads the logsheet once</a:t>
            </a:r>
            <a:endParaRPr lang="en-US" dirty="0"/>
          </a:p>
        </p:txBody>
      </p:sp>
      <p:sp>
        <p:nvSpPr>
          <p:cNvPr id="18" name="Bullet dot"/>
          <p:cNvSpPr/>
          <p:nvPr/>
        </p:nvSpPr>
        <p:spPr>
          <a:xfrm>
            <a:off x="6583680" y="3154680"/>
            <a:ext cx="146304" cy="146304"/>
          </a:xfrm>
          <a:prstGeom prst="ellipse">
            <a:avLst/>
          </a:prstGeom>
          <a:solidFill>
            <a:srgbClr val="1C4F9C"/>
          </a:solidFill>
          <a:ln w="12700">
            <a:solidFill>
              <a:srgbClr val="1C4F9C"/>
            </a:solidFill>
            <a:prstDash val="solid"/>
          </a:ln>
        </p:spPr>
      </p:sp>
      <p:sp>
        <p:nvSpPr>
          <p:cNvPr id="19" name="Text 17"/>
          <p:cNvSpPr txBox="1"/>
          <p:nvPr/>
        </p:nvSpPr>
        <p:spPr>
          <a:xfrm>
            <a:off x="6876288" y="3090672"/>
            <a:ext cx="4553712" cy="621792"/>
          </a:xfrm>
          <a:prstGeom prst="rect">
            <a:avLst/>
          </a:prstGeom>
          <a:noFill/>
          <a:ln/>
        </p:spPr>
        <p:txBody>
          <a:bodyPr wrap="square" lIns="0" tIns="0" rIns="0" bIns="0" rtlCol="0" anchor="t"/>
          <a:lstStyle/>
          <a:p>
            <a:pPr marL="0" indent="0">
              <a:buNone/>
            </a:pPr>
            <a:r>
              <a:rPr lang="en-US" dirty="0">
                <a:solidFill>
                  <a:srgbClr val="14233C"/>
                </a:solidFill>
              </a:rPr>
              <a:t>Every value is captured with its source cell</a:t>
            </a:r>
            <a:endParaRPr lang="en-US" dirty="0"/>
          </a:p>
        </p:txBody>
      </p:sp>
      <p:sp>
        <p:nvSpPr>
          <p:cNvPr id="20" name="Bullet dot"/>
          <p:cNvSpPr/>
          <p:nvPr/>
        </p:nvSpPr>
        <p:spPr>
          <a:xfrm>
            <a:off x="6583680" y="3822192"/>
            <a:ext cx="146304" cy="146304"/>
          </a:xfrm>
          <a:prstGeom prst="ellipse">
            <a:avLst/>
          </a:prstGeom>
          <a:solidFill>
            <a:srgbClr val="1C4F9C"/>
          </a:solidFill>
          <a:ln w="12700">
            <a:solidFill>
              <a:srgbClr val="1C4F9C"/>
            </a:solidFill>
            <a:prstDash val="solid"/>
          </a:ln>
        </p:spPr>
      </p:sp>
      <p:sp>
        <p:nvSpPr>
          <p:cNvPr id="21" name="Text 19"/>
          <p:cNvSpPr txBox="1"/>
          <p:nvPr/>
        </p:nvSpPr>
        <p:spPr>
          <a:xfrm>
            <a:off x="6876288" y="3758184"/>
            <a:ext cx="4553712" cy="621792"/>
          </a:xfrm>
          <a:prstGeom prst="rect">
            <a:avLst/>
          </a:prstGeom>
          <a:noFill/>
          <a:ln/>
        </p:spPr>
        <p:txBody>
          <a:bodyPr wrap="square" lIns="0" tIns="0" rIns="0" bIns="0" rtlCol="0" anchor="t"/>
          <a:lstStyle/>
          <a:p>
            <a:pPr marL="0" indent="0">
              <a:buNone/>
            </a:pPr>
            <a:r>
              <a:rPr lang="en-US" dirty="0">
                <a:solidFill>
                  <a:srgbClr val="14233C"/>
                </a:solidFill>
              </a:rPr>
              <a:t>The same data flows through checks, verification and report</a:t>
            </a:r>
            <a:endParaRPr lang="en-US" dirty="0"/>
          </a:p>
        </p:txBody>
      </p:sp>
      <p:sp>
        <p:nvSpPr>
          <p:cNvPr id="22" name="Pill: SAME DATA, NO RE-KEYING"/>
          <p:cNvSpPr txBox="1"/>
          <p:nvPr/>
        </p:nvSpPr>
        <p:spPr>
          <a:xfrm>
            <a:off x="548640" y="4754880"/>
            <a:ext cx="2468880" cy="274320"/>
          </a:xfrm>
          <a:prstGeom prst="roundRect">
            <a:avLst>
              <a:gd name="adj" fmla="val 50000"/>
            </a:avLst>
          </a:prstGeom>
          <a:solidFill>
            <a:srgbClr val="E2ECFA"/>
          </a:solidFill>
          <a:ln w="6350">
            <a:solidFill>
              <a:srgbClr val="E2ECFA"/>
            </a:solidFill>
          </a:ln>
        </p:spPr>
        <p:txBody>
          <a:bodyPr wrap="square" lIns="0" tIns="0" rIns="0" bIns="0" rtlCol="0" anchor="ctr"/>
          <a:lstStyle/>
          <a:p>
            <a:pPr marL="0" indent="0" algn="ctr">
              <a:buNone/>
            </a:pPr>
            <a:r>
              <a:rPr lang="en-US" sz="1000" kern="0" spc="60" dirty="0">
                <a:solidFill>
                  <a:srgbClr val="1C4F9C"/>
                </a:solidFill>
                <a:latin typeface="Segoe UI Semibold"/>
              </a:rPr>
              <a:t>SAME DATA, NO RE-KEYING</a:t>
            </a:r>
            <a:endParaRPr lang="en-US" sz="1000" dirty="0"/>
          </a:p>
        </p:txBody>
      </p:sp>
      <p:sp>
        <p:nvSpPr>
          <p:cNvPr id="23" name="Flow step 1"/>
          <p:cNvSpPr txBox="1"/>
          <p:nvPr/>
        </p:nvSpPr>
        <p:spPr>
          <a:xfrm>
            <a:off x="548640" y="5120640"/>
            <a:ext cx="2331720" cy="822960"/>
          </a:xfrm>
          <a:prstGeom prst="roundRect">
            <a:avLst>
              <a:gd name="adj" fmla="val 15556"/>
            </a:avLst>
          </a:prstGeom>
          <a:solidFill>
            <a:srgbClr val="0B2347"/>
          </a:solidFill>
          <a:ln>
            <a:solidFill>
              <a:srgbClr val="0B2347"/>
            </a:solidFill>
          </a:ln>
        </p:spPr>
        <p:txBody>
          <a:bodyPr wrap="square" lIns="0" tIns="0" rIns="0" bIns="0" rtlCol="0" anchor="ctr"/>
          <a:lstStyle/>
          <a:p>
            <a:pPr marL="0" indent="0" algn="ctr">
              <a:buNone/>
            </a:pPr>
            <a:r>
              <a:rPr lang="en-US" sz="1700" dirty="0">
                <a:solidFill>
                  <a:srgbClr val="FFFFFF"/>
                </a:solidFill>
                <a:latin typeface="Segoe UI Semibold"/>
              </a:rPr>
              <a:t>Upload once</a:t>
            </a:r>
            <a:endParaRPr lang="en-US" sz="1700" dirty="0"/>
          </a:p>
        </p:txBody>
      </p:sp>
      <p:sp>
        <p:nvSpPr>
          <p:cNvPr id="24" name="Flow arrow"/>
          <p:cNvSpPr/>
          <p:nvPr/>
        </p:nvSpPr>
        <p:spPr>
          <a:xfrm>
            <a:off x="2971800" y="5349240"/>
            <a:ext cx="402336" cy="365760"/>
          </a:xfrm>
          <a:prstGeom prst="rightArrow">
            <a:avLst/>
          </a:prstGeom>
          <a:solidFill>
            <a:srgbClr val="FFB35C"/>
          </a:solidFill>
          <a:ln w="12700">
            <a:solidFill>
              <a:srgbClr val="FFB35C"/>
            </a:solidFill>
            <a:prstDash val="solid"/>
          </a:ln>
        </p:spPr>
      </p:sp>
      <p:sp>
        <p:nvSpPr>
          <p:cNvPr id="25" name="Flow step 2"/>
          <p:cNvSpPr txBox="1"/>
          <p:nvPr/>
        </p:nvSpPr>
        <p:spPr>
          <a:xfrm>
            <a:off x="3465576" y="5120640"/>
            <a:ext cx="2331720" cy="822960"/>
          </a:xfrm>
          <a:prstGeom prst="roundRect">
            <a:avLst>
              <a:gd name="adj" fmla="val 15556"/>
            </a:avLst>
          </a:prstGeom>
          <a:solidFill>
            <a:srgbClr val="0B2347"/>
          </a:solidFill>
          <a:ln>
            <a:solidFill>
              <a:srgbClr val="0B2347"/>
            </a:solidFill>
          </a:ln>
        </p:spPr>
        <p:txBody>
          <a:bodyPr wrap="square" lIns="0" tIns="0" rIns="0" bIns="0" rtlCol="0" anchor="ctr"/>
          <a:lstStyle/>
          <a:p>
            <a:pPr marL="0" indent="0" algn="ctr">
              <a:buNone/>
            </a:pPr>
            <a:r>
              <a:rPr lang="en-US" sz="1700" dirty="0">
                <a:solidFill>
                  <a:srgbClr val="FFFFFF"/>
                </a:solidFill>
                <a:latin typeface="Segoe UI Semibold"/>
              </a:rPr>
              <a:t>Automatic checks</a:t>
            </a:r>
            <a:endParaRPr lang="en-US" sz="1700" dirty="0"/>
          </a:p>
        </p:txBody>
      </p:sp>
      <p:sp>
        <p:nvSpPr>
          <p:cNvPr id="26" name="Flow arrow"/>
          <p:cNvSpPr/>
          <p:nvPr/>
        </p:nvSpPr>
        <p:spPr>
          <a:xfrm>
            <a:off x="5888736" y="5349240"/>
            <a:ext cx="402336" cy="365760"/>
          </a:xfrm>
          <a:prstGeom prst="rightArrow">
            <a:avLst/>
          </a:prstGeom>
          <a:solidFill>
            <a:srgbClr val="FFB35C"/>
          </a:solidFill>
          <a:ln w="12700">
            <a:solidFill>
              <a:srgbClr val="FFB35C"/>
            </a:solidFill>
            <a:prstDash val="solid"/>
          </a:ln>
        </p:spPr>
      </p:sp>
      <p:sp>
        <p:nvSpPr>
          <p:cNvPr id="27" name="Flow step 3"/>
          <p:cNvSpPr txBox="1"/>
          <p:nvPr/>
        </p:nvSpPr>
        <p:spPr>
          <a:xfrm>
            <a:off x="6382512" y="5120640"/>
            <a:ext cx="2331720" cy="822960"/>
          </a:xfrm>
          <a:prstGeom prst="roundRect">
            <a:avLst>
              <a:gd name="adj" fmla="val 15556"/>
            </a:avLst>
          </a:prstGeom>
          <a:solidFill>
            <a:srgbClr val="0B2347"/>
          </a:solidFill>
          <a:ln>
            <a:solidFill>
              <a:srgbClr val="0B2347"/>
            </a:solidFill>
          </a:ln>
        </p:spPr>
        <p:txBody>
          <a:bodyPr wrap="square" lIns="0" tIns="0" rIns="0" bIns="0" rtlCol="0" anchor="ctr"/>
          <a:lstStyle/>
          <a:p>
            <a:pPr marL="0" indent="0" algn="ctr">
              <a:buNone/>
            </a:pPr>
            <a:r>
              <a:rPr lang="en-US" sz="1700" dirty="0">
                <a:solidFill>
                  <a:srgbClr val="FFFFFF"/>
                </a:solidFill>
                <a:latin typeface="Segoe UI Semibold"/>
              </a:rPr>
              <a:t>Second look and verify</a:t>
            </a:r>
            <a:endParaRPr lang="en-US" sz="1700" dirty="0"/>
          </a:p>
        </p:txBody>
      </p:sp>
      <p:sp>
        <p:nvSpPr>
          <p:cNvPr id="28" name="Flow arrow"/>
          <p:cNvSpPr/>
          <p:nvPr/>
        </p:nvSpPr>
        <p:spPr>
          <a:xfrm>
            <a:off x="8805672" y="5349240"/>
            <a:ext cx="402336" cy="365760"/>
          </a:xfrm>
          <a:prstGeom prst="rightArrow">
            <a:avLst/>
          </a:prstGeom>
          <a:solidFill>
            <a:srgbClr val="FFB35C"/>
          </a:solidFill>
          <a:ln w="12700">
            <a:solidFill>
              <a:srgbClr val="FFB35C"/>
            </a:solidFill>
            <a:prstDash val="solid"/>
          </a:ln>
        </p:spPr>
      </p:sp>
      <p:sp>
        <p:nvSpPr>
          <p:cNvPr id="29" name="Flow step 4"/>
          <p:cNvSpPr txBox="1"/>
          <p:nvPr/>
        </p:nvSpPr>
        <p:spPr>
          <a:xfrm>
            <a:off x="9299448" y="5120640"/>
            <a:ext cx="2331720" cy="822960"/>
          </a:xfrm>
          <a:prstGeom prst="roundRect">
            <a:avLst>
              <a:gd name="adj" fmla="val 15556"/>
            </a:avLst>
          </a:prstGeom>
          <a:solidFill>
            <a:srgbClr val="0B2347"/>
          </a:solidFill>
          <a:ln>
            <a:solidFill>
              <a:srgbClr val="0B2347"/>
            </a:solidFill>
          </a:ln>
        </p:spPr>
        <p:txBody>
          <a:bodyPr wrap="square" lIns="0" tIns="0" rIns="0" bIns="0" rtlCol="0" anchor="ctr"/>
          <a:lstStyle/>
          <a:p>
            <a:pPr marL="0" indent="0" algn="ctr">
              <a:buNone/>
            </a:pPr>
            <a:r>
              <a:rPr lang="en-US" sz="1700" dirty="0">
                <a:solidFill>
                  <a:srgbClr val="FFFFFF"/>
                </a:solidFill>
                <a:latin typeface="Segoe UI Semibold"/>
              </a:rPr>
              <a:t>Report built</a:t>
            </a:r>
            <a:endParaRPr lang="en-US" sz="1700" dirty="0"/>
          </a:p>
        </p:txBody>
      </p:sp>
      <p:sp>
        <p:nvSpPr>
          <p:cNvPr id="30"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6667F"/>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5" name="Text 0"/>
          <p:cNvSpPr>
            <a:spLocks noGrp="1"/>
          </p:cNvSpPr>
          <p:nvPr>
            <p:ph type="title" idx="100" hasCustomPrompt="1"/>
          </p:nvPr>
        </p:nvSpPr>
        <p:spPr>
          <a:xfrm>
            <a:off x="548640" y="411480"/>
            <a:ext cx="8503920" cy="1005840"/>
          </a:xfrm>
          <a:prstGeom prst="rect">
            <a:avLst/>
          </a:prstGeom>
          <a:noFill/>
          <a:ln/>
        </p:spPr>
        <p:txBody>
          <a:bodyPr wrap="square" lIns="0" tIns="0" rIns="0" bIns="0" rtlCol="0" anchor="t"/>
          <a:lstStyle/>
          <a:p>
            <a:pPr marL="0" indent="0" algn="l">
              <a:buNone/>
            </a:pPr>
            <a:r>
              <a:rPr lang="en-US" sz="2800" spc="-20" dirty="0">
                <a:solidFill>
                  <a:schemeClr val="tx2"/>
                </a:solidFill>
                <a:latin typeface="Segoe UI Semibold"/>
              </a:rPr>
              <a:t>Nine steps and three roles take a request to a released report</a:t>
            </a:r>
            <a:endParaRPr lang="en-US" sz="2800" dirty="0"/>
          </a:p>
        </p:txBody>
      </p:sp>
      <p:sp>
        <p:nvSpPr>
          <p:cNvPr id="6" name="Text 4"/>
          <p:cNvSpPr txBox="1"/>
          <p:nvPr/>
        </p:nvSpPr>
        <p:spPr>
          <a:xfrm>
            <a:off x="9082735" y="841248"/>
            <a:ext cx="2560320" cy="228600"/>
          </a:xfrm>
          <a:prstGeom prst="rect">
            <a:avLst/>
          </a:prstGeom>
          <a:noFill/>
          <a:ln/>
        </p:spPr>
        <p:txBody>
          <a:bodyPr wrap="square" lIns="0" tIns="0" rIns="0" bIns="0" rtlCol="0" anchor="t"/>
          <a:lstStyle/>
          <a:p>
            <a:pPr marL="0" indent="0" algn="r">
              <a:buNone/>
            </a:pPr>
            <a:r>
              <a:rPr lang="en-US" sz="1050" dirty="0">
                <a:solidFill>
                  <a:srgbClr val="56667F"/>
                </a:solidFill>
              </a:rPr>
              <a:t>Objective 3: Productivity</a:t>
            </a:r>
            <a:endParaRPr lang="en-US" sz="1050" dirty="0"/>
          </a:p>
        </p:txBody>
      </p:sp>
      <p:sp>
        <p:nvSpPr>
          <p:cNvPr id="7" name="Pill: IMPROVED EFFICIENCY"/>
          <p:cNvSpPr txBox="1"/>
          <p:nvPr/>
        </p:nvSpPr>
        <p:spPr>
          <a:xfrm>
            <a:off x="9240012" y="457200"/>
            <a:ext cx="2403043" cy="329184"/>
          </a:xfrm>
          <a:prstGeom prst="roundRect">
            <a:avLst>
              <a:gd name="adj" fmla="val 50000"/>
            </a:avLst>
          </a:prstGeom>
          <a:solidFill>
            <a:srgbClr val="E2ECFA"/>
          </a:solidFill>
          <a:ln w="6350">
            <a:solidFill>
              <a:srgbClr val="E2ECFA"/>
            </a:solidFill>
          </a:ln>
        </p:spPr>
        <p:txBody>
          <a:bodyPr wrap="square" lIns="0" tIns="0" rIns="0" bIns="0" rtlCol="0" anchor="ctr"/>
          <a:lstStyle/>
          <a:p>
            <a:pPr marL="0" indent="0" algn="ctr">
              <a:buNone/>
            </a:pPr>
            <a:r>
              <a:rPr lang="en-US" sz="1100" kern="0" spc="60" dirty="0">
                <a:solidFill>
                  <a:srgbClr val="1C4F9C"/>
                </a:solidFill>
                <a:latin typeface="Segoe UI Semibold"/>
              </a:rPr>
              <a:t>IMPROVED EFFICIENCY</a:t>
            </a:r>
            <a:endParaRPr lang="en-US" sz="1100" dirty="0"/>
          </a:p>
        </p:txBody>
      </p:sp>
      <p:sp>
        <p:nvSpPr>
          <p:cNvPr id="8" name="Stepper line"/>
          <p:cNvSpPr/>
          <p:nvPr/>
        </p:nvSpPr>
        <p:spPr>
          <a:xfrm>
            <a:off x="1164996" y="1993392"/>
            <a:ext cx="9861702" cy="36576"/>
          </a:xfrm>
          <a:prstGeom prst="rect">
            <a:avLst/>
          </a:prstGeom>
          <a:solidFill>
            <a:srgbClr val="C5D3E8"/>
          </a:solidFill>
          <a:ln w="12700">
            <a:solidFill>
              <a:srgbClr val="C5D3E8"/>
            </a:solidFill>
            <a:prstDash val="solid"/>
          </a:ln>
        </p:spPr>
      </p:sp>
      <p:sp>
        <p:nvSpPr>
          <p:cNvPr id="9" name="Stepper progress"/>
          <p:cNvSpPr/>
          <p:nvPr/>
        </p:nvSpPr>
        <p:spPr>
          <a:xfrm>
            <a:off x="1164996" y="1993392"/>
            <a:ext cx="4930851" cy="36576"/>
          </a:xfrm>
          <a:prstGeom prst="rect">
            <a:avLst/>
          </a:prstGeom>
          <a:solidFill>
            <a:srgbClr val="1C4F9C"/>
          </a:solidFill>
          <a:ln w="12700">
            <a:solidFill>
              <a:srgbClr val="1C4F9C"/>
            </a:solidFill>
            <a:prstDash val="solid"/>
          </a:ln>
        </p:spPr>
      </p:sp>
      <p:sp>
        <p:nvSpPr>
          <p:cNvPr id="10" name="Step 1"/>
          <p:cNvSpPr txBox="1"/>
          <p:nvPr/>
        </p:nvSpPr>
        <p:spPr>
          <a:xfrm>
            <a:off x="936396" y="1783080"/>
            <a:ext cx="457200" cy="457200"/>
          </a:xfrm>
          <a:prstGeom prst="ellipse">
            <a:avLst/>
          </a:prstGeom>
          <a:solidFill>
            <a:srgbClr val="1C4F9C"/>
          </a:solidFill>
          <a:ln w="15875">
            <a:solidFill>
              <a:srgbClr val="1C4F9C"/>
            </a:solidFill>
          </a:ln>
        </p:spPr>
        <p:txBody>
          <a:bodyPr wrap="square" lIns="0" tIns="0" rIns="0" bIns="0" rtlCol="0" anchor="ctr"/>
          <a:lstStyle/>
          <a:p>
            <a:pPr marL="0" indent="0" algn="ctr">
              <a:buNone/>
            </a:pPr>
            <a:r>
              <a:rPr lang="en-US" dirty="0">
                <a:solidFill>
                  <a:srgbClr val="FFFFFF"/>
                </a:solidFill>
                <a:latin typeface="Segoe UI Semibold"/>
              </a:rPr>
              <a:t>1</a:t>
            </a:r>
            <a:endParaRPr lang="en-US" dirty="0"/>
          </a:p>
        </p:txBody>
      </p:sp>
      <p:sp>
        <p:nvSpPr>
          <p:cNvPr id="11" name="Text 9"/>
          <p:cNvSpPr txBox="1"/>
          <p:nvPr/>
        </p:nvSpPr>
        <p:spPr>
          <a:xfrm>
            <a:off x="585216" y="2496312"/>
            <a:ext cx="1159561" cy="457200"/>
          </a:xfrm>
          <a:prstGeom prst="rect">
            <a:avLst/>
          </a:prstGeom>
          <a:noFill/>
          <a:ln/>
        </p:spPr>
        <p:txBody>
          <a:bodyPr wrap="square" lIns="0" tIns="0" rIns="0" bIns="0" rtlCol="0" anchor="t"/>
          <a:lstStyle/>
          <a:p>
            <a:pPr marL="0" indent="0" algn="ctr">
              <a:buNone/>
            </a:pPr>
            <a:r>
              <a:rPr lang="en-US" sz="1200" dirty="0">
                <a:solidFill>
                  <a:srgbClr val="12315F"/>
                </a:solidFill>
                <a:latin typeface="Segoe UI Semibold"/>
              </a:rPr>
              <a:t>Request</a:t>
            </a:r>
            <a:endParaRPr lang="en-US" sz="1200" dirty="0"/>
          </a:p>
        </p:txBody>
      </p:sp>
      <p:sp>
        <p:nvSpPr>
          <p:cNvPr id="12" name="Text 10"/>
          <p:cNvSpPr txBox="1"/>
          <p:nvPr/>
        </p:nvSpPr>
        <p:spPr>
          <a:xfrm>
            <a:off x="585216" y="2953512"/>
            <a:ext cx="1159561" cy="365760"/>
          </a:xfrm>
          <a:prstGeom prst="rect">
            <a:avLst/>
          </a:prstGeom>
          <a:noFill/>
          <a:ln/>
        </p:spPr>
        <p:txBody>
          <a:bodyPr wrap="square" lIns="0" tIns="0" rIns="0" bIns="0" rtlCol="0" anchor="t"/>
          <a:lstStyle/>
          <a:p>
            <a:pPr marL="0" indent="0" algn="ctr">
              <a:buNone/>
            </a:pPr>
            <a:r>
              <a:rPr lang="en-US" sz="1250" dirty="0">
                <a:solidFill>
                  <a:srgbClr val="56667F"/>
                </a:solidFill>
              </a:rPr>
              <a:t>Customer</a:t>
            </a:r>
            <a:endParaRPr lang="en-US" sz="1250" dirty="0"/>
          </a:p>
        </p:txBody>
      </p:sp>
      <p:sp>
        <p:nvSpPr>
          <p:cNvPr id="13" name="Step 2"/>
          <p:cNvSpPr txBox="1"/>
          <p:nvPr/>
        </p:nvSpPr>
        <p:spPr>
          <a:xfrm>
            <a:off x="2169109" y="1783080"/>
            <a:ext cx="457200" cy="457200"/>
          </a:xfrm>
          <a:prstGeom prst="ellipse">
            <a:avLst/>
          </a:prstGeom>
          <a:solidFill>
            <a:srgbClr val="1C4F9C"/>
          </a:solidFill>
          <a:ln w="15875">
            <a:solidFill>
              <a:srgbClr val="1C4F9C"/>
            </a:solidFill>
          </a:ln>
        </p:spPr>
        <p:txBody>
          <a:bodyPr wrap="square" lIns="0" tIns="0" rIns="0" bIns="0" rtlCol="0" anchor="ctr"/>
          <a:lstStyle/>
          <a:p>
            <a:pPr marL="0" indent="0" algn="ctr">
              <a:buNone/>
            </a:pPr>
            <a:r>
              <a:rPr lang="en-US" dirty="0">
                <a:solidFill>
                  <a:srgbClr val="FFFFFF"/>
                </a:solidFill>
                <a:latin typeface="Segoe UI Semibold"/>
              </a:rPr>
              <a:t>2</a:t>
            </a:r>
            <a:endParaRPr lang="en-US" dirty="0"/>
          </a:p>
        </p:txBody>
      </p:sp>
      <p:sp>
        <p:nvSpPr>
          <p:cNvPr id="14" name="Text 12"/>
          <p:cNvSpPr txBox="1"/>
          <p:nvPr/>
        </p:nvSpPr>
        <p:spPr>
          <a:xfrm>
            <a:off x="1817929" y="2496312"/>
            <a:ext cx="1159561" cy="457200"/>
          </a:xfrm>
          <a:prstGeom prst="rect">
            <a:avLst/>
          </a:prstGeom>
          <a:noFill/>
          <a:ln/>
        </p:spPr>
        <p:txBody>
          <a:bodyPr wrap="square" lIns="0" tIns="0" rIns="0" bIns="0" rtlCol="0" anchor="t"/>
          <a:lstStyle/>
          <a:p>
            <a:pPr marL="0" indent="0" algn="ctr">
              <a:buNone/>
            </a:pPr>
            <a:r>
              <a:rPr lang="en-US" sz="1200" dirty="0">
                <a:solidFill>
                  <a:srgbClr val="12315F"/>
                </a:solidFill>
                <a:latin typeface="Segoe UI Semibold"/>
              </a:rPr>
              <a:t>Accept</a:t>
            </a:r>
            <a:endParaRPr lang="en-US" sz="1200" dirty="0"/>
          </a:p>
        </p:txBody>
      </p:sp>
      <p:sp>
        <p:nvSpPr>
          <p:cNvPr id="15" name="Text 13"/>
          <p:cNvSpPr txBox="1"/>
          <p:nvPr/>
        </p:nvSpPr>
        <p:spPr>
          <a:xfrm>
            <a:off x="1817929" y="2953512"/>
            <a:ext cx="1159561" cy="365760"/>
          </a:xfrm>
          <a:prstGeom prst="rect">
            <a:avLst/>
          </a:prstGeom>
          <a:noFill/>
          <a:ln/>
        </p:spPr>
        <p:txBody>
          <a:bodyPr wrap="square" lIns="0" tIns="0" rIns="0" bIns="0" rtlCol="0" anchor="t"/>
          <a:lstStyle/>
          <a:p>
            <a:pPr marL="0" indent="0" algn="ctr">
              <a:buNone/>
            </a:pPr>
            <a:r>
              <a:rPr lang="en-US" sz="1250" dirty="0">
                <a:solidFill>
                  <a:srgbClr val="56667F"/>
                </a:solidFill>
              </a:rPr>
              <a:t>Tester or Admin</a:t>
            </a:r>
            <a:endParaRPr lang="en-US" sz="1250" dirty="0"/>
          </a:p>
        </p:txBody>
      </p:sp>
      <p:sp>
        <p:nvSpPr>
          <p:cNvPr id="16" name="Step 3"/>
          <p:cNvSpPr txBox="1"/>
          <p:nvPr/>
        </p:nvSpPr>
        <p:spPr>
          <a:xfrm>
            <a:off x="3401822" y="1783080"/>
            <a:ext cx="457200" cy="457200"/>
          </a:xfrm>
          <a:prstGeom prst="ellipse">
            <a:avLst/>
          </a:prstGeom>
          <a:solidFill>
            <a:srgbClr val="1C4F9C"/>
          </a:solidFill>
          <a:ln w="15875">
            <a:solidFill>
              <a:srgbClr val="1C4F9C"/>
            </a:solidFill>
          </a:ln>
        </p:spPr>
        <p:txBody>
          <a:bodyPr wrap="square" lIns="0" tIns="0" rIns="0" bIns="0" rtlCol="0" anchor="ctr"/>
          <a:lstStyle/>
          <a:p>
            <a:pPr marL="0" indent="0" algn="ctr">
              <a:buNone/>
            </a:pPr>
            <a:r>
              <a:rPr lang="en-US" dirty="0">
                <a:solidFill>
                  <a:srgbClr val="FFFFFF"/>
                </a:solidFill>
                <a:latin typeface="Segoe UI Semibold"/>
              </a:rPr>
              <a:t>3</a:t>
            </a:r>
            <a:endParaRPr lang="en-US" dirty="0"/>
          </a:p>
        </p:txBody>
      </p:sp>
      <p:sp>
        <p:nvSpPr>
          <p:cNvPr id="17" name="Text 15"/>
          <p:cNvSpPr txBox="1"/>
          <p:nvPr/>
        </p:nvSpPr>
        <p:spPr>
          <a:xfrm>
            <a:off x="3050642" y="2496312"/>
            <a:ext cx="1159561" cy="457200"/>
          </a:xfrm>
          <a:prstGeom prst="rect">
            <a:avLst/>
          </a:prstGeom>
          <a:noFill/>
          <a:ln/>
        </p:spPr>
        <p:txBody>
          <a:bodyPr wrap="square" lIns="0" tIns="0" rIns="0" bIns="0" rtlCol="0" anchor="t"/>
          <a:lstStyle/>
          <a:p>
            <a:pPr marL="0" indent="0" algn="ctr">
              <a:buNone/>
            </a:pPr>
            <a:r>
              <a:rPr lang="en-US" sz="1200" dirty="0">
                <a:solidFill>
                  <a:srgbClr val="12315F"/>
                </a:solidFill>
                <a:latin typeface="Segoe UI Semibold"/>
              </a:rPr>
              <a:t>Upload</a:t>
            </a:r>
            <a:endParaRPr lang="en-US" sz="1200" dirty="0"/>
          </a:p>
        </p:txBody>
      </p:sp>
      <p:sp>
        <p:nvSpPr>
          <p:cNvPr id="18" name="Text 16"/>
          <p:cNvSpPr txBox="1"/>
          <p:nvPr/>
        </p:nvSpPr>
        <p:spPr>
          <a:xfrm>
            <a:off x="3050642" y="2953512"/>
            <a:ext cx="1159561" cy="365760"/>
          </a:xfrm>
          <a:prstGeom prst="rect">
            <a:avLst/>
          </a:prstGeom>
          <a:noFill/>
          <a:ln/>
        </p:spPr>
        <p:txBody>
          <a:bodyPr wrap="square" lIns="0" tIns="0" rIns="0" bIns="0" rtlCol="0" anchor="t"/>
          <a:lstStyle/>
          <a:p>
            <a:pPr marL="0" indent="0" algn="ctr">
              <a:buNone/>
            </a:pPr>
            <a:r>
              <a:rPr lang="en-US" sz="1250" dirty="0">
                <a:solidFill>
                  <a:srgbClr val="56667F"/>
                </a:solidFill>
              </a:rPr>
              <a:t>Tester</a:t>
            </a:r>
            <a:endParaRPr lang="en-US" sz="1250" dirty="0"/>
          </a:p>
        </p:txBody>
      </p:sp>
      <p:sp>
        <p:nvSpPr>
          <p:cNvPr id="19" name="Step 4"/>
          <p:cNvSpPr txBox="1"/>
          <p:nvPr/>
        </p:nvSpPr>
        <p:spPr>
          <a:xfrm>
            <a:off x="4634535" y="1783080"/>
            <a:ext cx="457200" cy="457200"/>
          </a:xfrm>
          <a:prstGeom prst="ellipse">
            <a:avLst/>
          </a:prstGeom>
          <a:solidFill>
            <a:srgbClr val="1C4F9C"/>
          </a:solidFill>
          <a:ln w="15875">
            <a:solidFill>
              <a:srgbClr val="1C4F9C"/>
            </a:solidFill>
          </a:ln>
        </p:spPr>
        <p:txBody>
          <a:bodyPr wrap="square" lIns="0" tIns="0" rIns="0" bIns="0" rtlCol="0" anchor="ctr"/>
          <a:lstStyle/>
          <a:p>
            <a:pPr marL="0" indent="0" algn="ctr">
              <a:buNone/>
            </a:pPr>
            <a:r>
              <a:rPr lang="en-US" dirty="0">
                <a:solidFill>
                  <a:srgbClr val="FFFFFF"/>
                </a:solidFill>
                <a:latin typeface="Segoe UI Semibold"/>
              </a:rPr>
              <a:t>4</a:t>
            </a:r>
            <a:endParaRPr lang="en-US" dirty="0"/>
          </a:p>
        </p:txBody>
      </p:sp>
      <p:sp>
        <p:nvSpPr>
          <p:cNvPr id="20" name="Text 18"/>
          <p:cNvSpPr txBox="1"/>
          <p:nvPr/>
        </p:nvSpPr>
        <p:spPr>
          <a:xfrm>
            <a:off x="4283354" y="2496312"/>
            <a:ext cx="1159561" cy="457200"/>
          </a:xfrm>
          <a:prstGeom prst="rect">
            <a:avLst/>
          </a:prstGeom>
          <a:noFill/>
          <a:ln/>
        </p:spPr>
        <p:txBody>
          <a:bodyPr wrap="square" lIns="0" tIns="0" rIns="0" bIns="0" rtlCol="0" anchor="t"/>
          <a:lstStyle/>
          <a:p>
            <a:pPr marL="0" indent="0" algn="ctr">
              <a:buNone/>
            </a:pPr>
            <a:r>
              <a:rPr lang="en-US" sz="1200" dirty="0">
                <a:solidFill>
                  <a:srgbClr val="12315F"/>
                </a:solidFill>
                <a:latin typeface="Segoe UI Semibold"/>
              </a:rPr>
              <a:t>Check</a:t>
            </a:r>
            <a:endParaRPr lang="en-US" sz="1200" dirty="0"/>
          </a:p>
        </p:txBody>
      </p:sp>
      <p:sp>
        <p:nvSpPr>
          <p:cNvPr id="21" name="Text 19"/>
          <p:cNvSpPr txBox="1"/>
          <p:nvPr/>
        </p:nvSpPr>
        <p:spPr>
          <a:xfrm>
            <a:off x="4283354" y="2953512"/>
            <a:ext cx="1159561" cy="365760"/>
          </a:xfrm>
          <a:prstGeom prst="rect">
            <a:avLst/>
          </a:prstGeom>
          <a:noFill/>
          <a:ln/>
        </p:spPr>
        <p:txBody>
          <a:bodyPr wrap="square" lIns="0" tIns="0" rIns="0" bIns="0" rtlCol="0" anchor="t"/>
          <a:lstStyle/>
          <a:p>
            <a:pPr marL="0" indent="0" algn="ctr">
              <a:buNone/>
            </a:pPr>
            <a:r>
              <a:rPr lang="en-US" sz="1250" dirty="0">
                <a:solidFill>
                  <a:srgbClr val="56667F"/>
                </a:solidFill>
              </a:rPr>
              <a:t>Tester</a:t>
            </a:r>
            <a:endParaRPr lang="en-US" sz="1250" dirty="0"/>
          </a:p>
        </p:txBody>
      </p:sp>
      <p:sp>
        <p:nvSpPr>
          <p:cNvPr id="22" name="Current ring"/>
          <p:cNvSpPr/>
          <p:nvPr/>
        </p:nvSpPr>
        <p:spPr>
          <a:xfrm>
            <a:off x="5775808" y="1691640"/>
            <a:ext cx="640080" cy="640080"/>
          </a:xfrm>
          <a:prstGeom prst="ellipse">
            <a:avLst/>
          </a:prstGeom>
          <a:solidFill>
            <a:srgbClr val="2BB3FF">
              <a:alpha val="30000"/>
            </a:srgbClr>
          </a:solidFill>
          <a:ln w="12700">
            <a:solidFill>
              <a:srgbClr val="2BB3FF"/>
            </a:solidFill>
            <a:prstDash val="solid"/>
          </a:ln>
        </p:spPr>
        <p:txBody>
          <a:bodyPr/>
          <a:lstStyle/>
          <a:p>
            <a:endParaRPr lang="en-US"/>
          </a:p>
        </p:txBody>
      </p:sp>
      <p:sp>
        <p:nvSpPr>
          <p:cNvPr id="23" name="Step 5"/>
          <p:cNvSpPr txBox="1"/>
          <p:nvPr/>
        </p:nvSpPr>
        <p:spPr>
          <a:xfrm>
            <a:off x="5867248" y="1783080"/>
            <a:ext cx="457200" cy="457200"/>
          </a:xfrm>
          <a:prstGeom prst="ellipse">
            <a:avLst/>
          </a:prstGeom>
          <a:solidFill>
            <a:srgbClr val="FFFFFF"/>
          </a:solidFill>
          <a:ln w="31750">
            <a:solidFill>
              <a:srgbClr val="1C4F9C"/>
            </a:solidFill>
          </a:ln>
        </p:spPr>
        <p:txBody>
          <a:bodyPr wrap="square" lIns="0" tIns="0" rIns="0" bIns="0" rtlCol="0" anchor="ctr"/>
          <a:lstStyle/>
          <a:p>
            <a:pPr marL="0" indent="0" algn="ctr">
              <a:buNone/>
            </a:pPr>
            <a:r>
              <a:rPr lang="en-US" dirty="0">
                <a:solidFill>
                  <a:srgbClr val="1C4F9C"/>
                </a:solidFill>
                <a:latin typeface="Segoe UI Semibold"/>
              </a:rPr>
              <a:t>5</a:t>
            </a:r>
            <a:endParaRPr lang="en-US" dirty="0"/>
          </a:p>
        </p:txBody>
      </p:sp>
      <p:sp>
        <p:nvSpPr>
          <p:cNvPr id="24" name="Text 22"/>
          <p:cNvSpPr txBox="1"/>
          <p:nvPr/>
        </p:nvSpPr>
        <p:spPr>
          <a:xfrm>
            <a:off x="5516067" y="2496312"/>
            <a:ext cx="1159561" cy="457200"/>
          </a:xfrm>
          <a:prstGeom prst="rect">
            <a:avLst/>
          </a:prstGeom>
          <a:noFill/>
          <a:ln/>
        </p:spPr>
        <p:txBody>
          <a:bodyPr wrap="square" lIns="0" tIns="0" rIns="0" bIns="0" rtlCol="0" anchor="t"/>
          <a:lstStyle/>
          <a:p>
            <a:pPr marL="0" indent="0" algn="ctr">
              <a:buNone/>
            </a:pPr>
            <a:r>
              <a:rPr lang="en-US" sz="1200" dirty="0">
                <a:solidFill>
                  <a:srgbClr val="12315F"/>
                </a:solidFill>
                <a:latin typeface="Segoe UI Semibold"/>
              </a:rPr>
              <a:t>Verify</a:t>
            </a:r>
            <a:endParaRPr lang="en-US" sz="1200" dirty="0"/>
          </a:p>
        </p:txBody>
      </p:sp>
      <p:sp>
        <p:nvSpPr>
          <p:cNvPr id="25" name="Text 23"/>
          <p:cNvSpPr txBox="1"/>
          <p:nvPr/>
        </p:nvSpPr>
        <p:spPr>
          <a:xfrm>
            <a:off x="5516067" y="2953512"/>
            <a:ext cx="1159561" cy="365760"/>
          </a:xfrm>
          <a:prstGeom prst="rect">
            <a:avLst/>
          </a:prstGeom>
          <a:noFill/>
          <a:ln/>
        </p:spPr>
        <p:txBody>
          <a:bodyPr wrap="square" lIns="0" tIns="0" rIns="0" bIns="0" rtlCol="0" anchor="t"/>
          <a:lstStyle/>
          <a:p>
            <a:pPr marL="0" indent="0" algn="ctr">
              <a:buNone/>
            </a:pPr>
            <a:r>
              <a:rPr lang="en-US" sz="1250" dirty="0">
                <a:solidFill>
                  <a:srgbClr val="56667F"/>
                </a:solidFill>
              </a:rPr>
              <a:t>Tester</a:t>
            </a:r>
            <a:endParaRPr lang="en-US" sz="1250" dirty="0"/>
          </a:p>
        </p:txBody>
      </p:sp>
      <p:sp>
        <p:nvSpPr>
          <p:cNvPr id="26" name="Step 6"/>
          <p:cNvSpPr txBox="1"/>
          <p:nvPr/>
        </p:nvSpPr>
        <p:spPr>
          <a:xfrm>
            <a:off x="7099960" y="1783080"/>
            <a:ext cx="457200" cy="457200"/>
          </a:xfrm>
          <a:prstGeom prst="ellipse">
            <a:avLst/>
          </a:prstGeom>
          <a:solidFill>
            <a:srgbClr val="FFFFFF"/>
          </a:solidFill>
          <a:ln w="15875">
            <a:solidFill>
              <a:srgbClr val="9DB6D8"/>
            </a:solidFill>
          </a:ln>
        </p:spPr>
        <p:txBody>
          <a:bodyPr wrap="square" lIns="0" tIns="0" rIns="0" bIns="0" rtlCol="0" anchor="ctr"/>
          <a:lstStyle/>
          <a:p>
            <a:pPr marL="0" indent="0" algn="ctr">
              <a:buNone/>
            </a:pPr>
            <a:r>
              <a:rPr lang="en-US" dirty="0">
                <a:solidFill>
                  <a:srgbClr val="56667F"/>
                </a:solidFill>
                <a:latin typeface="Segoe UI Semibold"/>
              </a:rPr>
              <a:t>6</a:t>
            </a:r>
            <a:endParaRPr lang="en-US" dirty="0"/>
          </a:p>
        </p:txBody>
      </p:sp>
      <p:sp>
        <p:nvSpPr>
          <p:cNvPr id="27" name="Text 25"/>
          <p:cNvSpPr txBox="1"/>
          <p:nvPr/>
        </p:nvSpPr>
        <p:spPr>
          <a:xfrm>
            <a:off x="6748780" y="2496312"/>
            <a:ext cx="1159561" cy="457200"/>
          </a:xfrm>
          <a:prstGeom prst="rect">
            <a:avLst/>
          </a:prstGeom>
          <a:noFill/>
          <a:ln/>
        </p:spPr>
        <p:txBody>
          <a:bodyPr wrap="square" lIns="0" tIns="0" rIns="0" bIns="0" rtlCol="0" anchor="t"/>
          <a:lstStyle/>
          <a:p>
            <a:pPr marL="0" indent="0" algn="ctr">
              <a:buNone/>
            </a:pPr>
            <a:r>
              <a:rPr lang="en-US" sz="1200" dirty="0">
                <a:solidFill>
                  <a:srgbClr val="12315F"/>
                </a:solidFill>
                <a:latin typeface="Segoe UI Semibold"/>
              </a:rPr>
              <a:t>Approve</a:t>
            </a:r>
            <a:endParaRPr lang="en-US" sz="1200" dirty="0"/>
          </a:p>
        </p:txBody>
      </p:sp>
      <p:sp>
        <p:nvSpPr>
          <p:cNvPr id="28" name="Text 26"/>
          <p:cNvSpPr txBox="1"/>
          <p:nvPr/>
        </p:nvSpPr>
        <p:spPr>
          <a:xfrm>
            <a:off x="6748780" y="2953512"/>
            <a:ext cx="1159561" cy="365760"/>
          </a:xfrm>
          <a:prstGeom prst="rect">
            <a:avLst/>
          </a:prstGeom>
          <a:noFill/>
          <a:ln/>
        </p:spPr>
        <p:txBody>
          <a:bodyPr wrap="square" lIns="0" tIns="0" rIns="0" bIns="0" rtlCol="0" anchor="t"/>
          <a:lstStyle/>
          <a:p>
            <a:pPr marL="0" indent="0" algn="ctr">
              <a:buNone/>
            </a:pPr>
            <a:r>
              <a:rPr lang="en-US" sz="1250" dirty="0">
                <a:solidFill>
                  <a:srgbClr val="56667F"/>
                </a:solidFill>
              </a:rPr>
              <a:t>Admin</a:t>
            </a:r>
            <a:endParaRPr lang="en-US" sz="1250" dirty="0"/>
          </a:p>
        </p:txBody>
      </p:sp>
      <p:sp>
        <p:nvSpPr>
          <p:cNvPr id="29" name="Step 7"/>
          <p:cNvSpPr txBox="1"/>
          <p:nvPr/>
        </p:nvSpPr>
        <p:spPr>
          <a:xfrm>
            <a:off x="8332673" y="1783080"/>
            <a:ext cx="457200" cy="457200"/>
          </a:xfrm>
          <a:prstGeom prst="ellipse">
            <a:avLst/>
          </a:prstGeom>
          <a:solidFill>
            <a:srgbClr val="FFFFFF"/>
          </a:solidFill>
          <a:ln w="15875">
            <a:solidFill>
              <a:srgbClr val="9DB6D8"/>
            </a:solidFill>
          </a:ln>
        </p:spPr>
        <p:txBody>
          <a:bodyPr wrap="square" lIns="0" tIns="0" rIns="0" bIns="0" rtlCol="0" anchor="ctr"/>
          <a:lstStyle/>
          <a:p>
            <a:pPr marL="0" indent="0" algn="ctr">
              <a:buNone/>
            </a:pPr>
            <a:r>
              <a:rPr lang="en-US" dirty="0">
                <a:solidFill>
                  <a:srgbClr val="56667F"/>
                </a:solidFill>
                <a:latin typeface="Segoe UI Semibold"/>
              </a:rPr>
              <a:t>7</a:t>
            </a:r>
            <a:endParaRPr lang="en-US" dirty="0"/>
          </a:p>
        </p:txBody>
      </p:sp>
      <p:sp>
        <p:nvSpPr>
          <p:cNvPr id="30" name="Text 28"/>
          <p:cNvSpPr txBox="1"/>
          <p:nvPr/>
        </p:nvSpPr>
        <p:spPr>
          <a:xfrm>
            <a:off x="7981493" y="2496312"/>
            <a:ext cx="1159561" cy="457200"/>
          </a:xfrm>
          <a:prstGeom prst="rect">
            <a:avLst/>
          </a:prstGeom>
          <a:noFill/>
          <a:ln/>
        </p:spPr>
        <p:txBody>
          <a:bodyPr wrap="square" lIns="0" tIns="0" rIns="0" bIns="0" rtlCol="0" anchor="t"/>
          <a:lstStyle/>
          <a:p>
            <a:pPr marL="0" indent="0" algn="ctr">
              <a:buNone/>
            </a:pPr>
            <a:r>
              <a:rPr lang="en-US" sz="1200" dirty="0">
                <a:solidFill>
                  <a:srgbClr val="12315F"/>
                </a:solidFill>
                <a:latin typeface="Segoe UI Semibold"/>
              </a:rPr>
              <a:t>Generate report</a:t>
            </a:r>
            <a:endParaRPr lang="en-US" sz="1200" dirty="0"/>
          </a:p>
        </p:txBody>
      </p:sp>
      <p:sp>
        <p:nvSpPr>
          <p:cNvPr id="31" name="Text 29"/>
          <p:cNvSpPr txBox="1"/>
          <p:nvPr/>
        </p:nvSpPr>
        <p:spPr>
          <a:xfrm>
            <a:off x="7981493" y="2953512"/>
            <a:ext cx="1159561" cy="365760"/>
          </a:xfrm>
          <a:prstGeom prst="rect">
            <a:avLst/>
          </a:prstGeom>
          <a:noFill/>
          <a:ln/>
        </p:spPr>
        <p:txBody>
          <a:bodyPr wrap="square" lIns="0" tIns="0" rIns="0" bIns="0" rtlCol="0" anchor="t"/>
          <a:lstStyle/>
          <a:p>
            <a:pPr marL="0" indent="0" algn="ctr">
              <a:buNone/>
            </a:pPr>
            <a:r>
              <a:rPr lang="en-US" sz="1250" dirty="0">
                <a:solidFill>
                  <a:srgbClr val="56667F"/>
                </a:solidFill>
              </a:rPr>
              <a:t>Admin</a:t>
            </a:r>
            <a:endParaRPr lang="en-US" sz="1250" dirty="0"/>
          </a:p>
        </p:txBody>
      </p:sp>
      <p:sp>
        <p:nvSpPr>
          <p:cNvPr id="32" name="Step 8"/>
          <p:cNvSpPr txBox="1"/>
          <p:nvPr/>
        </p:nvSpPr>
        <p:spPr>
          <a:xfrm>
            <a:off x="9565386" y="1783080"/>
            <a:ext cx="457200" cy="457200"/>
          </a:xfrm>
          <a:prstGeom prst="ellipse">
            <a:avLst/>
          </a:prstGeom>
          <a:solidFill>
            <a:srgbClr val="FFFFFF"/>
          </a:solidFill>
          <a:ln w="15875">
            <a:solidFill>
              <a:srgbClr val="9DB6D8"/>
            </a:solidFill>
          </a:ln>
        </p:spPr>
        <p:txBody>
          <a:bodyPr wrap="square" lIns="0" tIns="0" rIns="0" bIns="0" rtlCol="0" anchor="ctr"/>
          <a:lstStyle/>
          <a:p>
            <a:pPr marL="0" indent="0" algn="ctr">
              <a:buNone/>
            </a:pPr>
            <a:r>
              <a:rPr lang="en-US" dirty="0">
                <a:solidFill>
                  <a:srgbClr val="56667F"/>
                </a:solidFill>
                <a:latin typeface="Segoe UI Semibold"/>
              </a:rPr>
              <a:t>8</a:t>
            </a:r>
            <a:endParaRPr lang="en-US" dirty="0"/>
          </a:p>
        </p:txBody>
      </p:sp>
      <p:sp>
        <p:nvSpPr>
          <p:cNvPr id="33" name="Text 31"/>
          <p:cNvSpPr txBox="1"/>
          <p:nvPr/>
        </p:nvSpPr>
        <p:spPr>
          <a:xfrm>
            <a:off x="9214206" y="2496312"/>
            <a:ext cx="1159561" cy="457200"/>
          </a:xfrm>
          <a:prstGeom prst="rect">
            <a:avLst/>
          </a:prstGeom>
          <a:noFill/>
          <a:ln/>
        </p:spPr>
        <p:txBody>
          <a:bodyPr wrap="square" lIns="0" tIns="0" rIns="0" bIns="0" rtlCol="0" anchor="t"/>
          <a:lstStyle/>
          <a:p>
            <a:pPr marL="0" indent="0" algn="ctr">
              <a:buNone/>
            </a:pPr>
            <a:r>
              <a:rPr lang="en-US" sz="1200" dirty="0">
                <a:solidFill>
                  <a:srgbClr val="12315F"/>
                </a:solidFill>
                <a:latin typeface="Segoe UI Semibold"/>
              </a:rPr>
              <a:t>Sign off and release</a:t>
            </a:r>
            <a:endParaRPr lang="en-US" sz="1200" dirty="0"/>
          </a:p>
        </p:txBody>
      </p:sp>
      <p:sp>
        <p:nvSpPr>
          <p:cNvPr id="34" name="Text 32"/>
          <p:cNvSpPr txBox="1"/>
          <p:nvPr/>
        </p:nvSpPr>
        <p:spPr>
          <a:xfrm>
            <a:off x="9214206" y="2953512"/>
            <a:ext cx="1159561" cy="365760"/>
          </a:xfrm>
          <a:prstGeom prst="rect">
            <a:avLst/>
          </a:prstGeom>
          <a:noFill/>
          <a:ln/>
        </p:spPr>
        <p:txBody>
          <a:bodyPr wrap="square" lIns="0" tIns="0" rIns="0" bIns="0" rtlCol="0" anchor="t"/>
          <a:lstStyle/>
          <a:p>
            <a:pPr marL="0" indent="0" algn="ctr">
              <a:buNone/>
            </a:pPr>
            <a:r>
              <a:rPr lang="en-US" sz="1250" dirty="0">
                <a:solidFill>
                  <a:srgbClr val="56667F"/>
                </a:solidFill>
              </a:rPr>
              <a:t>Admin</a:t>
            </a:r>
            <a:endParaRPr lang="en-US" sz="1250" dirty="0"/>
          </a:p>
        </p:txBody>
      </p:sp>
      <p:sp>
        <p:nvSpPr>
          <p:cNvPr id="35" name="Step 9"/>
          <p:cNvSpPr txBox="1"/>
          <p:nvPr/>
        </p:nvSpPr>
        <p:spPr>
          <a:xfrm>
            <a:off x="10798099" y="1783080"/>
            <a:ext cx="457200" cy="457200"/>
          </a:xfrm>
          <a:prstGeom prst="ellipse">
            <a:avLst/>
          </a:prstGeom>
          <a:solidFill>
            <a:srgbClr val="FFFFFF"/>
          </a:solidFill>
          <a:ln w="15875">
            <a:solidFill>
              <a:srgbClr val="9DB6D8"/>
            </a:solidFill>
          </a:ln>
        </p:spPr>
        <p:txBody>
          <a:bodyPr wrap="square" lIns="0" tIns="0" rIns="0" bIns="0" rtlCol="0" anchor="ctr"/>
          <a:lstStyle/>
          <a:p>
            <a:pPr marL="0" indent="0" algn="ctr">
              <a:buNone/>
            </a:pPr>
            <a:r>
              <a:rPr lang="en-US" dirty="0">
                <a:solidFill>
                  <a:srgbClr val="56667F"/>
                </a:solidFill>
                <a:latin typeface="Segoe UI Semibold"/>
              </a:rPr>
              <a:t>9</a:t>
            </a:r>
            <a:endParaRPr lang="en-US" dirty="0"/>
          </a:p>
        </p:txBody>
      </p:sp>
      <p:sp>
        <p:nvSpPr>
          <p:cNvPr id="36" name="Text 34"/>
          <p:cNvSpPr txBox="1"/>
          <p:nvPr/>
        </p:nvSpPr>
        <p:spPr>
          <a:xfrm>
            <a:off x="10446918" y="2496312"/>
            <a:ext cx="1159561" cy="457200"/>
          </a:xfrm>
          <a:prstGeom prst="rect">
            <a:avLst/>
          </a:prstGeom>
          <a:noFill/>
          <a:ln/>
        </p:spPr>
        <p:txBody>
          <a:bodyPr wrap="square" lIns="0" tIns="0" rIns="0" bIns="0" rtlCol="0" anchor="t"/>
          <a:lstStyle/>
          <a:p>
            <a:pPr marL="0" indent="0" algn="ctr">
              <a:buNone/>
            </a:pPr>
            <a:r>
              <a:rPr lang="en-US" sz="1200" dirty="0">
                <a:solidFill>
                  <a:srgbClr val="12315F"/>
                </a:solidFill>
                <a:latin typeface="Segoe UI Semibold"/>
              </a:rPr>
              <a:t>Report ready</a:t>
            </a:r>
            <a:endParaRPr lang="en-US" sz="1200" dirty="0"/>
          </a:p>
        </p:txBody>
      </p:sp>
      <p:sp>
        <p:nvSpPr>
          <p:cNvPr id="37" name="Text 35"/>
          <p:cNvSpPr txBox="1"/>
          <p:nvPr/>
        </p:nvSpPr>
        <p:spPr>
          <a:xfrm>
            <a:off x="10446918" y="2953512"/>
            <a:ext cx="1159561" cy="365760"/>
          </a:xfrm>
          <a:prstGeom prst="rect">
            <a:avLst/>
          </a:prstGeom>
          <a:noFill/>
          <a:ln/>
        </p:spPr>
        <p:txBody>
          <a:bodyPr wrap="square" lIns="0" tIns="0" rIns="0" bIns="0" rtlCol="0" anchor="t"/>
          <a:lstStyle/>
          <a:p>
            <a:pPr marL="0" indent="0" algn="ctr">
              <a:buNone/>
            </a:pPr>
            <a:r>
              <a:rPr lang="en-US" sz="1250" dirty="0">
                <a:solidFill>
                  <a:srgbClr val="56667F"/>
                </a:solidFill>
              </a:rPr>
              <a:t>Customer</a:t>
            </a:r>
            <a:endParaRPr lang="en-US" sz="1250" dirty="0"/>
          </a:p>
        </p:txBody>
      </p:sp>
      <p:sp>
        <p:nvSpPr>
          <p:cNvPr id="38" name="Card"/>
          <p:cNvSpPr/>
          <p:nvPr/>
        </p:nvSpPr>
        <p:spPr>
          <a:xfrm>
            <a:off x="548640" y="3931920"/>
            <a:ext cx="3520440" cy="2194560"/>
          </a:xfrm>
          <a:prstGeom prst="roundRect">
            <a:avLst>
              <a:gd name="adj" fmla="val 6667"/>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39" name="Pill: ADMIN"/>
          <p:cNvSpPr txBox="1"/>
          <p:nvPr/>
        </p:nvSpPr>
        <p:spPr>
          <a:xfrm>
            <a:off x="822960" y="4133088"/>
            <a:ext cx="1188720" cy="274320"/>
          </a:xfrm>
          <a:prstGeom prst="roundRect">
            <a:avLst>
              <a:gd name="adj" fmla="val 50000"/>
            </a:avLst>
          </a:prstGeom>
          <a:solidFill>
            <a:srgbClr val="E2ECFA"/>
          </a:solidFill>
          <a:ln w="6350">
            <a:solidFill>
              <a:srgbClr val="E2ECFA"/>
            </a:solidFill>
          </a:ln>
        </p:spPr>
        <p:txBody>
          <a:bodyPr wrap="square" lIns="0" tIns="0" rIns="0" bIns="0" rtlCol="0" anchor="ctr"/>
          <a:lstStyle/>
          <a:p>
            <a:pPr marL="0" indent="0" algn="ctr">
              <a:buNone/>
            </a:pPr>
            <a:r>
              <a:rPr lang="en-US" sz="1000" kern="0" spc="60" dirty="0">
                <a:solidFill>
                  <a:srgbClr val="1C4F9C"/>
                </a:solidFill>
                <a:latin typeface="Segoe UI Semibold"/>
              </a:rPr>
              <a:t>ADMIN</a:t>
            </a:r>
            <a:endParaRPr lang="en-US" sz="1000" dirty="0"/>
          </a:p>
        </p:txBody>
      </p:sp>
      <p:sp>
        <p:nvSpPr>
          <p:cNvPr id="40" name="Text 38"/>
          <p:cNvSpPr txBox="1"/>
          <p:nvPr/>
        </p:nvSpPr>
        <p:spPr>
          <a:xfrm>
            <a:off x="822960" y="4572000"/>
            <a:ext cx="3017520" cy="822960"/>
          </a:xfrm>
          <a:prstGeom prst="rect">
            <a:avLst/>
          </a:prstGeom>
          <a:noFill/>
          <a:ln/>
        </p:spPr>
        <p:txBody>
          <a:bodyPr wrap="square" lIns="0" tIns="0" rIns="0" bIns="0" rtlCol="0" anchor="t"/>
          <a:lstStyle/>
          <a:p>
            <a:pPr marL="0" indent="0">
              <a:buNone/>
            </a:pPr>
            <a:r>
              <a:rPr lang="en-US" sz="1500" dirty="0">
                <a:solidFill>
                  <a:srgbClr val="14804A"/>
                </a:solidFill>
                <a:latin typeface="Segoe UI Semibold"/>
              </a:rPr>
              <a:t>Can: </a:t>
            </a:r>
            <a:r>
              <a:rPr lang="en-US" sz="1500" dirty="0">
                <a:solidFill>
                  <a:srgbClr val="14233C"/>
                </a:solidFill>
              </a:rPr>
              <a:t>Assigns tests, approves, generates, signs off, answers tickets</a:t>
            </a:r>
            <a:endParaRPr lang="en-US" sz="1500" dirty="0"/>
          </a:p>
        </p:txBody>
      </p:sp>
      <p:sp>
        <p:nvSpPr>
          <p:cNvPr id="41" name="Text 39"/>
          <p:cNvSpPr txBox="1"/>
          <p:nvPr/>
        </p:nvSpPr>
        <p:spPr>
          <a:xfrm>
            <a:off x="822960" y="5349240"/>
            <a:ext cx="3017520" cy="685800"/>
          </a:xfrm>
          <a:prstGeom prst="rect">
            <a:avLst/>
          </a:prstGeom>
          <a:noFill/>
          <a:ln/>
        </p:spPr>
        <p:txBody>
          <a:bodyPr wrap="square" lIns="0" tIns="0" rIns="0" bIns="0" rtlCol="0" anchor="t"/>
          <a:lstStyle/>
          <a:p>
            <a:pPr marL="0" indent="0">
              <a:buNone/>
            </a:pPr>
            <a:r>
              <a:rPr lang="en-US" sz="1500" dirty="0">
                <a:solidFill>
                  <a:srgbClr val="C62828"/>
                </a:solidFill>
                <a:latin typeface="Segoe UI Semibold"/>
              </a:rPr>
              <a:t>Cannot: </a:t>
            </a:r>
            <a:r>
              <a:rPr lang="en-US" sz="1500" dirty="0">
                <a:solidFill>
                  <a:srgbClr val="14233C"/>
                </a:solidFill>
              </a:rPr>
              <a:t>Enter, check or verify data</a:t>
            </a:r>
            <a:endParaRPr lang="en-US" sz="1500" dirty="0"/>
          </a:p>
        </p:txBody>
      </p:sp>
      <p:sp>
        <p:nvSpPr>
          <p:cNvPr id="42" name="Card"/>
          <p:cNvSpPr/>
          <p:nvPr/>
        </p:nvSpPr>
        <p:spPr>
          <a:xfrm>
            <a:off x="4334256" y="3931920"/>
            <a:ext cx="3520440" cy="2194560"/>
          </a:xfrm>
          <a:prstGeom prst="roundRect">
            <a:avLst>
              <a:gd name="adj" fmla="val 6667"/>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43" name="Pill: TESTER"/>
          <p:cNvSpPr txBox="1"/>
          <p:nvPr/>
        </p:nvSpPr>
        <p:spPr>
          <a:xfrm>
            <a:off x="4608576" y="4133088"/>
            <a:ext cx="1188720" cy="274320"/>
          </a:xfrm>
          <a:prstGeom prst="roundRect">
            <a:avLst>
              <a:gd name="adj" fmla="val 50000"/>
            </a:avLst>
          </a:prstGeom>
          <a:solidFill>
            <a:srgbClr val="E2ECFA"/>
          </a:solidFill>
          <a:ln w="6350">
            <a:solidFill>
              <a:srgbClr val="E2ECFA"/>
            </a:solidFill>
          </a:ln>
        </p:spPr>
        <p:txBody>
          <a:bodyPr wrap="square" lIns="0" tIns="0" rIns="0" bIns="0" rtlCol="0" anchor="ctr"/>
          <a:lstStyle/>
          <a:p>
            <a:pPr marL="0" indent="0" algn="ctr">
              <a:buNone/>
            </a:pPr>
            <a:r>
              <a:rPr lang="en-US" sz="1000" kern="0" spc="60" dirty="0">
                <a:solidFill>
                  <a:srgbClr val="1C4F9C"/>
                </a:solidFill>
                <a:latin typeface="Segoe UI Semibold"/>
              </a:rPr>
              <a:t>TESTER</a:t>
            </a:r>
            <a:endParaRPr lang="en-US" sz="1000" dirty="0"/>
          </a:p>
        </p:txBody>
      </p:sp>
      <p:sp>
        <p:nvSpPr>
          <p:cNvPr id="44" name="Text 42"/>
          <p:cNvSpPr txBox="1"/>
          <p:nvPr/>
        </p:nvSpPr>
        <p:spPr>
          <a:xfrm>
            <a:off x="4608576" y="4572000"/>
            <a:ext cx="3017520" cy="822960"/>
          </a:xfrm>
          <a:prstGeom prst="rect">
            <a:avLst/>
          </a:prstGeom>
          <a:noFill/>
          <a:ln/>
        </p:spPr>
        <p:txBody>
          <a:bodyPr wrap="square" lIns="0" tIns="0" rIns="0" bIns="0" rtlCol="0" anchor="t"/>
          <a:lstStyle/>
          <a:p>
            <a:pPr marL="0" indent="0">
              <a:buNone/>
            </a:pPr>
            <a:r>
              <a:rPr lang="en-US" sz="1500" dirty="0">
                <a:solidFill>
                  <a:srgbClr val="14804A"/>
                </a:solidFill>
                <a:latin typeface="Segoe UI Semibold"/>
              </a:rPr>
              <a:t>Can: </a:t>
            </a:r>
            <a:r>
              <a:rPr lang="en-US" sz="1500" dirty="0">
                <a:solidFill>
                  <a:srgbClr val="14233C"/>
                </a:solidFill>
              </a:rPr>
              <a:t>Accepts requests, uploads, runs checks, verifies tests</a:t>
            </a:r>
            <a:endParaRPr lang="en-US" sz="1500" dirty="0"/>
          </a:p>
        </p:txBody>
      </p:sp>
      <p:sp>
        <p:nvSpPr>
          <p:cNvPr id="45" name="Text 43"/>
          <p:cNvSpPr txBox="1"/>
          <p:nvPr/>
        </p:nvSpPr>
        <p:spPr>
          <a:xfrm>
            <a:off x="4608576" y="5349240"/>
            <a:ext cx="3017520" cy="685800"/>
          </a:xfrm>
          <a:prstGeom prst="rect">
            <a:avLst/>
          </a:prstGeom>
          <a:noFill/>
          <a:ln/>
        </p:spPr>
        <p:txBody>
          <a:bodyPr wrap="square" lIns="0" tIns="0" rIns="0" bIns="0" rtlCol="0" anchor="t"/>
          <a:lstStyle/>
          <a:p>
            <a:pPr marL="0" indent="0">
              <a:buNone/>
            </a:pPr>
            <a:r>
              <a:rPr lang="en-US" sz="1500" dirty="0">
                <a:solidFill>
                  <a:srgbClr val="C62828"/>
                </a:solidFill>
                <a:latin typeface="Segoe UI Semibold"/>
              </a:rPr>
              <a:t>Cannot: </a:t>
            </a:r>
            <a:r>
              <a:rPr lang="en-US" sz="1500" dirty="0">
                <a:solidFill>
                  <a:srgbClr val="14233C"/>
                </a:solidFill>
              </a:rPr>
              <a:t>Approve, generate or sign off</a:t>
            </a:r>
            <a:endParaRPr lang="en-US" sz="1500" dirty="0"/>
          </a:p>
        </p:txBody>
      </p:sp>
      <p:sp>
        <p:nvSpPr>
          <p:cNvPr id="46" name="Card"/>
          <p:cNvSpPr/>
          <p:nvPr/>
        </p:nvSpPr>
        <p:spPr>
          <a:xfrm>
            <a:off x="8119872" y="3931920"/>
            <a:ext cx="3520440" cy="2194560"/>
          </a:xfrm>
          <a:prstGeom prst="roundRect">
            <a:avLst>
              <a:gd name="adj" fmla="val 6667"/>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47" name="Pill: CUSTOMER"/>
          <p:cNvSpPr txBox="1"/>
          <p:nvPr/>
        </p:nvSpPr>
        <p:spPr>
          <a:xfrm>
            <a:off x="8394192" y="4133088"/>
            <a:ext cx="1188720" cy="274320"/>
          </a:xfrm>
          <a:prstGeom prst="roundRect">
            <a:avLst>
              <a:gd name="adj" fmla="val 50000"/>
            </a:avLst>
          </a:prstGeom>
          <a:solidFill>
            <a:srgbClr val="E2ECFA"/>
          </a:solidFill>
          <a:ln w="6350">
            <a:solidFill>
              <a:srgbClr val="E2ECFA"/>
            </a:solidFill>
          </a:ln>
        </p:spPr>
        <p:txBody>
          <a:bodyPr wrap="square" lIns="0" tIns="0" rIns="0" bIns="0" rtlCol="0" anchor="ctr"/>
          <a:lstStyle/>
          <a:p>
            <a:pPr marL="0" indent="0" algn="ctr">
              <a:buNone/>
            </a:pPr>
            <a:r>
              <a:rPr lang="en-US" sz="1000" kern="0" spc="60" dirty="0">
                <a:solidFill>
                  <a:srgbClr val="1C4F9C"/>
                </a:solidFill>
                <a:latin typeface="Segoe UI Semibold"/>
              </a:rPr>
              <a:t>CUSTOMER</a:t>
            </a:r>
            <a:endParaRPr lang="en-US" sz="1000" dirty="0"/>
          </a:p>
        </p:txBody>
      </p:sp>
      <p:sp>
        <p:nvSpPr>
          <p:cNvPr id="48" name="Text 46"/>
          <p:cNvSpPr txBox="1"/>
          <p:nvPr/>
        </p:nvSpPr>
        <p:spPr>
          <a:xfrm>
            <a:off x="8394192" y="4572000"/>
            <a:ext cx="3017520" cy="822960"/>
          </a:xfrm>
          <a:prstGeom prst="rect">
            <a:avLst/>
          </a:prstGeom>
          <a:noFill/>
          <a:ln/>
        </p:spPr>
        <p:txBody>
          <a:bodyPr wrap="square" lIns="0" tIns="0" rIns="0" bIns="0" rtlCol="0" anchor="t"/>
          <a:lstStyle/>
          <a:p>
            <a:pPr marL="0" indent="0">
              <a:buNone/>
            </a:pPr>
            <a:r>
              <a:rPr lang="en-US" sz="1500" dirty="0">
                <a:solidFill>
                  <a:srgbClr val="14804A"/>
                </a:solidFill>
                <a:latin typeface="Segoe UI Semibold"/>
              </a:rPr>
              <a:t>Can: </a:t>
            </a:r>
            <a:r>
              <a:rPr lang="en-US" sz="1500" dirty="0">
                <a:solidFill>
                  <a:srgbClr val="14233C"/>
                </a:solidFill>
              </a:rPr>
              <a:t>Raises requests and tickets, follows own jobs</a:t>
            </a:r>
            <a:endParaRPr lang="en-US" sz="1500" dirty="0"/>
          </a:p>
        </p:txBody>
      </p:sp>
      <p:sp>
        <p:nvSpPr>
          <p:cNvPr id="49" name="Text 47"/>
          <p:cNvSpPr txBox="1"/>
          <p:nvPr/>
        </p:nvSpPr>
        <p:spPr>
          <a:xfrm>
            <a:off x="8394192" y="5349240"/>
            <a:ext cx="3017520" cy="685800"/>
          </a:xfrm>
          <a:prstGeom prst="rect">
            <a:avLst/>
          </a:prstGeom>
          <a:noFill/>
          <a:ln/>
        </p:spPr>
        <p:txBody>
          <a:bodyPr wrap="square" lIns="0" tIns="0" rIns="0" bIns="0" rtlCol="0" anchor="t"/>
          <a:lstStyle/>
          <a:p>
            <a:pPr marL="0" indent="0">
              <a:buNone/>
            </a:pPr>
            <a:r>
              <a:rPr lang="en-US" sz="1500" dirty="0">
                <a:solidFill>
                  <a:srgbClr val="C62828"/>
                </a:solidFill>
                <a:latin typeface="Segoe UI Semibold"/>
              </a:rPr>
              <a:t>Cannot: </a:t>
            </a:r>
            <a:r>
              <a:rPr lang="en-US" sz="1500" dirty="0">
                <a:solidFill>
                  <a:srgbClr val="14233C"/>
                </a:solidFill>
              </a:rPr>
              <a:t>See other customers' jobs or unapproved values</a:t>
            </a:r>
            <a:endParaRPr lang="en-US" sz="1500" dirty="0"/>
          </a:p>
        </p:txBody>
      </p:sp>
      <p:sp>
        <p:nvSpPr>
          <p:cNvPr id="2"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6667F"/>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503920" cy="1005840"/>
          </a:xfrm>
          <a:prstGeom prst="rect">
            <a:avLst/>
          </a:prstGeom>
          <a:noFill/>
          <a:ln/>
        </p:spPr>
        <p:txBody>
          <a:bodyPr wrap="square" lIns="0" tIns="0" rIns="0" bIns="0" rtlCol="0" anchor="t"/>
          <a:lstStyle/>
          <a:p>
            <a:pPr marL="0" indent="0" algn="l">
              <a:buNone/>
            </a:pPr>
            <a:r>
              <a:rPr lang="en-US" sz="2800" spc="-20" dirty="0">
                <a:solidFill>
                  <a:schemeClr val="tx2"/>
                </a:solidFill>
                <a:latin typeface="Segoe UI Semibold"/>
              </a:rPr>
              <a:t>Testers upload logsheets once and see every value beside its source cell</a:t>
            </a:r>
            <a:endParaRPr lang="en-US" sz="2800" dirty="0"/>
          </a:p>
        </p:txBody>
      </p:sp>
      <p:sp>
        <p:nvSpPr>
          <p:cNvPr id="3" name="Text 1"/>
          <p:cNvSpPr txBox="1"/>
          <p:nvPr/>
        </p:nvSpPr>
        <p:spPr>
          <a:xfrm>
            <a:off x="9082735" y="841248"/>
            <a:ext cx="2560320" cy="228600"/>
          </a:xfrm>
          <a:prstGeom prst="rect">
            <a:avLst/>
          </a:prstGeom>
          <a:noFill/>
          <a:ln/>
        </p:spPr>
        <p:txBody>
          <a:bodyPr wrap="square" lIns="0" tIns="0" rIns="0" bIns="0" rtlCol="0" anchor="t"/>
          <a:lstStyle/>
          <a:p>
            <a:pPr marL="0" indent="0" algn="r">
              <a:buNone/>
            </a:pPr>
            <a:r>
              <a:rPr lang="en-US" sz="1050" dirty="0">
                <a:solidFill>
                  <a:srgbClr val="56667F"/>
                </a:solidFill>
              </a:rPr>
              <a:t>Objective 2: Fewer errors</a:t>
            </a:r>
            <a:endParaRPr lang="en-US" sz="1050" dirty="0"/>
          </a:p>
        </p:txBody>
      </p:sp>
      <p:sp>
        <p:nvSpPr>
          <p:cNvPr id="4" name="Pill: IMPROVED EFFICIENCY"/>
          <p:cNvSpPr txBox="1"/>
          <p:nvPr/>
        </p:nvSpPr>
        <p:spPr>
          <a:xfrm>
            <a:off x="9240012" y="457200"/>
            <a:ext cx="2403043" cy="329184"/>
          </a:xfrm>
          <a:prstGeom prst="roundRect">
            <a:avLst>
              <a:gd name="adj" fmla="val 50000"/>
            </a:avLst>
          </a:prstGeom>
          <a:solidFill>
            <a:srgbClr val="E2ECFA"/>
          </a:solidFill>
          <a:ln w="6350">
            <a:solidFill>
              <a:srgbClr val="E2ECFA"/>
            </a:solidFill>
          </a:ln>
        </p:spPr>
        <p:txBody>
          <a:bodyPr wrap="square" lIns="0" tIns="0" rIns="0" bIns="0" rtlCol="0" anchor="ctr"/>
          <a:lstStyle/>
          <a:p>
            <a:pPr marL="0" indent="0" algn="ctr">
              <a:buNone/>
            </a:pPr>
            <a:r>
              <a:rPr lang="en-US" sz="1100" kern="0" spc="60" dirty="0">
                <a:solidFill>
                  <a:srgbClr val="1C4F9C"/>
                </a:solidFill>
                <a:latin typeface="Segoe UI Semibold"/>
              </a:rPr>
              <a:t>IMPROVED EFFICIENCY</a:t>
            </a:r>
            <a:endParaRPr lang="en-US" sz="1100" dirty="0"/>
          </a:p>
        </p:txBody>
      </p:sp>
      <p:sp>
        <p:nvSpPr>
          <p:cNvPr id="5" name="Card"/>
          <p:cNvSpPr/>
          <p:nvPr/>
        </p:nvSpPr>
        <p:spPr>
          <a:xfrm>
            <a:off x="548640" y="1691640"/>
            <a:ext cx="4114800" cy="1335024"/>
          </a:xfrm>
          <a:prstGeom prst="roundRect">
            <a:avLst>
              <a:gd name="adj" fmla="val 9589"/>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pic>
        <p:nvPicPr>
          <p:cNvPr id="6" name="Image 0" descr="Icon: upload"/>
          <p:cNvPicPr>
            <a:picLocks noChangeAspect="1"/>
          </p:cNvPicPr>
          <p:nvPr/>
        </p:nvPicPr>
        <p:blipFill>
          <a:blip r:embed="rId3"/>
          <a:stretch>
            <a:fillRect/>
          </a:stretch>
        </p:blipFill>
        <p:spPr>
          <a:xfrm>
            <a:off x="777240" y="1965960"/>
            <a:ext cx="594360" cy="594360"/>
          </a:xfrm>
          <a:prstGeom prst="rect">
            <a:avLst/>
          </a:prstGeom>
        </p:spPr>
      </p:pic>
      <p:sp>
        <p:nvSpPr>
          <p:cNvPr id="7" name="Text 4"/>
          <p:cNvSpPr txBox="1"/>
          <p:nvPr/>
        </p:nvSpPr>
        <p:spPr>
          <a:xfrm>
            <a:off x="1554480" y="1874520"/>
            <a:ext cx="2971800" cy="274320"/>
          </a:xfrm>
          <a:prstGeom prst="rect">
            <a:avLst/>
          </a:prstGeom>
          <a:noFill/>
          <a:ln/>
        </p:spPr>
        <p:txBody>
          <a:bodyPr wrap="square" lIns="0" tIns="0" rIns="0" bIns="0" rtlCol="0" anchor="t"/>
          <a:lstStyle/>
          <a:p>
            <a:pPr marL="0" indent="0">
              <a:buNone/>
            </a:pPr>
            <a:r>
              <a:rPr lang="en-US" sz="1650" dirty="0">
                <a:solidFill>
                  <a:srgbClr val="12315F"/>
                </a:solidFill>
                <a:latin typeface="Segoe UI Semibold"/>
              </a:rPr>
              <a:t>Upload Excel or CSV once</a:t>
            </a:r>
            <a:endParaRPr lang="en-US" sz="1650" dirty="0"/>
          </a:p>
        </p:txBody>
      </p:sp>
      <p:sp>
        <p:nvSpPr>
          <p:cNvPr id="8" name="Text 5"/>
          <p:cNvSpPr txBox="1"/>
          <p:nvPr/>
        </p:nvSpPr>
        <p:spPr>
          <a:xfrm>
            <a:off x="1554480" y="2194560"/>
            <a:ext cx="2971800" cy="777240"/>
          </a:xfrm>
          <a:prstGeom prst="rect">
            <a:avLst/>
          </a:prstGeom>
          <a:noFill/>
          <a:ln/>
        </p:spPr>
        <p:txBody>
          <a:bodyPr wrap="square" lIns="0" tIns="0" rIns="0" bIns="0" rtlCol="0" anchor="t"/>
          <a:lstStyle/>
          <a:p>
            <a:pPr marL="0" indent="0">
              <a:buNone/>
            </a:pPr>
            <a:r>
              <a:rPr lang="en-US" sz="1350" dirty="0">
                <a:solidFill>
                  <a:srgbClr val="14233C"/>
                </a:solidFill>
              </a:rPr>
              <a:t>The preview shows each value next to its source cell.</a:t>
            </a:r>
            <a:endParaRPr lang="en-US" sz="1350" dirty="0"/>
          </a:p>
        </p:txBody>
      </p:sp>
      <p:sp>
        <p:nvSpPr>
          <p:cNvPr id="9" name="Card"/>
          <p:cNvSpPr/>
          <p:nvPr/>
        </p:nvSpPr>
        <p:spPr>
          <a:xfrm>
            <a:off x="548640" y="3172968"/>
            <a:ext cx="4114800" cy="1335024"/>
          </a:xfrm>
          <a:prstGeom prst="roundRect">
            <a:avLst>
              <a:gd name="adj" fmla="val 9589"/>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pic>
        <p:nvPicPr>
          <p:cNvPr id="10" name="Image 1" descr="Icon: lock"/>
          <p:cNvPicPr>
            <a:picLocks noChangeAspect="1"/>
          </p:cNvPicPr>
          <p:nvPr/>
        </p:nvPicPr>
        <p:blipFill>
          <a:blip r:embed="rId4"/>
          <a:stretch>
            <a:fillRect/>
          </a:stretch>
        </p:blipFill>
        <p:spPr>
          <a:xfrm>
            <a:off x="777240" y="3447288"/>
            <a:ext cx="594360" cy="594360"/>
          </a:xfrm>
          <a:prstGeom prst="rect">
            <a:avLst/>
          </a:prstGeom>
        </p:spPr>
      </p:pic>
      <p:sp>
        <p:nvSpPr>
          <p:cNvPr id="11" name="Text 7"/>
          <p:cNvSpPr txBox="1"/>
          <p:nvPr/>
        </p:nvSpPr>
        <p:spPr>
          <a:xfrm>
            <a:off x="1554480" y="3355848"/>
            <a:ext cx="2971800" cy="274320"/>
          </a:xfrm>
          <a:prstGeom prst="rect">
            <a:avLst/>
          </a:prstGeom>
          <a:noFill/>
          <a:ln/>
        </p:spPr>
        <p:txBody>
          <a:bodyPr wrap="square" lIns="0" tIns="0" rIns="0" bIns="0" rtlCol="0" anchor="t"/>
          <a:lstStyle/>
          <a:p>
            <a:pPr marL="0" indent="0">
              <a:buNone/>
            </a:pPr>
            <a:r>
              <a:rPr lang="en-US" sz="1650" dirty="0">
                <a:solidFill>
                  <a:srgbClr val="12315F"/>
                </a:solidFill>
                <a:latin typeface="Segoe UI Semibold"/>
              </a:rPr>
              <a:t>Missing cells block the upload</a:t>
            </a:r>
            <a:endParaRPr lang="en-US" sz="1650" dirty="0"/>
          </a:p>
        </p:txBody>
      </p:sp>
      <p:sp>
        <p:nvSpPr>
          <p:cNvPr id="12" name="Text 8"/>
          <p:cNvSpPr txBox="1"/>
          <p:nvPr/>
        </p:nvSpPr>
        <p:spPr>
          <a:xfrm>
            <a:off x="1554480" y="3675888"/>
            <a:ext cx="2971800" cy="777240"/>
          </a:xfrm>
          <a:prstGeom prst="rect">
            <a:avLst/>
          </a:prstGeom>
          <a:noFill/>
          <a:ln/>
        </p:spPr>
        <p:txBody>
          <a:bodyPr wrap="square" lIns="0" tIns="0" rIns="0" bIns="0" rtlCol="0" anchor="t"/>
          <a:lstStyle/>
          <a:p>
            <a:pPr marL="0" indent="0">
              <a:buNone/>
            </a:pPr>
            <a:r>
              <a:rPr lang="en-US" sz="1350" dirty="0">
                <a:solidFill>
                  <a:srgbClr val="14233C"/>
                </a:solidFill>
              </a:rPr>
              <a:t>Required empty cells are never stored as NA. Formulas must be recalculated.</a:t>
            </a:r>
            <a:endParaRPr lang="en-US" sz="1350" dirty="0"/>
          </a:p>
        </p:txBody>
      </p:sp>
      <p:sp>
        <p:nvSpPr>
          <p:cNvPr id="13" name="Card"/>
          <p:cNvSpPr/>
          <p:nvPr/>
        </p:nvSpPr>
        <p:spPr>
          <a:xfrm>
            <a:off x="548640" y="4654296"/>
            <a:ext cx="4114800" cy="1335024"/>
          </a:xfrm>
          <a:prstGeom prst="roundRect">
            <a:avLst>
              <a:gd name="adj" fmla="val 9589"/>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pic>
        <p:nvPicPr>
          <p:cNvPr id="14" name="Image 2" descr="Icon: check"/>
          <p:cNvPicPr>
            <a:picLocks noChangeAspect="1"/>
          </p:cNvPicPr>
          <p:nvPr/>
        </p:nvPicPr>
        <p:blipFill>
          <a:blip r:embed="rId5"/>
          <a:stretch>
            <a:fillRect/>
          </a:stretch>
        </p:blipFill>
        <p:spPr>
          <a:xfrm>
            <a:off x="777240" y="4928616"/>
            <a:ext cx="594360" cy="594360"/>
          </a:xfrm>
          <a:prstGeom prst="rect">
            <a:avLst/>
          </a:prstGeom>
        </p:spPr>
      </p:pic>
      <p:sp>
        <p:nvSpPr>
          <p:cNvPr id="15" name="Text 10"/>
          <p:cNvSpPr txBox="1"/>
          <p:nvPr/>
        </p:nvSpPr>
        <p:spPr>
          <a:xfrm>
            <a:off x="1554480" y="4837176"/>
            <a:ext cx="2971800" cy="274320"/>
          </a:xfrm>
          <a:prstGeom prst="rect">
            <a:avLst/>
          </a:prstGeom>
          <a:noFill/>
          <a:ln/>
        </p:spPr>
        <p:txBody>
          <a:bodyPr wrap="square" lIns="0" tIns="0" rIns="0" bIns="0" rtlCol="0" anchor="t"/>
          <a:lstStyle/>
          <a:p>
            <a:pPr marL="0" indent="0">
              <a:buNone/>
            </a:pPr>
            <a:r>
              <a:rPr lang="en-US" sz="1650" dirty="0">
                <a:solidFill>
                  <a:srgbClr val="12315F"/>
                </a:solidFill>
                <a:latin typeface="Segoe UI Semibold"/>
              </a:rPr>
              <a:t>Checks before sign-off</a:t>
            </a:r>
            <a:endParaRPr lang="en-US" sz="1650" dirty="0"/>
          </a:p>
        </p:txBody>
      </p:sp>
      <p:sp>
        <p:nvSpPr>
          <p:cNvPr id="16" name="Text 11"/>
          <p:cNvSpPr txBox="1"/>
          <p:nvPr/>
        </p:nvSpPr>
        <p:spPr>
          <a:xfrm>
            <a:off x="1554480" y="5157216"/>
            <a:ext cx="2971800" cy="777240"/>
          </a:xfrm>
          <a:prstGeom prst="rect">
            <a:avLst/>
          </a:prstGeom>
          <a:noFill/>
          <a:ln/>
        </p:spPr>
        <p:txBody>
          <a:bodyPr wrap="square" lIns="0" tIns="0" rIns="0" bIns="0" rtlCol="0" anchor="t"/>
          <a:lstStyle/>
          <a:p>
            <a:pPr marL="0" indent="0">
              <a:buNone/>
            </a:pPr>
            <a:r>
              <a:rPr lang="en-US" sz="1350" dirty="0">
                <a:solidFill>
                  <a:srgbClr val="14233C"/>
                </a:solidFill>
              </a:rPr>
              <a:t>Automatic checks against standard limits flag problems.</a:t>
            </a:r>
            <a:endParaRPr lang="en-US" sz="1350" dirty="0"/>
          </a:p>
        </p:txBody>
      </p:sp>
      <p:pic>
        <p:nvPicPr>
          <p:cNvPr id="1702" name="Screenshot: Upload preview with source cells" descr="Screenshot of the Aletheia prototype: Upload preview with source cells"/>
          <p:cNvPicPr>
            <a:picLocks noChangeAspect="1"/>
          </p:cNvPicPr>
          <p:nvPr/>
        </p:nvPicPr>
        <p:blipFill>
          <a:blip r:embed="rId6"/>
          <a:stretch>
            <a:fillRect/>
          </a:stretch>
        </p:blipFill>
        <p:spPr>
          <a:xfrm>
            <a:off x="5461128" y="1764792"/>
            <a:ext cx="5704279" cy="2093976"/>
          </a:xfrm>
          <a:prstGeom prst="rect">
            <a:avLst/>
          </a:prstGeom>
          <a:ln w="12700">
            <a:solidFill>
              <a:srgbClr val="9DB6D8"/>
            </a:solidFill>
          </a:ln>
        </p:spPr>
      </p:pic>
      <p:sp>
        <p:nvSpPr>
          <p:cNvPr id="19" name="Documents card"/>
          <p:cNvSpPr/>
          <p:nvPr/>
        </p:nvSpPr>
        <p:spPr>
          <a:xfrm>
            <a:off x="4983480" y="4114800"/>
            <a:ext cx="6659575" cy="2011680"/>
          </a:xfrm>
          <a:prstGeom prst="roundRect">
            <a:avLst>
              <a:gd name="adj" fmla="val 7273"/>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20" name="Text 15"/>
          <p:cNvSpPr txBox="1"/>
          <p:nvPr/>
        </p:nvSpPr>
        <p:spPr>
          <a:xfrm>
            <a:off x="5257800" y="4251960"/>
            <a:ext cx="4572000" cy="274320"/>
          </a:xfrm>
          <a:prstGeom prst="rect">
            <a:avLst/>
          </a:prstGeom>
          <a:noFill/>
          <a:ln/>
        </p:spPr>
        <p:txBody>
          <a:bodyPr wrap="square" lIns="0" tIns="0" rIns="0" bIns="0" rtlCol="0" anchor="t"/>
          <a:lstStyle/>
          <a:p>
            <a:pPr marL="0" indent="0">
              <a:buNone/>
            </a:pPr>
            <a:r>
              <a:rPr lang="en-US" dirty="0">
                <a:solidFill>
                  <a:srgbClr val="12315F"/>
                </a:solidFill>
                <a:latin typeface="Segoe UI Semibold"/>
              </a:rPr>
              <a:t>All 10 documents are covered</a:t>
            </a:r>
            <a:endParaRPr lang="en-US" dirty="0"/>
          </a:p>
        </p:txBody>
      </p:sp>
      <p:sp>
        <p:nvSpPr>
          <p:cNvPr id="21" name="Text 16"/>
          <p:cNvSpPr txBox="1"/>
          <p:nvPr/>
        </p:nvSpPr>
        <p:spPr>
          <a:xfrm>
            <a:off x="5257800" y="4617720"/>
            <a:ext cx="3154680" cy="274320"/>
          </a:xfrm>
          <a:prstGeom prst="rect">
            <a:avLst/>
          </a:prstGeom>
          <a:noFill/>
          <a:ln/>
        </p:spPr>
        <p:txBody>
          <a:bodyPr wrap="square" lIns="0" tIns="0" rIns="0" bIns="0" rtlCol="0" anchor="t"/>
          <a:lstStyle/>
          <a:p>
            <a:pPr marL="0" indent="0">
              <a:buNone/>
            </a:pPr>
            <a:r>
              <a:rPr lang="en-US" sz="1300" dirty="0">
                <a:solidFill>
                  <a:srgbClr val="14233C"/>
                </a:solidFill>
              </a:rPr>
              <a:t>1  Customer Request Form</a:t>
            </a:r>
            <a:endParaRPr lang="en-US" sz="1300" dirty="0"/>
          </a:p>
        </p:txBody>
      </p:sp>
      <p:sp>
        <p:nvSpPr>
          <p:cNvPr id="22" name="Text 17"/>
          <p:cNvSpPr txBox="1"/>
          <p:nvPr/>
        </p:nvSpPr>
        <p:spPr>
          <a:xfrm>
            <a:off x="5257800" y="4910328"/>
            <a:ext cx="3154680" cy="274320"/>
          </a:xfrm>
          <a:prstGeom prst="rect">
            <a:avLst/>
          </a:prstGeom>
          <a:noFill/>
          <a:ln/>
        </p:spPr>
        <p:txBody>
          <a:bodyPr wrap="square" lIns="0" tIns="0" rIns="0" bIns="0" rtlCol="0" anchor="t"/>
          <a:lstStyle/>
          <a:p>
            <a:pPr marL="0" indent="0">
              <a:buNone/>
            </a:pPr>
            <a:r>
              <a:rPr lang="en-US" sz="1300" dirty="0">
                <a:solidFill>
                  <a:srgbClr val="14233C"/>
                </a:solidFill>
              </a:rPr>
              <a:t>2  Proforma for Transformers</a:t>
            </a:r>
            <a:endParaRPr lang="en-US" sz="1300" dirty="0"/>
          </a:p>
        </p:txBody>
      </p:sp>
      <p:sp>
        <p:nvSpPr>
          <p:cNvPr id="23" name="Text 18"/>
          <p:cNvSpPr txBox="1"/>
          <p:nvPr/>
        </p:nvSpPr>
        <p:spPr>
          <a:xfrm>
            <a:off x="5257800" y="5202936"/>
            <a:ext cx="3154680" cy="274320"/>
          </a:xfrm>
          <a:prstGeom prst="rect">
            <a:avLst/>
          </a:prstGeom>
          <a:noFill/>
          <a:ln/>
        </p:spPr>
        <p:txBody>
          <a:bodyPr wrap="square" lIns="0" tIns="0" rIns="0" bIns="0" rtlCol="0" anchor="t"/>
          <a:lstStyle/>
          <a:p>
            <a:pPr marL="0" indent="0">
              <a:buNone/>
            </a:pPr>
            <a:r>
              <a:rPr lang="en-US" sz="1300" dirty="0">
                <a:solidFill>
                  <a:srgbClr val="14233C"/>
                </a:solidFill>
              </a:rPr>
              <a:t>3  Work Instruction</a:t>
            </a:r>
            <a:endParaRPr lang="en-US" sz="1300" dirty="0"/>
          </a:p>
        </p:txBody>
      </p:sp>
      <p:sp>
        <p:nvSpPr>
          <p:cNvPr id="24" name="Text 19"/>
          <p:cNvSpPr txBox="1"/>
          <p:nvPr/>
        </p:nvSpPr>
        <p:spPr>
          <a:xfrm>
            <a:off x="5257800" y="5495544"/>
            <a:ext cx="3154680" cy="274320"/>
          </a:xfrm>
          <a:prstGeom prst="rect">
            <a:avLst/>
          </a:prstGeom>
          <a:noFill/>
          <a:ln/>
        </p:spPr>
        <p:txBody>
          <a:bodyPr wrap="square" lIns="0" tIns="0" rIns="0" bIns="0" rtlCol="0" anchor="t"/>
          <a:lstStyle/>
          <a:p>
            <a:pPr marL="0" indent="0">
              <a:buNone/>
            </a:pPr>
            <a:r>
              <a:rPr lang="en-US" sz="1300" dirty="0">
                <a:solidFill>
                  <a:srgbClr val="14233C"/>
                </a:solidFill>
              </a:rPr>
              <a:t>4  Loss Measurement Datasheet</a:t>
            </a:r>
            <a:endParaRPr lang="en-US" sz="1300" dirty="0"/>
          </a:p>
        </p:txBody>
      </p:sp>
      <p:sp>
        <p:nvSpPr>
          <p:cNvPr id="25" name="Text 20"/>
          <p:cNvSpPr txBox="1"/>
          <p:nvPr/>
        </p:nvSpPr>
        <p:spPr>
          <a:xfrm>
            <a:off x="5257800" y="5788152"/>
            <a:ext cx="3154680" cy="274320"/>
          </a:xfrm>
          <a:prstGeom prst="rect">
            <a:avLst/>
          </a:prstGeom>
          <a:noFill/>
          <a:ln/>
        </p:spPr>
        <p:txBody>
          <a:bodyPr wrap="square" lIns="0" tIns="0" rIns="0" bIns="0" rtlCol="0" anchor="t"/>
          <a:lstStyle/>
          <a:p>
            <a:pPr marL="0" indent="0">
              <a:buNone/>
            </a:pPr>
            <a:r>
              <a:rPr lang="en-US" sz="1300" dirty="0">
                <a:solidFill>
                  <a:srgbClr val="14233C"/>
                </a:solidFill>
              </a:rPr>
              <a:t>5  Winding Resistance and Loss Logsheet</a:t>
            </a:r>
            <a:endParaRPr lang="en-US" sz="1300" dirty="0"/>
          </a:p>
        </p:txBody>
      </p:sp>
      <p:sp>
        <p:nvSpPr>
          <p:cNvPr id="26" name="Text 21"/>
          <p:cNvSpPr txBox="1"/>
          <p:nvPr/>
        </p:nvSpPr>
        <p:spPr>
          <a:xfrm>
            <a:off x="8458200" y="4617720"/>
            <a:ext cx="3154680" cy="274320"/>
          </a:xfrm>
          <a:prstGeom prst="rect">
            <a:avLst/>
          </a:prstGeom>
          <a:noFill/>
          <a:ln/>
        </p:spPr>
        <p:txBody>
          <a:bodyPr wrap="square" lIns="0" tIns="0" rIns="0" bIns="0" rtlCol="0" anchor="t"/>
          <a:lstStyle/>
          <a:p>
            <a:pPr marL="0" indent="0">
              <a:buNone/>
            </a:pPr>
            <a:r>
              <a:rPr lang="en-US" sz="1300" dirty="0">
                <a:solidFill>
                  <a:srgbClr val="14233C"/>
                </a:solidFill>
              </a:rPr>
              <a:t>6  No-Load Loss and Current Logsheet</a:t>
            </a:r>
            <a:endParaRPr lang="en-US" sz="1300" dirty="0"/>
          </a:p>
        </p:txBody>
      </p:sp>
      <p:sp>
        <p:nvSpPr>
          <p:cNvPr id="27" name="Text 22"/>
          <p:cNvSpPr txBox="1"/>
          <p:nvPr/>
        </p:nvSpPr>
        <p:spPr>
          <a:xfrm>
            <a:off x="8458200" y="4910328"/>
            <a:ext cx="3154680" cy="274320"/>
          </a:xfrm>
          <a:prstGeom prst="rect">
            <a:avLst/>
          </a:prstGeom>
          <a:noFill/>
          <a:ln/>
        </p:spPr>
        <p:txBody>
          <a:bodyPr wrap="square" lIns="0" tIns="0" rIns="0" bIns="0" rtlCol="0" anchor="t"/>
          <a:lstStyle/>
          <a:p>
            <a:pPr marL="0" indent="0">
              <a:buNone/>
            </a:pPr>
            <a:r>
              <a:rPr lang="en-US" sz="1300" dirty="0">
                <a:solidFill>
                  <a:srgbClr val="14233C"/>
                </a:solidFill>
              </a:rPr>
              <a:t>7  Routine Test Logsheet</a:t>
            </a:r>
            <a:endParaRPr lang="en-US" sz="1300" dirty="0"/>
          </a:p>
        </p:txBody>
      </p:sp>
      <p:sp>
        <p:nvSpPr>
          <p:cNvPr id="28" name="Text 23"/>
          <p:cNvSpPr txBox="1"/>
          <p:nvPr/>
        </p:nvSpPr>
        <p:spPr>
          <a:xfrm>
            <a:off x="8458200" y="5202936"/>
            <a:ext cx="3154680" cy="274320"/>
          </a:xfrm>
          <a:prstGeom prst="rect">
            <a:avLst/>
          </a:prstGeom>
          <a:noFill/>
          <a:ln/>
        </p:spPr>
        <p:txBody>
          <a:bodyPr wrap="square" lIns="0" tIns="0" rIns="0" bIns="0" rtlCol="0" anchor="t"/>
          <a:lstStyle/>
          <a:p>
            <a:pPr marL="0" indent="0">
              <a:buNone/>
            </a:pPr>
            <a:r>
              <a:rPr lang="en-US" sz="1300" dirty="0">
                <a:solidFill>
                  <a:srgbClr val="14233C"/>
                </a:solidFill>
              </a:rPr>
              <a:t>8  Short-Circuit Withstand Test Logsheet</a:t>
            </a:r>
            <a:endParaRPr lang="en-US" sz="1300" dirty="0"/>
          </a:p>
        </p:txBody>
      </p:sp>
      <p:sp>
        <p:nvSpPr>
          <p:cNvPr id="29" name="Text 24"/>
          <p:cNvSpPr txBox="1"/>
          <p:nvPr/>
        </p:nvSpPr>
        <p:spPr>
          <a:xfrm>
            <a:off x="8458200" y="5495544"/>
            <a:ext cx="3154680" cy="274320"/>
          </a:xfrm>
          <a:prstGeom prst="rect">
            <a:avLst/>
          </a:prstGeom>
          <a:noFill/>
          <a:ln/>
        </p:spPr>
        <p:txBody>
          <a:bodyPr wrap="square" lIns="0" tIns="0" rIns="0" bIns="0" rtlCol="0" anchor="t"/>
          <a:lstStyle/>
          <a:p>
            <a:pPr marL="0" indent="0">
              <a:buNone/>
            </a:pPr>
            <a:r>
              <a:rPr lang="en-US" sz="1300" dirty="0">
                <a:solidFill>
                  <a:srgbClr val="14233C"/>
                </a:solidFill>
              </a:rPr>
              <a:t>9  Temperature-Rise Test Logsheet</a:t>
            </a:r>
            <a:endParaRPr lang="en-US" sz="1300" dirty="0"/>
          </a:p>
        </p:txBody>
      </p:sp>
      <p:sp>
        <p:nvSpPr>
          <p:cNvPr id="30" name="Text 25"/>
          <p:cNvSpPr txBox="1"/>
          <p:nvPr/>
        </p:nvSpPr>
        <p:spPr>
          <a:xfrm>
            <a:off x="8458200" y="5788152"/>
            <a:ext cx="3154680" cy="274320"/>
          </a:xfrm>
          <a:prstGeom prst="rect">
            <a:avLst/>
          </a:prstGeom>
          <a:noFill/>
          <a:ln/>
        </p:spPr>
        <p:txBody>
          <a:bodyPr wrap="square" lIns="0" tIns="0" rIns="0" bIns="0" rtlCol="0" anchor="t"/>
          <a:lstStyle/>
          <a:p>
            <a:pPr marL="0" indent="0">
              <a:buNone/>
            </a:pPr>
            <a:r>
              <a:rPr lang="en-US" sz="1300" dirty="0">
                <a:solidFill>
                  <a:srgbClr val="14233C"/>
                </a:solidFill>
              </a:rPr>
              <a:t>10  Pressure and Oil-Leakage Test Logsheet</a:t>
            </a:r>
            <a:endParaRPr lang="en-US" sz="1300" dirty="0"/>
          </a:p>
        </p:txBody>
      </p:sp>
      <p:sp>
        <p:nvSpPr>
          <p:cNvPr id="17"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6667F"/>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503920" cy="1005840"/>
          </a:xfrm>
          <a:prstGeom prst="rect">
            <a:avLst/>
          </a:prstGeom>
          <a:noFill/>
          <a:ln/>
        </p:spPr>
        <p:txBody>
          <a:bodyPr wrap="square" lIns="0" tIns="0" rIns="0" bIns="0" rtlCol="0" anchor="t"/>
          <a:lstStyle/>
          <a:p>
            <a:pPr marL="0" indent="0" algn="l">
              <a:buNone/>
            </a:pPr>
            <a:r>
              <a:rPr lang="en-US" sz="2800" spc="-20" dirty="0">
                <a:solidFill>
                  <a:schemeClr val="tx2"/>
                </a:solidFill>
                <a:latin typeface="Segoe UI Semibold"/>
              </a:rPr>
              <a:t>Customers follow their request as it moves forward, without phoning the lab</a:t>
            </a:r>
            <a:endParaRPr lang="en-US" sz="2800" dirty="0"/>
          </a:p>
        </p:txBody>
      </p:sp>
      <p:sp>
        <p:nvSpPr>
          <p:cNvPr id="3" name="Text 1"/>
          <p:cNvSpPr txBox="1"/>
          <p:nvPr/>
        </p:nvSpPr>
        <p:spPr>
          <a:xfrm>
            <a:off x="9082735" y="841248"/>
            <a:ext cx="2560320" cy="228600"/>
          </a:xfrm>
          <a:prstGeom prst="rect">
            <a:avLst/>
          </a:prstGeom>
          <a:noFill/>
          <a:ln/>
        </p:spPr>
        <p:txBody>
          <a:bodyPr wrap="square" lIns="0" tIns="0" rIns="0" bIns="0" rtlCol="0" anchor="t"/>
          <a:lstStyle/>
          <a:p>
            <a:pPr marL="0" indent="0" algn="r">
              <a:buNone/>
            </a:pPr>
            <a:r>
              <a:rPr lang="en-US" sz="1050" dirty="0">
                <a:solidFill>
                  <a:srgbClr val="56667F"/>
                </a:solidFill>
              </a:rPr>
              <a:t>Objective 4: Customer experience</a:t>
            </a:r>
            <a:endParaRPr lang="en-US" sz="1050" dirty="0"/>
          </a:p>
        </p:txBody>
      </p:sp>
      <p:sp>
        <p:nvSpPr>
          <p:cNvPr id="4" name="Pill: CUSTOMER EXPERIENCE"/>
          <p:cNvSpPr txBox="1"/>
          <p:nvPr/>
        </p:nvSpPr>
        <p:spPr>
          <a:xfrm>
            <a:off x="9240012" y="457200"/>
            <a:ext cx="2403043" cy="329184"/>
          </a:xfrm>
          <a:prstGeom prst="roundRect">
            <a:avLst>
              <a:gd name="adj" fmla="val 50000"/>
            </a:avLst>
          </a:prstGeom>
          <a:solidFill>
            <a:srgbClr val="FFF1DA"/>
          </a:solidFill>
          <a:ln w="6350">
            <a:solidFill>
              <a:srgbClr val="FFF1DA"/>
            </a:solidFill>
          </a:ln>
        </p:spPr>
        <p:txBody>
          <a:bodyPr wrap="square" lIns="0" tIns="0" rIns="0" bIns="0" rtlCol="0" anchor="ctr"/>
          <a:lstStyle/>
          <a:p>
            <a:pPr marL="0" indent="0" algn="ctr">
              <a:buNone/>
            </a:pPr>
            <a:r>
              <a:rPr lang="en-US" sz="1100" kern="0" spc="60" dirty="0">
                <a:solidFill>
                  <a:srgbClr val="A85D00"/>
                </a:solidFill>
                <a:latin typeface="Segoe UI Semibold"/>
              </a:rPr>
              <a:t>CUSTOMER EXPERIENCE</a:t>
            </a:r>
            <a:endParaRPr lang="en-US" sz="1100" dirty="0"/>
          </a:p>
        </p:txBody>
      </p:sp>
      <p:sp>
        <p:nvSpPr>
          <p:cNvPr id="5" name="Stepper line"/>
          <p:cNvSpPr/>
          <p:nvPr/>
        </p:nvSpPr>
        <p:spPr>
          <a:xfrm>
            <a:off x="1658082" y="1993392"/>
            <a:ext cx="8875532" cy="36576"/>
          </a:xfrm>
          <a:prstGeom prst="rect">
            <a:avLst/>
          </a:prstGeom>
          <a:solidFill>
            <a:srgbClr val="C5D3E8"/>
          </a:solidFill>
          <a:ln w="12700">
            <a:solidFill>
              <a:srgbClr val="C5D3E8"/>
            </a:solidFill>
            <a:prstDash val="solid"/>
          </a:ln>
        </p:spPr>
      </p:sp>
      <p:sp>
        <p:nvSpPr>
          <p:cNvPr id="6" name="Stepper progress"/>
          <p:cNvSpPr/>
          <p:nvPr/>
        </p:nvSpPr>
        <p:spPr>
          <a:xfrm>
            <a:off x="1658082" y="1993392"/>
            <a:ext cx="4437766" cy="36576"/>
          </a:xfrm>
          <a:prstGeom prst="rect">
            <a:avLst/>
          </a:prstGeom>
          <a:solidFill>
            <a:srgbClr val="1C4F9C"/>
          </a:solidFill>
          <a:ln w="12700">
            <a:solidFill>
              <a:srgbClr val="1C4F9C"/>
            </a:solidFill>
            <a:prstDash val="solid"/>
          </a:ln>
        </p:spPr>
      </p:sp>
      <p:sp>
        <p:nvSpPr>
          <p:cNvPr id="7" name="Step 1"/>
          <p:cNvSpPr txBox="1"/>
          <p:nvPr/>
        </p:nvSpPr>
        <p:spPr>
          <a:xfrm>
            <a:off x="1429482" y="1783080"/>
            <a:ext cx="457200" cy="457200"/>
          </a:xfrm>
          <a:prstGeom prst="ellipse">
            <a:avLst/>
          </a:prstGeom>
          <a:solidFill>
            <a:srgbClr val="1C4F9C"/>
          </a:solidFill>
          <a:ln w="15875">
            <a:solidFill>
              <a:srgbClr val="1C4F9C"/>
            </a:solidFill>
          </a:ln>
        </p:spPr>
        <p:txBody>
          <a:bodyPr wrap="square" lIns="0" tIns="0" rIns="0" bIns="0" rtlCol="0" anchor="ctr"/>
          <a:lstStyle/>
          <a:p>
            <a:pPr marL="0" indent="0" algn="ctr">
              <a:buNone/>
            </a:pPr>
            <a:r>
              <a:rPr lang="en-US" dirty="0">
                <a:solidFill>
                  <a:srgbClr val="FFFFFF"/>
                </a:solidFill>
                <a:latin typeface="Segoe UI Semibold"/>
              </a:rPr>
              <a:t>1</a:t>
            </a:r>
            <a:endParaRPr lang="en-US" dirty="0"/>
          </a:p>
        </p:txBody>
      </p:sp>
      <p:sp>
        <p:nvSpPr>
          <p:cNvPr id="8" name="Text 6"/>
          <p:cNvSpPr txBox="1"/>
          <p:nvPr/>
        </p:nvSpPr>
        <p:spPr>
          <a:xfrm>
            <a:off x="585216" y="2496312"/>
            <a:ext cx="2145731" cy="457200"/>
          </a:xfrm>
          <a:prstGeom prst="rect">
            <a:avLst/>
          </a:prstGeom>
          <a:noFill/>
          <a:ln/>
        </p:spPr>
        <p:txBody>
          <a:bodyPr wrap="square" lIns="0" tIns="0" rIns="0" bIns="0" rtlCol="0" anchor="t"/>
          <a:lstStyle/>
          <a:p>
            <a:pPr marL="0" indent="0" algn="ctr">
              <a:buNone/>
            </a:pPr>
            <a:r>
              <a:rPr lang="en-US" sz="1700" dirty="0">
                <a:solidFill>
                  <a:srgbClr val="12315F"/>
                </a:solidFill>
                <a:latin typeface="Segoe UI Semibold"/>
              </a:rPr>
              <a:t>Request received</a:t>
            </a:r>
            <a:endParaRPr lang="en-US" sz="1700" dirty="0"/>
          </a:p>
        </p:txBody>
      </p:sp>
      <p:sp>
        <p:nvSpPr>
          <p:cNvPr id="9" name="Step 2"/>
          <p:cNvSpPr txBox="1"/>
          <p:nvPr/>
        </p:nvSpPr>
        <p:spPr>
          <a:xfrm>
            <a:off x="3648365" y="1783080"/>
            <a:ext cx="457200" cy="457200"/>
          </a:xfrm>
          <a:prstGeom prst="ellipse">
            <a:avLst/>
          </a:prstGeom>
          <a:solidFill>
            <a:srgbClr val="1C4F9C"/>
          </a:solidFill>
          <a:ln w="15875">
            <a:solidFill>
              <a:srgbClr val="1C4F9C"/>
            </a:solidFill>
          </a:ln>
        </p:spPr>
        <p:txBody>
          <a:bodyPr wrap="square" lIns="0" tIns="0" rIns="0" bIns="0" rtlCol="0" anchor="ctr"/>
          <a:lstStyle/>
          <a:p>
            <a:pPr marL="0" indent="0" algn="ctr">
              <a:buNone/>
            </a:pPr>
            <a:r>
              <a:rPr lang="en-US" dirty="0">
                <a:solidFill>
                  <a:srgbClr val="FFFFFF"/>
                </a:solidFill>
                <a:latin typeface="Segoe UI Semibold"/>
              </a:rPr>
              <a:t>2</a:t>
            </a:r>
            <a:endParaRPr lang="en-US" dirty="0"/>
          </a:p>
        </p:txBody>
      </p:sp>
      <p:sp>
        <p:nvSpPr>
          <p:cNvPr id="10" name="Text 8"/>
          <p:cNvSpPr txBox="1"/>
          <p:nvPr/>
        </p:nvSpPr>
        <p:spPr>
          <a:xfrm>
            <a:off x="2804099" y="2496312"/>
            <a:ext cx="2145731" cy="457200"/>
          </a:xfrm>
          <a:prstGeom prst="rect">
            <a:avLst/>
          </a:prstGeom>
          <a:noFill/>
          <a:ln/>
        </p:spPr>
        <p:txBody>
          <a:bodyPr wrap="square" lIns="0" tIns="0" rIns="0" bIns="0" rtlCol="0" anchor="t"/>
          <a:lstStyle/>
          <a:p>
            <a:pPr marL="0" indent="0" algn="ctr">
              <a:buNone/>
            </a:pPr>
            <a:r>
              <a:rPr lang="en-US" sz="1700" dirty="0">
                <a:solidFill>
                  <a:srgbClr val="12315F"/>
                </a:solidFill>
                <a:latin typeface="Segoe UI Semibold"/>
              </a:rPr>
              <a:t>In progress</a:t>
            </a:r>
            <a:endParaRPr lang="en-US" sz="1700" dirty="0"/>
          </a:p>
        </p:txBody>
      </p:sp>
      <p:sp>
        <p:nvSpPr>
          <p:cNvPr id="11" name="Current ring"/>
          <p:cNvSpPr/>
          <p:nvPr/>
        </p:nvSpPr>
        <p:spPr>
          <a:xfrm>
            <a:off x="5775808" y="1691640"/>
            <a:ext cx="640080" cy="640080"/>
          </a:xfrm>
          <a:prstGeom prst="ellipse">
            <a:avLst/>
          </a:prstGeom>
          <a:solidFill>
            <a:srgbClr val="2BB3FF">
              <a:alpha val="30000"/>
            </a:srgbClr>
          </a:solidFill>
          <a:ln w="12700">
            <a:solidFill>
              <a:srgbClr val="2BB3FF"/>
            </a:solidFill>
            <a:prstDash val="solid"/>
          </a:ln>
        </p:spPr>
        <p:txBody>
          <a:bodyPr/>
          <a:lstStyle/>
          <a:p>
            <a:endParaRPr lang="en-US"/>
          </a:p>
        </p:txBody>
      </p:sp>
      <p:sp>
        <p:nvSpPr>
          <p:cNvPr id="12" name="Step 3"/>
          <p:cNvSpPr txBox="1"/>
          <p:nvPr/>
        </p:nvSpPr>
        <p:spPr>
          <a:xfrm>
            <a:off x="5867248" y="1783080"/>
            <a:ext cx="457200" cy="457200"/>
          </a:xfrm>
          <a:prstGeom prst="ellipse">
            <a:avLst/>
          </a:prstGeom>
          <a:solidFill>
            <a:srgbClr val="FFFFFF"/>
          </a:solidFill>
          <a:ln w="31750">
            <a:solidFill>
              <a:srgbClr val="1C4F9C"/>
            </a:solidFill>
          </a:ln>
        </p:spPr>
        <p:txBody>
          <a:bodyPr wrap="square" lIns="0" tIns="0" rIns="0" bIns="0" rtlCol="0" anchor="ctr"/>
          <a:lstStyle/>
          <a:p>
            <a:pPr marL="0" indent="0" algn="ctr">
              <a:buNone/>
            </a:pPr>
            <a:r>
              <a:rPr lang="en-US" dirty="0">
                <a:solidFill>
                  <a:srgbClr val="1C4F9C"/>
                </a:solidFill>
                <a:latin typeface="Segoe UI Semibold"/>
              </a:rPr>
              <a:t>3</a:t>
            </a:r>
            <a:endParaRPr lang="en-US" dirty="0"/>
          </a:p>
        </p:txBody>
      </p:sp>
      <p:sp>
        <p:nvSpPr>
          <p:cNvPr id="13" name="Text 11"/>
          <p:cNvSpPr txBox="1"/>
          <p:nvPr/>
        </p:nvSpPr>
        <p:spPr>
          <a:xfrm>
            <a:off x="5022982" y="2496312"/>
            <a:ext cx="2145731" cy="457200"/>
          </a:xfrm>
          <a:prstGeom prst="rect">
            <a:avLst/>
          </a:prstGeom>
          <a:noFill/>
          <a:ln/>
        </p:spPr>
        <p:txBody>
          <a:bodyPr wrap="square" lIns="0" tIns="0" rIns="0" bIns="0" rtlCol="0" anchor="t"/>
          <a:lstStyle/>
          <a:p>
            <a:pPr marL="0" indent="0" algn="ctr">
              <a:buNone/>
            </a:pPr>
            <a:r>
              <a:rPr lang="en-US" sz="1700" dirty="0">
                <a:solidFill>
                  <a:srgbClr val="12315F"/>
                </a:solidFill>
                <a:latin typeface="Segoe UI Semibold"/>
              </a:rPr>
              <a:t>Pending verification</a:t>
            </a:r>
            <a:endParaRPr lang="en-US" sz="1700" dirty="0"/>
          </a:p>
        </p:txBody>
      </p:sp>
      <p:sp>
        <p:nvSpPr>
          <p:cNvPr id="14" name="Step 4"/>
          <p:cNvSpPr txBox="1"/>
          <p:nvPr/>
        </p:nvSpPr>
        <p:spPr>
          <a:xfrm>
            <a:off x="8086131" y="1783080"/>
            <a:ext cx="457200" cy="457200"/>
          </a:xfrm>
          <a:prstGeom prst="ellipse">
            <a:avLst/>
          </a:prstGeom>
          <a:solidFill>
            <a:srgbClr val="FFFFFF"/>
          </a:solidFill>
          <a:ln w="15875">
            <a:solidFill>
              <a:srgbClr val="9DB6D8"/>
            </a:solidFill>
          </a:ln>
        </p:spPr>
        <p:txBody>
          <a:bodyPr wrap="square" lIns="0" tIns="0" rIns="0" bIns="0" rtlCol="0" anchor="ctr"/>
          <a:lstStyle/>
          <a:p>
            <a:pPr marL="0" indent="0" algn="ctr">
              <a:buNone/>
            </a:pPr>
            <a:r>
              <a:rPr lang="en-US" dirty="0">
                <a:solidFill>
                  <a:srgbClr val="56667F"/>
                </a:solidFill>
                <a:latin typeface="Segoe UI Semibold"/>
              </a:rPr>
              <a:t>4</a:t>
            </a:r>
            <a:endParaRPr lang="en-US" dirty="0"/>
          </a:p>
        </p:txBody>
      </p:sp>
      <p:sp>
        <p:nvSpPr>
          <p:cNvPr id="15" name="Text 13"/>
          <p:cNvSpPr txBox="1"/>
          <p:nvPr/>
        </p:nvSpPr>
        <p:spPr>
          <a:xfrm>
            <a:off x="7241865" y="2496312"/>
            <a:ext cx="2145731" cy="457200"/>
          </a:xfrm>
          <a:prstGeom prst="rect">
            <a:avLst/>
          </a:prstGeom>
          <a:noFill/>
          <a:ln/>
        </p:spPr>
        <p:txBody>
          <a:bodyPr wrap="square" lIns="0" tIns="0" rIns="0" bIns="0" rtlCol="0" anchor="t"/>
          <a:lstStyle/>
          <a:p>
            <a:pPr marL="0" indent="0" algn="ctr">
              <a:buNone/>
            </a:pPr>
            <a:r>
              <a:rPr lang="en-US" sz="1700" dirty="0">
                <a:solidFill>
                  <a:srgbClr val="12315F"/>
                </a:solidFill>
                <a:latin typeface="Segoe UI Semibold"/>
              </a:rPr>
              <a:t>Approved</a:t>
            </a:r>
            <a:endParaRPr lang="en-US" sz="1700" dirty="0"/>
          </a:p>
        </p:txBody>
      </p:sp>
      <p:sp>
        <p:nvSpPr>
          <p:cNvPr id="16" name="Step 5"/>
          <p:cNvSpPr txBox="1"/>
          <p:nvPr/>
        </p:nvSpPr>
        <p:spPr>
          <a:xfrm>
            <a:off x="10305014" y="1783080"/>
            <a:ext cx="457200" cy="457200"/>
          </a:xfrm>
          <a:prstGeom prst="ellipse">
            <a:avLst/>
          </a:prstGeom>
          <a:solidFill>
            <a:srgbClr val="FFFFFF"/>
          </a:solidFill>
          <a:ln w="15875">
            <a:solidFill>
              <a:srgbClr val="9DB6D8"/>
            </a:solidFill>
          </a:ln>
        </p:spPr>
        <p:txBody>
          <a:bodyPr wrap="square" lIns="0" tIns="0" rIns="0" bIns="0" rtlCol="0" anchor="ctr"/>
          <a:lstStyle/>
          <a:p>
            <a:pPr marL="0" indent="0" algn="ctr">
              <a:buNone/>
            </a:pPr>
            <a:r>
              <a:rPr lang="en-US" dirty="0">
                <a:solidFill>
                  <a:srgbClr val="56667F"/>
                </a:solidFill>
                <a:latin typeface="Segoe UI Semibold"/>
              </a:rPr>
              <a:t>5</a:t>
            </a:r>
            <a:endParaRPr lang="en-US" dirty="0"/>
          </a:p>
        </p:txBody>
      </p:sp>
      <p:sp>
        <p:nvSpPr>
          <p:cNvPr id="17" name="Text 15"/>
          <p:cNvSpPr txBox="1"/>
          <p:nvPr/>
        </p:nvSpPr>
        <p:spPr>
          <a:xfrm>
            <a:off x="9460748" y="2496312"/>
            <a:ext cx="2145731" cy="457200"/>
          </a:xfrm>
          <a:prstGeom prst="rect">
            <a:avLst/>
          </a:prstGeom>
          <a:noFill/>
          <a:ln/>
        </p:spPr>
        <p:txBody>
          <a:bodyPr wrap="square" lIns="0" tIns="0" rIns="0" bIns="0" rtlCol="0" anchor="t"/>
          <a:lstStyle/>
          <a:p>
            <a:pPr marL="0" indent="0" algn="ctr">
              <a:buNone/>
            </a:pPr>
            <a:r>
              <a:rPr lang="en-US" sz="1700" dirty="0">
                <a:solidFill>
                  <a:srgbClr val="12315F"/>
                </a:solidFill>
                <a:latin typeface="Segoe UI Semibold"/>
              </a:rPr>
              <a:t>Report released</a:t>
            </a:r>
            <a:endParaRPr lang="en-US" sz="1700" dirty="0"/>
          </a:p>
        </p:txBody>
      </p:sp>
      <p:sp>
        <p:nvSpPr>
          <p:cNvPr id="18" name="Pills card"/>
          <p:cNvSpPr/>
          <p:nvPr/>
        </p:nvSpPr>
        <p:spPr>
          <a:xfrm>
            <a:off x="548640" y="3611880"/>
            <a:ext cx="4480560" cy="2468880"/>
          </a:xfrm>
          <a:prstGeom prst="roundRect">
            <a:avLst>
              <a:gd name="adj" fmla="val 5926"/>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sp>
      <p:sp>
        <p:nvSpPr>
          <p:cNvPr id="19" name="Text 17"/>
          <p:cNvSpPr txBox="1"/>
          <p:nvPr/>
        </p:nvSpPr>
        <p:spPr>
          <a:xfrm>
            <a:off x="822960" y="3767328"/>
            <a:ext cx="3931920" cy="274320"/>
          </a:xfrm>
          <a:prstGeom prst="rect">
            <a:avLst/>
          </a:prstGeom>
          <a:noFill/>
          <a:ln/>
        </p:spPr>
        <p:txBody>
          <a:bodyPr wrap="square" lIns="0" tIns="0" rIns="0" bIns="0" rtlCol="0" anchor="t"/>
          <a:lstStyle/>
          <a:p>
            <a:pPr marL="0" indent="0">
              <a:buNone/>
            </a:pPr>
            <a:r>
              <a:rPr lang="en-US" dirty="0">
                <a:solidFill>
                  <a:srgbClr val="12315F"/>
                </a:solidFill>
                <a:latin typeface="Segoe UI Semibold"/>
              </a:rPr>
              <a:t>Status pills the customer sees</a:t>
            </a:r>
            <a:endParaRPr lang="en-US" dirty="0"/>
          </a:p>
        </p:txBody>
      </p:sp>
      <p:sp>
        <p:nvSpPr>
          <p:cNvPr id="20" name="Pill: In progress"/>
          <p:cNvSpPr txBox="1"/>
          <p:nvPr/>
        </p:nvSpPr>
        <p:spPr>
          <a:xfrm>
            <a:off x="822960" y="4224528"/>
            <a:ext cx="1874520" cy="310896"/>
          </a:xfrm>
          <a:prstGeom prst="roundRect">
            <a:avLst>
              <a:gd name="adj" fmla="val 50000"/>
            </a:avLst>
          </a:prstGeom>
          <a:solidFill>
            <a:srgbClr val="E2ECFA"/>
          </a:solidFill>
          <a:ln w="6350">
            <a:solidFill>
              <a:srgbClr val="E2ECFA"/>
            </a:solidFill>
          </a:ln>
        </p:spPr>
        <p:txBody>
          <a:bodyPr wrap="square" lIns="0" tIns="0" rIns="0" bIns="0" rtlCol="0" anchor="ctr"/>
          <a:lstStyle/>
          <a:p>
            <a:pPr marL="0" indent="0" algn="ctr">
              <a:buNone/>
            </a:pPr>
            <a:r>
              <a:rPr lang="en-US" sz="1100" kern="0" spc="60" dirty="0">
                <a:solidFill>
                  <a:srgbClr val="1C4F9C"/>
                </a:solidFill>
                <a:latin typeface="Segoe UI Semibold"/>
              </a:rPr>
              <a:t>In progress</a:t>
            </a:r>
            <a:endParaRPr lang="en-US" sz="1100" dirty="0"/>
          </a:p>
        </p:txBody>
      </p:sp>
      <p:sp>
        <p:nvSpPr>
          <p:cNvPr id="21" name="Pill: Pending verification"/>
          <p:cNvSpPr txBox="1"/>
          <p:nvPr/>
        </p:nvSpPr>
        <p:spPr>
          <a:xfrm>
            <a:off x="2834640" y="4224528"/>
            <a:ext cx="1874520" cy="310896"/>
          </a:xfrm>
          <a:prstGeom prst="roundRect">
            <a:avLst>
              <a:gd name="adj" fmla="val 50000"/>
            </a:avLst>
          </a:prstGeom>
          <a:solidFill>
            <a:srgbClr val="FFF1DA"/>
          </a:solidFill>
          <a:ln w="6350">
            <a:solidFill>
              <a:srgbClr val="FFF1DA"/>
            </a:solidFill>
          </a:ln>
        </p:spPr>
        <p:txBody>
          <a:bodyPr wrap="square" lIns="0" tIns="0" rIns="0" bIns="0" rtlCol="0" anchor="ctr"/>
          <a:lstStyle/>
          <a:p>
            <a:pPr marL="0" indent="0" algn="ctr">
              <a:buNone/>
            </a:pPr>
            <a:r>
              <a:rPr lang="en-US" sz="1100" kern="0" spc="60" dirty="0">
                <a:solidFill>
                  <a:srgbClr val="A85D00"/>
                </a:solidFill>
                <a:latin typeface="Segoe UI Semibold"/>
              </a:rPr>
              <a:t>Pending verification</a:t>
            </a:r>
            <a:endParaRPr lang="en-US" sz="1100" dirty="0"/>
          </a:p>
        </p:txBody>
      </p:sp>
      <p:sp>
        <p:nvSpPr>
          <p:cNvPr id="22" name="Pill: Approved"/>
          <p:cNvSpPr txBox="1"/>
          <p:nvPr/>
        </p:nvSpPr>
        <p:spPr>
          <a:xfrm>
            <a:off x="822960" y="4681728"/>
            <a:ext cx="1874520" cy="310896"/>
          </a:xfrm>
          <a:prstGeom prst="roundRect">
            <a:avLst>
              <a:gd name="adj" fmla="val 50000"/>
            </a:avLst>
          </a:prstGeom>
          <a:solidFill>
            <a:srgbClr val="E1F4EA"/>
          </a:solidFill>
          <a:ln w="6350">
            <a:solidFill>
              <a:srgbClr val="E1F4EA"/>
            </a:solidFill>
          </a:ln>
        </p:spPr>
        <p:txBody>
          <a:bodyPr wrap="square" lIns="0" tIns="0" rIns="0" bIns="0" rtlCol="0" anchor="ctr"/>
          <a:lstStyle/>
          <a:p>
            <a:pPr marL="0" indent="0" algn="ctr">
              <a:buNone/>
            </a:pPr>
            <a:r>
              <a:rPr lang="en-US" sz="1100" kern="0" spc="60" dirty="0">
                <a:solidFill>
                  <a:srgbClr val="14804A"/>
                </a:solidFill>
                <a:latin typeface="Segoe UI Semibold"/>
              </a:rPr>
              <a:t>Approved</a:t>
            </a:r>
            <a:endParaRPr lang="en-US" sz="1100" dirty="0"/>
          </a:p>
        </p:txBody>
      </p:sp>
      <p:sp>
        <p:nvSpPr>
          <p:cNvPr id="23" name="Pill: Being corrected"/>
          <p:cNvSpPr txBox="1"/>
          <p:nvPr/>
        </p:nvSpPr>
        <p:spPr>
          <a:xfrm>
            <a:off x="2834640" y="4681728"/>
            <a:ext cx="1874520" cy="310896"/>
          </a:xfrm>
          <a:prstGeom prst="roundRect">
            <a:avLst>
              <a:gd name="adj" fmla="val 50000"/>
            </a:avLst>
          </a:prstGeom>
          <a:solidFill>
            <a:srgbClr val="FDE7E7"/>
          </a:solidFill>
          <a:ln w="6350">
            <a:solidFill>
              <a:srgbClr val="FDE7E7"/>
            </a:solidFill>
          </a:ln>
        </p:spPr>
        <p:txBody>
          <a:bodyPr wrap="square" lIns="0" tIns="0" rIns="0" bIns="0" rtlCol="0" anchor="ctr"/>
          <a:lstStyle/>
          <a:p>
            <a:pPr marL="0" indent="0" algn="ctr">
              <a:buNone/>
            </a:pPr>
            <a:r>
              <a:rPr lang="en-US" sz="1100" kern="0" spc="60" dirty="0">
                <a:solidFill>
                  <a:srgbClr val="C62828"/>
                </a:solidFill>
                <a:latin typeface="Segoe UI Semibold"/>
              </a:rPr>
              <a:t>Being corrected</a:t>
            </a:r>
            <a:endParaRPr lang="en-US" sz="1100" dirty="0"/>
          </a:p>
        </p:txBody>
      </p:sp>
      <p:sp>
        <p:nvSpPr>
          <p:cNvPr id="24" name="Pill: Report released"/>
          <p:cNvSpPr txBox="1"/>
          <p:nvPr/>
        </p:nvSpPr>
        <p:spPr>
          <a:xfrm>
            <a:off x="822960" y="5138928"/>
            <a:ext cx="1874520" cy="310896"/>
          </a:xfrm>
          <a:prstGeom prst="roundRect">
            <a:avLst>
              <a:gd name="adj" fmla="val 50000"/>
            </a:avLst>
          </a:prstGeom>
          <a:solidFill>
            <a:srgbClr val="E1F4EA"/>
          </a:solidFill>
          <a:ln w="6350">
            <a:solidFill>
              <a:srgbClr val="E1F4EA"/>
            </a:solidFill>
          </a:ln>
        </p:spPr>
        <p:txBody>
          <a:bodyPr wrap="square" lIns="0" tIns="0" rIns="0" bIns="0" rtlCol="0" anchor="ctr"/>
          <a:lstStyle/>
          <a:p>
            <a:pPr marL="0" indent="0" algn="ctr">
              <a:buNone/>
            </a:pPr>
            <a:r>
              <a:rPr lang="en-US" sz="1100" kern="0" spc="60" dirty="0">
                <a:solidFill>
                  <a:srgbClr val="14804A"/>
                </a:solidFill>
                <a:latin typeface="Segoe UI Semibold"/>
              </a:rPr>
              <a:t>Report released</a:t>
            </a:r>
            <a:endParaRPr lang="en-US" sz="1100" dirty="0"/>
          </a:p>
        </p:txBody>
      </p:sp>
      <p:sp>
        <p:nvSpPr>
          <p:cNvPr id="25" name="Pill: Not started"/>
          <p:cNvSpPr txBox="1"/>
          <p:nvPr/>
        </p:nvSpPr>
        <p:spPr>
          <a:xfrm>
            <a:off x="2834640" y="5138928"/>
            <a:ext cx="1874520" cy="310896"/>
          </a:xfrm>
          <a:prstGeom prst="roundRect">
            <a:avLst>
              <a:gd name="adj" fmla="val 50000"/>
            </a:avLst>
          </a:prstGeom>
          <a:solidFill>
            <a:srgbClr val="EEF3FA"/>
          </a:solidFill>
          <a:ln w="6350">
            <a:solidFill>
              <a:srgbClr val="EEF3FA"/>
            </a:solidFill>
          </a:ln>
        </p:spPr>
        <p:txBody>
          <a:bodyPr wrap="square" lIns="0" tIns="0" rIns="0" bIns="0" rtlCol="0" anchor="ctr"/>
          <a:lstStyle/>
          <a:p>
            <a:pPr marL="0" indent="0" algn="ctr">
              <a:buNone/>
            </a:pPr>
            <a:r>
              <a:rPr lang="en-US" sz="1100" kern="0" spc="60" dirty="0">
                <a:solidFill>
                  <a:srgbClr val="56667F"/>
                </a:solidFill>
                <a:latin typeface="Segoe UI Semibold"/>
              </a:rPr>
              <a:t>Not started</a:t>
            </a:r>
            <a:endParaRPr lang="en-US" sz="1100" dirty="0"/>
          </a:p>
        </p:txBody>
      </p:sp>
      <p:sp>
        <p:nvSpPr>
          <p:cNvPr id="26" name="Text 24"/>
          <p:cNvSpPr txBox="1"/>
          <p:nvPr/>
        </p:nvSpPr>
        <p:spPr>
          <a:xfrm>
            <a:off x="822960" y="5623560"/>
            <a:ext cx="3931920" cy="411480"/>
          </a:xfrm>
          <a:prstGeom prst="rect">
            <a:avLst/>
          </a:prstGeom>
          <a:noFill/>
          <a:ln/>
        </p:spPr>
        <p:txBody>
          <a:bodyPr wrap="square" lIns="0" tIns="0" rIns="0" bIns="0" rtlCol="0" anchor="t"/>
          <a:lstStyle/>
          <a:p>
            <a:pPr marL="0" indent="0">
              <a:buNone/>
            </a:pPr>
            <a:r>
              <a:rPr lang="en-US" sz="1300" dirty="0">
                <a:solidFill>
                  <a:srgbClr val="56667F"/>
                </a:solidFill>
              </a:rPr>
              <a:t>Progress updates as soon as a stage moves forward.</a:t>
            </a:r>
            <a:endParaRPr lang="en-US" sz="1300" dirty="0"/>
          </a:p>
        </p:txBody>
      </p:sp>
      <p:sp>
        <p:nvSpPr>
          <p:cNvPr id="27" name="Notification card"/>
          <p:cNvSpPr/>
          <p:nvPr/>
        </p:nvSpPr>
        <p:spPr>
          <a:xfrm>
            <a:off x="5212080" y="3611880"/>
            <a:ext cx="3017520" cy="2468880"/>
          </a:xfrm>
          <a:prstGeom prst="roundRect">
            <a:avLst>
              <a:gd name="adj" fmla="val 5926"/>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pic>
        <p:nvPicPr>
          <p:cNvPr id="28" name="Image 0" descr="Icon: bell"/>
          <p:cNvPicPr>
            <a:picLocks noChangeAspect="1"/>
          </p:cNvPicPr>
          <p:nvPr/>
        </p:nvPicPr>
        <p:blipFill>
          <a:blip r:embed="rId3"/>
          <a:stretch>
            <a:fillRect/>
          </a:stretch>
        </p:blipFill>
        <p:spPr>
          <a:xfrm>
            <a:off x="5486400" y="3840480"/>
            <a:ext cx="548640" cy="548640"/>
          </a:xfrm>
          <a:prstGeom prst="rect">
            <a:avLst/>
          </a:prstGeom>
        </p:spPr>
      </p:pic>
      <p:sp>
        <p:nvSpPr>
          <p:cNvPr id="29" name="Text 26"/>
          <p:cNvSpPr txBox="1"/>
          <p:nvPr/>
        </p:nvSpPr>
        <p:spPr>
          <a:xfrm>
            <a:off x="5486400" y="4553712"/>
            <a:ext cx="2560320" cy="274320"/>
          </a:xfrm>
          <a:prstGeom prst="rect">
            <a:avLst/>
          </a:prstGeom>
          <a:noFill/>
          <a:ln/>
        </p:spPr>
        <p:txBody>
          <a:bodyPr wrap="square" lIns="0" tIns="0" rIns="0" bIns="0" rtlCol="0" anchor="t"/>
          <a:lstStyle/>
          <a:p>
            <a:pPr marL="0" indent="0">
              <a:buNone/>
            </a:pPr>
            <a:r>
              <a:rPr lang="en-US" sz="1650" dirty="0">
                <a:solidFill>
                  <a:srgbClr val="12315F"/>
                </a:solidFill>
                <a:latin typeface="Segoe UI Semibold"/>
              </a:rPr>
              <a:t>One notification at release</a:t>
            </a:r>
            <a:endParaRPr lang="en-US" sz="1650" dirty="0"/>
          </a:p>
        </p:txBody>
      </p:sp>
      <p:sp>
        <p:nvSpPr>
          <p:cNvPr id="30" name="Text 27"/>
          <p:cNvSpPr txBox="1"/>
          <p:nvPr/>
        </p:nvSpPr>
        <p:spPr>
          <a:xfrm>
            <a:off x="5486400" y="4892040"/>
            <a:ext cx="2514600" cy="1097280"/>
          </a:xfrm>
          <a:prstGeom prst="rect">
            <a:avLst/>
          </a:prstGeom>
          <a:noFill/>
          <a:ln/>
        </p:spPr>
        <p:txBody>
          <a:bodyPr wrap="square" lIns="0" tIns="0" rIns="0" bIns="0" rtlCol="0" anchor="t"/>
          <a:lstStyle/>
          <a:p>
            <a:pPr marL="0" indent="0">
              <a:buNone/>
            </a:pPr>
            <a:r>
              <a:rPr lang="en-US" sz="1300" dirty="0">
                <a:solidFill>
                  <a:srgbClr val="14233C"/>
                </a:solidFill>
              </a:rPr>
              <a:t>When the final report is released, the customer gets a link to download it.</a:t>
            </a:r>
            <a:endParaRPr lang="en-US" sz="1300" dirty="0"/>
          </a:p>
        </p:txBody>
      </p:sp>
      <p:pic>
        <p:nvPicPr>
          <p:cNvPr id="1703" name="Screenshot: Customer's request progress page" descr="Screenshot of the Aletheia prototype: Customer's request progress page"/>
          <p:cNvPicPr>
            <a:picLocks noChangeAspect="1"/>
          </p:cNvPicPr>
          <p:nvPr/>
        </p:nvPicPr>
        <p:blipFill>
          <a:blip r:embed="rId4"/>
          <a:stretch>
            <a:fillRect/>
          </a:stretch>
        </p:blipFill>
        <p:spPr>
          <a:xfrm>
            <a:off x="8412480" y="4041648"/>
            <a:ext cx="3227832" cy="1618488"/>
          </a:xfrm>
          <a:prstGeom prst="rect">
            <a:avLst/>
          </a:prstGeom>
          <a:ln w="12700">
            <a:solidFill>
              <a:srgbClr val="9DB6D8"/>
            </a:solidFill>
          </a:ln>
        </p:spPr>
      </p:pic>
      <p:sp>
        <p:nvSpPr>
          <p:cNvPr id="31"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6667F"/>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503920" cy="1005840"/>
          </a:xfrm>
          <a:prstGeom prst="rect">
            <a:avLst/>
          </a:prstGeom>
          <a:noFill/>
          <a:ln/>
        </p:spPr>
        <p:txBody>
          <a:bodyPr wrap="square" lIns="0" tIns="0" rIns="0" bIns="0" rtlCol="0" anchor="t"/>
          <a:lstStyle/>
          <a:p>
            <a:pPr marL="0" indent="0" algn="l">
              <a:buNone/>
            </a:pPr>
            <a:r>
              <a:rPr lang="en-US" sz="2800" spc="-20" dirty="0">
                <a:solidFill>
                  <a:schemeClr val="tx2"/>
                </a:solidFill>
                <a:latin typeface="Segoe UI Semibold"/>
              </a:rPr>
              <a:t>Customers get answers through tickets</a:t>
            </a:r>
            <a:br>
              <a:rPr lang="en-US" sz="2800" spc="-20" dirty="0">
                <a:solidFill>
                  <a:schemeClr val="tx2"/>
                </a:solidFill>
                <a:latin typeface="Segoe UI Semibold"/>
              </a:rPr>
            </a:br>
            <a:r>
              <a:rPr lang="en-US" sz="2800" spc="-20" dirty="0">
                <a:solidFill>
                  <a:schemeClr val="tx2"/>
                </a:solidFill>
                <a:latin typeface="Segoe UI Semibold"/>
              </a:rPr>
              <a:t>and a built-in assistant</a:t>
            </a:r>
            <a:endParaRPr lang="en-US" sz="2800" dirty="0"/>
          </a:p>
        </p:txBody>
      </p:sp>
      <p:sp>
        <p:nvSpPr>
          <p:cNvPr id="3" name="Text 1"/>
          <p:cNvSpPr txBox="1"/>
          <p:nvPr/>
        </p:nvSpPr>
        <p:spPr>
          <a:xfrm>
            <a:off x="9082735" y="841248"/>
            <a:ext cx="2560320" cy="228600"/>
          </a:xfrm>
          <a:prstGeom prst="rect">
            <a:avLst/>
          </a:prstGeom>
          <a:noFill/>
          <a:ln/>
        </p:spPr>
        <p:txBody>
          <a:bodyPr wrap="square" lIns="0" tIns="0" rIns="0" bIns="0" rtlCol="0" anchor="t"/>
          <a:lstStyle/>
          <a:p>
            <a:pPr marL="0" indent="0" algn="r">
              <a:buNone/>
            </a:pPr>
            <a:r>
              <a:rPr lang="en-US" sz="1050" dirty="0">
                <a:solidFill>
                  <a:srgbClr val="56667F"/>
                </a:solidFill>
              </a:rPr>
              <a:t>Objective 4: Customer experience</a:t>
            </a:r>
            <a:endParaRPr lang="en-US" sz="1050" dirty="0"/>
          </a:p>
        </p:txBody>
      </p:sp>
      <p:sp>
        <p:nvSpPr>
          <p:cNvPr id="4" name="Pill: CUSTOMER EXPERIENCE"/>
          <p:cNvSpPr txBox="1"/>
          <p:nvPr/>
        </p:nvSpPr>
        <p:spPr>
          <a:xfrm>
            <a:off x="9240012" y="457200"/>
            <a:ext cx="2403043" cy="329184"/>
          </a:xfrm>
          <a:prstGeom prst="roundRect">
            <a:avLst>
              <a:gd name="adj" fmla="val 50000"/>
            </a:avLst>
          </a:prstGeom>
          <a:solidFill>
            <a:srgbClr val="FFF1DA"/>
          </a:solidFill>
          <a:ln w="6350">
            <a:solidFill>
              <a:srgbClr val="FFF1DA"/>
            </a:solidFill>
          </a:ln>
        </p:spPr>
        <p:txBody>
          <a:bodyPr wrap="square" lIns="0" tIns="0" rIns="0" bIns="0" rtlCol="0" anchor="ctr"/>
          <a:lstStyle/>
          <a:p>
            <a:pPr marL="0" indent="0" algn="ctr">
              <a:buNone/>
            </a:pPr>
            <a:r>
              <a:rPr lang="en-US" sz="1100" kern="0" spc="60" dirty="0">
                <a:solidFill>
                  <a:srgbClr val="A85D00"/>
                </a:solidFill>
                <a:latin typeface="Segoe UI Semibold"/>
              </a:rPr>
              <a:t>CUSTOMER EXPERIENCE</a:t>
            </a:r>
            <a:endParaRPr lang="en-US" sz="1100" dirty="0"/>
          </a:p>
        </p:txBody>
      </p:sp>
      <p:sp>
        <p:nvSpPr>
          <p:cNvPr id="5" name="Card"/>
          <p:cNvSpPr/>
          <p:nvPr/>
        </p:nvSpPr>
        <p:spPr>
          <a:xfrm>
            <a:off x="548640" y="1691640"/>
            <a:ext cx="5413248" cy="2240280"/>
          </a:xfrm>
          <a:prstGeom prst="roundRect">
            <a:avLst>
              <a:gd name="adj" fmla="val 5424"/>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pic>
        <p:nvPicPr>
          <p:cNvPr id="6" name="Image 0" descr="Icon: msg"/>
          <p:cNvPicPr>
            <a:picLocks noChangeAspect="1"/>
          </p:cNvPicPr>
          <p:nvPr/>
        </p:nvPicPr>
        <p:blipFill>
          <a:blip r:embed="rId3"/>
          <a:stretch>
            <a:fillRect/>
          </a:stretch>
        </p:blipFill>
        <p:spPr>
          <a:xfrm>
            <a:off x="822960" y="1920240"/>
            <a:ext cx="594360" cy="594360"/>
          </a:xfrm>
          <a:prstGeom prst="rect">
            <a:avLst/>
          </a:prstGeom>
        </p:spPr>
      </p:pic>
      <p:sp>
        <p:nvSpPr>
          <p:cNvPr id="7" name="Text 4"/>
          <p:cNvSpPr txBox="1"/>
          <p:nvPr/>
        </p:nvSpPr>
        <p:spPr>
          <a:xfrm>
            <a:off x="1600200" y="2011680"/>
            <a:ext cx="4133088" cy="421640"/>
          </a:xfrm>
          <a:prstGeom prst="rect">
            <a:avLst/>
          </a:prstGeom>
          <a:noFill/>
          <a:ln/>
        </p:spPr>
        <p:txBody>
          <a:bodyPr wrap="square" lIns="0" tIns="0" rIns="0" bIns="0" rtlCol="0" anchor="t"/>
          <a:lstStyle/>
          <a:p>
            <a:pPr marL="0" indent="0">
              <a:buNone/>
            </a:pPr>
            <a:r>
              <a:rPr lang="en-US" sz="2600" dirty="0">
                <a:solidFill>
                  <a:srgbClr val="12315F"/>
                </a:solidFill>
                <a:latin typeface="Segoe UI Semibold"/>
              </a:rPr>
              <a:t>Tickets to the laboratory</a:t>
            </a:r>
            <a:endParaRPr lang="en-US" sz="2600" dirty="0"/>
          </a:p>
        </p:txBody>
      </p:sp>
      <p:sp>
        <p:nvSpPr>
          <p:cNvPr id="8" name="Text 5"/>
          <p:cNvSpPr txBox="1"/>
          <p:nvPr/>
        </p:nvSpPr>
        <p:spPr>
          <a:xfrm>
            <a:off x="822960" y="2615184"/>
            <a:ext cx="4864608" cy="778256"/>
          </a:xfrm>
          <a:prstGeom prst="rect">
            <a:avLst/>
          </a:prstGeom>
          <a:noFill/>
          <a:ln/>
        </p:spPr>
        <p:txBody>
          <a:bodyPr wrap="square" lIns="0" tIns="0" rIns="0" bIns="0" rtlCol="0" anchor="t"/>
          <a:lstStyle/>
          <a:p>
            <a:pPr marL="0" indent="0">
              <a:buNone/>
            </a:pPr>
            <a:r>
              <a:rPr lang="en-US" sz="1700" dirty="0">
                <a:solidFill>
                  <a:srgbClr val="14233C"/>
                </a:solidFill>
              </a:rPr>
              <a:t>Raise a ticket about a request, a report, values or sample handling, and follow its status. The answer arrives in the same thread, with a notification.</a:t>
            </a:r>
            <a:endParaRPr lang="en-US" sz="1700" dirty="0"/>
          </a:p>
        </p:txBody>
      </p:sp>
      <p:sp>
        <p:nvSpPr>
          <p:cNvPr id="9" name="Pill: OPEN"/>
          <p:cNvSpPr txBox="1"/>
          <p:nvPr/>
        </p:nvSpPr>
        <p:spPr>
          <a:xfrm>
            <a:off x="822960" y="3520440"/>
            <a:ext cx="1234440" cy="310896"/>
          </a:xfrm>
          <a:prstGeom prst="roundRect">
            <a:avLst>
              <a:gd name="adj" fmla="val 50000"/>
            </a:avLst>
          </a:prstGeom>
          <a:solidFill>
            <a:srgbClr val="FFF1DA"/>
          </a:solidFill>
          <a:ln w="6350">
            <a:solidFill>
              <a:srgbClr val="FFF1DA"/>
            </a:solidFill>
          </a:ln>
        </p:spPr>
        <p:txBody>
          <a:bodyPr wrap="square" lIns="0" tIns="0" rIns="0" bIns="0" rtlCol="0" anchor="ctr"/>
          <a:lstStyle/>
          <a:p>
            <a:pPr marL="0" indent="0" algn="ctr">
              <a:buNone/>
            </a:pPr>
            <a:r>
              <a:rPr lang="en-US" sz="1000" kern="0" spc="60" dirty="0">
                <a:solidFill>
                  <a:srgbClr val="A85D00"/>
                </a:solidFill>
                <a:latin typeface="Segoe UI Semibold"/>
              </a:rPr>
              <a:t>OPEN</a:t>
            </a:r>
            <a:endParaRPr lang="en-US" sz="1000" dirty="0"/>
          </a:p>
        </p:txBody>
      </p:sp>
      <p:sp>
        <p:nvSpPr>
          <p:cNvPr id="10" name="Pill: ANSWERED"/>
          <p:cNvSpPr txBox="1"/>
          <p:nvPr/>
        </p:nvSpPr>
        <p:spPr>
          <a:xfrm>
            <a:off x="2194560" y="3520440"/>
            <a:ext cx="1234440" cy="310896"/>
          </a:xfrm>
          <a:prstGeom prst="roundRect">
            <a:avLst>
              <a:gd name="adj" fmla="val 50000"/>
            </a:avLst>
          </a:prstGeom>
          <a:solidFill>
            <a:srgbClr val="E2ECFA"/>
          </a:solidFill>
          <a:ln w="6350">
            <a:solidFill>
              <a:srgbClr val="E2ECFA"/>
            </a:solidFill>
          </a:ln>
        </p:spPr>
        <p:txBody>
          <a:bodyPr wrap="square" lIns="0" tIns="0" rIns="0" bIns="0" rtlCol="0" anchor="ctr"/>
          <a:lstStyle/>
          <a:p>
            <a:pPr marL="0" indent="0" algn="ctr">
              <a:buNone/>
            </a:pPr>
            <a:r>
              <a:rPr lang="en-US" sz="1000" kern="0" spc="60" dirty="0">
                <a:solidFill>
                  <a:srgbClr val="1C4F9C"/>
                </a:solidFill>
                <a:latin typeface="Segoe UI Semibold"/>
              </a:rPr>
              <a:t>ANSWERED</a:t>
            </a:r>
            <a:endParaRPr lang="en-US" sz="1000" dirty="0"/>
          </a:p>
        </p:txBody>
      </p:sp>
      <p:sp>
        <p:nvSpPr>
          <p:cNvPr id="11" name="Pill: CLOSED"/>
          <p:cNvSpPr txBox="1"/>
          <p:nvPr/>
        </p:nvSpPr>
        <p:spPr>
          <a:xfrm>
            <a:off x="3566160" y="3520440"/>
            <a:ext cx="1234440" cy="310896"/>
          </a:xfrm>
          <a:prstGeom prst="roundRect">
            <a:avLst>
              <a:gd name="adj" fmla="val 50000"/>
            </a:avLst>
          </a:prstGeom>
          <a:solidFill>
            <a:srgbClr val="E1F4EA"/>
          </a:solidFill>
          <a:ln w="6350">
            <a:solidFill>
              <a:srgbClr val="E1F4EA"/>
            </a:solidFill>
          </a:ln>
        </p:spPr>
        <p:txBody>
          <a:bodyPr wrap="square" lIns="0" tIns="0" rIns="0" bIns="0" rtlCol="0" anchor="ctr"/>
          <a:lstStyle/>
          <a:p>
            <a:pPr marL="0" indent="0" algn="ctr">
              <a:buNone/>
            </a:pPr>
            <a:r>
              <a:rPr lang="en-US" sz="1000" kern="0" spc="60" dirty="0">
                <a:solidFill>
                  <a:srgbClr val="14804A"/>
                </a:solidFill>
                <a:latin typeface="Segoe UI Semibold"/>
              </a:rPr>
              <a:t>CLOSED</a:t>
            </a:r>
            <a:endParaRPr lang="en-US" sz="1000" dirty="0"/>
          </a:p>
        </p:txBody>
      </p:sp>
      <p:pic>
        <p:nvPicPr>
          <p:cNvPr id="1704" name="Screenshot: Customer's Tickets page" descr="Screenshot of the Aletheia prototype: Customer's Tickets page"/>
          <p:cNvPicPr>
            <a:picLocks noChangeAspect="1"/>
          </p:cNvPicPr>
          <p:nvPr/>
        </p:nvPicPr>
        <p:blipFill>
          <a:blip r:embed="rId4"/>
          <a:stretch>
            <a:fillRect/>
          </a:stretch>
        </p:blipFill>
        <p:spPr>
          <a:xfrm>
            <a:off x="758952" y="4114800"/>
            <a:ext cx="4992624" cy="2103120"/>
          </a:xfrm>
          <a:prstGeom prst="rect">
            <a:avLst/>
          </a:prstGeom>
          <a:ln w="12700">
            <a:solidFill>
              <a:srgbClr val="9DB6D8"/>
            </a:solidFill>
          </a:ln>
        </p:spPr>
      </p:pic>
      <p:sp>
        <p:nvSpPr>
          <p:cNvPr id="14" name="Card"/>
          <p:cNvSpPr/>
          <p:nvPr/>
        </p:nvSpPr>
        <p:spPr>
          <a:xfrm>
            <a:off x="6227064" y="1691640"/>
            <a:ext cx="5413248" cy="2240280"/>
          </a:xfrm>
          <a:prstGeom prst="roundRect">
            <a:avLst>
              <a:gd name="adj" fmla="val 5424"/>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pic>
        <p:nvPicPr>
          <p:cNvPr id="15" name="Image 1" descr="Icon: chat"/>
          <p:cNvPicPr>
            <a:picLocks noChangeAspect="1"/>
          </p:cNvPicPr>
          <p:nvPr/>
        </p:nvPicPr>
        <p:blipFill>
          <a:blip r:embed="rId5"/>
          <a:stretch>
            <a:fillRect/>
          </a:stretch>
        </p:blipFill>
        <p:spPr>
          <a:xfrm>
            <a:off x="6501384" y="1920240"/>
            <a:ext cx="594360" cy="594360"/>
          </a:xfrm>
          <a:prstGeom prst="rect">
            <a:avLst/>
          </a:prstGeom>
        </p:spPr>
      </p:pic>
      <p:sp>
        <p:nvSpPr>
          <p:cNvPr id="16" name="Text 12"/>
          <p:cNvSpPr txBox="1"/>
          <p:nvPr/>
        </p:nvSpPr>
        <p:spPr>
          <a:xfrm>
            <a:off x="7278624" y="2011680"/>
            <a:ext cx="4133088" cy="421640"/>
          </a:xfrm>
          <a:prstGeom prst="rect">
            <a:avLst/>
          </a:prstGeom>
          <a:noFill/>
          <a:ln/>
        </p:spPr>
        <p:txBody>
          <a:bodyPr wrap="square" lIns="0" tIns="0" rIns="0" bIns="0" rtlCol="0" anchor="t"/>
          <a:lstStyle/>
          <a:p>
            <a:pPr marL="0" indent="0">
              <a:buNone/>
            </a:pPr>
            <a:r>
              <a:rPr lang="en-US" sz="2600" dirty="0">
                <a:solidFill>
                  <a:srgbClr val="12315F"/>
                </a:solidFill>
                <a:latin typeface="Segoe UI Semibold"/>
              </a:rPr>
              <a:t>Built-in assistant</a:t>
            </a:r>
            <a:endParaRPr lang="en-US" sz="2600" dirty="0"/>
          </a:p>
        </p:txBody>
      </p:sp>
      <p:sp>
        <p:nvSpPr>
          <p:cNvPr id="17" name="Text 13"/>
          <p:cNvSpPr txBox="1"/>
          <p:nvPr/>
        </p:nvSpPr>
        <p:spPr>
          <a:xfrm>
            <a:off x="6501384" y="2615184"/>
            <a:ext cx="4864608" cy="778256"/>
          </a:xfrm>
          <a:prstGeom prst="rect">
            <a:avLst/>
          </a:prstGeom>
          <a:noFill/>
          <a:ln/>
        </p:spPr>
        <p:txBody>
          <a:bodyPr wrap="square" lIns="0" tIns="0" rIns="0" bIns="0" rtlCol="0" anchor="t"/>
          <a:lstStyle/>
          <a:p>
            <a:pPr marL="0" indent="0">
              <a:buNone/>
            </a:pPr>
            <a:r>
              <a:rPr lang="en-US" sz="1700" dirty="0">
                <a:solidFill>
                  <a:srgbClr val="14233C"/>
                </a:solidFill>
              </a:rPr>
              <a:t>A chat helper shows the customer's jobs and released reports, opens a new request or raises a ticket. It is rule-based, not an AI model.</a:t>
            </a:r>
            <a:endParaRPr lang="en-US" sz="1700" dirty="0"/>
          </a:p>
        </p:txBody>
      </p:sp>
      <p:sp>
        <p:nvSpPr>
          <p:cNvPr id="18" name="Pill: My jobs"/>
          <p:cNvSpPr txBox="1"/>
          <p:nvPr/>
        </p:nvSpPr>
        <p:spPr>
          <a:xfrm>
            <a:off x="6501384" y="3520440"/>
            <a:ext cx="1554480" cy="310896"/>
          </a:xfrm>
          <a:prstGeom prst="roundRect">
            <a:avLst>
              <a:gd name="adj" fmla="val 50000"/>
            </a:avLst>
          </a:prstGeom>
          <a:solidFill>
            <a:srgbClr val="EEF3FA"/>
          </a:solidFill>
          <a:ln w="6350">
            <a:solidFill>
              <a:srgbClr val="EEF3FA"/>
            </a:solidFill>
          </a:ln>
        </p:spPr>
        <p:txBody>
          <a:bodyPr wrap="square" lIns="0" tIns="0" rIns="0" bIns="0" rtlCol="0" anchor="ctr"/>
          <a:lstStyle/>
          <a:p>
            <a:pPr marL="0" indent="0" algn="ctr">
              <a:buNone/>
            </a:pPr>
            <a:r>
              <a:rPr lang="en-US" sz="1000" kern="0" spc="60" dirty="0">
                <a:solidFill>
                  <a:srgbClr val="56667F"/>
                </a:solidFill>
                <a:latin typeface="Segoe UI Semibold"/>
              </a:rPr>
              <a:t>My jobs</a:t>
            </a:r>
            <a:endParaRPr lang="en-US" sz="1000" dirty="0"/>
          </a:p>
        </p:txBody>
      </p:sp>
      <p:sp>
        <p:nvSpPr>
          <p:cNvPr id="19" name="Pill: New test request"/>
          <p:cNvSpPr txBox="1"/>
          <p:nvPr/>
        </p:nvSpPr>
        <p:spPr>
          <a:xfrm>
            <a:off x="8193024" y="3520440"/>
            <a:ext cx="1554480" cy="310896"/>
          </a:xfrm>
          <a:prstGeom prst="roundRect">
            <a:avLst>
              <a:gd name="adj" fmla="val 50000"/>
            </a:avLst>
          </a:prstGeom>
          <a:solidFill>
            <a:srgbClr val="EEF3FA"/>
          </a:solidFill>
          <a:ln w="6350">
            <a:solidFill>
              <a:srgbClr val="EEF3FA"/>
            </a:solidFill>
          </a:ln>
        </p:spPr>
        <p:txBody>
          <a:bodyPr wrap="square" lIns="0" tIns="0" rIns="0" bIns="0" rtlCol="0" anchor="ctr"/>
          <a:lstStyle/>
          <a:p>
            <a:pPr marL="0" indent="0" algn="ctr">
              <a:buNone/>
            </a:pPr>
            <a:r>
              <a:rPr lang="en-US" sz="1000" kern="0" spc="60" dirty="0">
                <a:solidFill>
                  <a:srgbClr val="56667F"/>
                </a:solidFill>
                <a:latin typeface="Segoe UI Semibold"/>
              </a:rPr>
              <a:t>New test request</a:t>
            </a:r>
            <a:endParaRPr lang="en-US" sz="1000" dirty="0"/>
          </a:p>
        </p:txBody>
      </p:sp>
      <p:sp>
        <p:nvSpPr>
          <p:cNvPr id="20" name="Pill: Raise a ticket"/>
          <p:cNvSpPr txBox="1"/>
          <p:nvPr/>
        </p:nvSpPr>
        <p:spPr>
          <a:xfrm>
            <a:off x="9884664" y="3520440"/>
            <a:ext cx="1554480" cy="310896"/>
          </a:xfrm>
          <a:prstGeom prst="roundRect">
            <a:avLst>
              <a:gd name="adj" fmla="val 50000"/>
            </a:avLst>
          </a:prstGeom>
          <a:solidFill>
            <a:srgbClr val="EEF3FA"/>
          </a:solidFill>
          <a:ln w="6350">
            <a:solidFill>
              <a:srgbClr val="EEF3FA"/>
            </a:solidFill>
          </a:ln>
        </p:spPr>
        <p:txBody>
          <a:bodyPr wrap="square" lIns="0" tIns="0" rIns="0" bIns="0" rtlCol="0" anchor="ctr"/>
          <a:lstStyle/>
          <a:p>
            <a:pPr marL="0" indent="0" algn="ctr">
              <a:buNone/>
            </a:pPr>
            <a:r>
              <a:rPr lang="en-US" sz="1000" kern="0" spc="60" dirty="0">
                <a:solidFill>
                  <a:srgbClr val="56667F"/>
                </a:solidFill>
                <a:latin typeface="Segoe UI Semibold"/>
              </a:rPr>
              <a:t>Raise a ticket</a:t>
            </a:r>
            <a:endParaRPr lang="en-US" sz="1000" dirty="0"/>
          </a:p>
        </p:txBody>
      </p:sp>
      <p:pic>
        <p:nvPicPr>
          <p:cNvPr id="1705" name="Screenshot: Assistant chat panel" descr="Screenshot of the Aletheia prototype: Assistant chat panel"/>
          <p:cNvPicPr>
            <a:picLocks noChangeAspect="1"/>
          </p:cNvPicPr>
          <p:nvPr/>
        </p:nvPicPr>
        <p:blipFill>
          <a:blip r:embed="rId6"/>
          <a:stretch>
            <a:fillRect/>
          </a:stretch>
        </p:blipFill>
        <p:spPr>
          <a:xfrm>
            <a:off x="7918704" y="4114800"/>
            <a:ext cx="2020824" cy="2103120"/>
          </a:xfrm>
          <a:prstGeom prst="rect">
            <a:avLst/>
          </a:prstGeom>
          <a:ln w="12700">
            <a:solidFill>
              <a:srgbClr val="9DB6D8"/>
            </a:solidFill>
          </a:ln>
        </p:spPr>
      </p:pic>
      <p:sp>
        <p:nvSpPr>
          <p:cNvPr id="25"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6667F"/>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503920" cy="1005840"/>
          </a:xfrm>
          <a:prstGeom prst="rect">
            <a:avLst/>
          </a:prstGeom>
          <a:noFill/>
          <a:ln/>
        </p:spPr>
        <p:txBody>
          <a:bodyPr wrap="square" lIns="0" tIns="0" rIns="0" bIns="0" rtlCol="0" anchor="t"/>
          <a:lstStyle/>
          <a:p>
            <a:pPr marL="0" indent="0" algn="l">
              <a:buNone/>
            </a:pPr>
            <a:r>
              <a:rPr lang="en-US" sz="2800" spc="-20" dirty="0">
                <a:solidFill>
                  <a:schemeClr val="tx2"/>
                </a:solidFill>
                <a:latin typeface="Segoe UI Semibold"/>
              </a:rPr>
              <a:t>A numbered, hashed PDF report is built from stored data in seconds</a:t>
            </a:r>
            <a:endParaRPr lang="en-US" sz="2800" dirty="0"/>
          </a:p>
        </p:txBody>
      </p:sp>
      <p:sp>
        <p:nvSpPr>
          <p:cNvPr id="3" name="Text 1"/>
          <p:cNvSpPr txBox="1"/>
          <p:nvPr/>
        </p:nvSpPr>
        <p:spPr>
          <a:xfrm>
            <a:off x="9082735" y="841248"/>
            <a:ext cx="2560320" cy="228600"/>
          </a:xfrm>
          <a:prstGeom prst="rect">
            <a:avLst/>
          </a:prstGeom>
          <a:noFill/>
          <a:ln/>
        </p:spPr>
        <p:txBody>
          <a:bodyPr wrap="square" lIns="0" tIns="0" rIns="0" bIns="0" rtlCol="0" anchor="t"/>
          <a:lstStyle/>
          <a:p>
            <a:pPr marL="0" indent="0" algn="r">
              <a:buNone/>
            </a:pPr>
            <a:r>
              <a:rPr lang="en-US" sz="1050" dirty="0">
                <a:solidFill>
                  <a:srgbClr val="56667F"/>
                </a:solidFill>
              </a:rPr>
              <a:t>Objective 1: Less time</a:t>
            </a:r>
            <a:endParaRPr lang="en-US" sz="1050" dirty="0"/>
          </a:p>
        </p:txBody>
      </p:sp>
      <p:sp>
        <p:nvSpPr>
          <p:cNvPr id="4" name="Pill: IMPROVED EFFICIENCY"/>
          <p:cNvSpPr txBox="1"/>
          <p:nvPr/>
        </p:nvSpPr>
        <p:spPr>
          <a:xfrm>
            <a:off x="9240012" y="457200"/>
            <a:ext cx="2403043" cy="329184"/>
          </a:xfrm>
          <a:prstGeom prst="roundRect">
            <a:avLst>
              <a:gd name="adj" fmla="val 50000"/>
            </a:avLst>
          </a:prstGeom>
          <a:solidFill>
            <a:srgbClr val="E2ECFA"/>
          </a:solidFill>
          <a:ln w="6350">
            <a:solidFill>
              <a:srgbClr val="E2ECFA"/>
            </a:solidFill>
          </a:ln>
        </p:spPr>
        <p:txBody>
          <a:bodyPr wrap="square" lIns="0" tIns="0" rIns="0" bIns="0" rtlCol="0" anchor="ctr"/>
          <a:lstStyle/>
          <a:p>
            <a:pPr marL="0" indent="0" algn="ctr">
              <a:buNone/>
            </a:pPr>
            <a:r>
              <a:rPr lang="en-US" sz="1100" kern="0" spc="60" dirty="0">
                <a:solidFill>
                  <a:srgbClr val="1C4F9C"/>
                </a:solidFill>
                <a:latin typeface="Segoe UI Semibold"/>
              </a:rPr>
              <a:t>IMPROVED EFFICIENCY</a:t>
            </a:r>
            <a:endParaRPr lang="en-US" sz="1100" dirty="0"/>
          </a:p>
        </p:txBody>
      </p:sp>
      <p:sp>
        <p:nvSpPr>
          <p:cNvPr id="5" name="Card"/>
          <p:cNvSpPr/>
          <p:nvPr/>
        </p:nvSpPr>
        <p:spPr>
          <a:xfrm>
            <a:off x="548640" y="1691640"/>
            <a:ext cx="3520440" cy="868680"/>
          </a:xfrm>
          <a:prstGeom prst="roundRect">
            <a:avLst>
              <a:gd name="adj" fmla="val 14737"/>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6" name="Text 4"/>
          <p:cNvSpPr txBox="1"/>
          <p:nvPr/>
        </p:nvSpPr>
        <p:spPr>
          <a:xfrm>
            <a:off x="548640" y="1691640"/>
            <a:ext cx="3520440" cy="868680"/>
          </a:xfrm>
          <a:prstGeom prst="rect">
            <a:avLst/>
          </a:prstGeom>
          <a:noFill/>
          <a:ln/>
        </p:spPr>
        <p:txBody>
          <a:bodyPr wrap="square" lIns="0" tIns="0" rIns="0" bIns="0" rtlCol="0" anchor="ctr"/>
          <a:lstStyle/>
          <a:p>
            <a:pPr marL="0" indent="0" algn="ctr">
              <a:buNone/>
            </a:pPr>
            <a:r>
              <a:rPr lang="en-US" sz="2200" dirty="0">
                <a:solidFill>
                  <a:srgbClr val="12315F"/>
                </a:solidFill>
                <a:latin typeface="Segoe UI Semibold"/>
              </a:rPr>
              <a:t>Stored data</a:t>
            </a:r>
            <a:endParaRPr lang="en-US" sz="2200" dirty="0"/>
          </a:p>
        </p:txBody>
      </p:sp>
      <p:sp>
        <p:nvSpPr>
          <p:cNvPr id="7" name="Flow arrow"/>
          <p:cNvSpPr/>
          <p:nvPr/>
        </p:nvSpPr>
        <p:spPr>
          <a:xfrm>
            <a:off x="4023360" y="1984248"/>
            <a:ext cx="356616" cy="292608"/>
          </a:xfrm>
          <a:prstGeom prst="rightArrow">
            <a:avLst/>
          </a:prstGeom>
          <a:solidFill>
            <a:srgbClr val="FFB35C"/>
          </a:solidFill>
          <a:ln w="12700">
            <a:solidFill>
              <a:srgbClr val="FFB35C"/>
            </a:solidFill>
            <a:prstDash val="solid"/>
          </a:ln>
        </p:spPr>
      </p:sp>
      <p:sp>
        <p:nvSpPr>
          <p:cNvPr id="8" name="Card"/>
          <p:cNvSpPr/>
          <p:nvPr/>
        </p:nvSpPr>
        <p:spPr>
          <a:xfrm>
            <a:off x="4334256" y="1691640"/>
            <a:ext cx="3520440" cy="868680"/>
          </a:xfrm>
          <a:prstGeom prst="roundRect">
            <a:avLst>
              <a:gd name="adj" fmla="val 14737"/>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9" name="Text 7"/>
          <p:cNvSpPr txBox="1"/>
          <p:nvPr/>
        </p:nvSpPr>
        <p:spPr>
          <a:xfrm>
            <a:off x="4334256" y="1691640"/>
            <a:ext cx="3520440" cy="868680"/>
          </a:xfrm>
          <a:prstGeom prst="rect">
            <a:avLst/>
          </a:prstGeom>
          <a:noFill/>
          <a:ln/>
        </p:spPr>
        <p:txBody>
          <a:bodyPr wrap="square" lIns="0" tIns="0" rIns="0" bIns="0" rtlCol="0" anchor="ctr"/>
          <a:lstStyle/>
          <a:p>
            <a:pPr marL="0" indent="0" algn="ctr">
              <a:buNone/>
            </a:pPr>
            <a:r>
              <a:rPr lang="en-US" sz="2200" dirty="0">
                <a:solidFill>
                  <a:srgbClr val="12315F"/>
                </a:solidFill>
                <a:latin typeface="Segoe UI Semibold"/>
              </a:rPr>
              <a:t>Template mapping</a:t>
            </a:r>
            <a:endParaRPr lang="en-US" sz="2200" dirty="0"/>
          </a:p>
        </p:txBody>
      </p:sp>
      <p:sp>
        <p:nvSpPr>
          <p:cNvPr id="10" name="Flow arrow"/>
          <p:cNvSpPr/>
          <p:nvPr/>
        </p:nvSpPr>
        <p:spPr>
          <a:xfrm>
            <a:off x="7808976" y="1984248"/>
            <a:ext cx="356616" cy="292608"/>
          </a:xfrm>
          <a:prstGeom prst="rightArrow">
            <a:avLst/>
          </a:prstGeom>
          <a:solidFill>
            <a:srgbClr val="FFB35C"/>
          </a:solidFill>
          <a:ln w="12700">
            <a:solidFill>
              <a:srgbClr val="FFB35C"/>
            </a:solidFill>
            <a:prstDash val="solid"/>
          </a:ln>
        </p:spPr>
      </p:sp>
      <p:sp>
        <p:nvSpPr>
          <p:cNvPr id="11" name="Card"/>
          <p:cNvSpPr/>
          <p:nvPr/>
        </p:nvSpPr>
        <p:spPr>
          <a:xfrm>
            <a:off x="8119872" y="1691640"/>
            <a:ext cx="3520440" cy="868680"/>
          </a:xfrm>
          <a:prstGeom prst="roundRect">
            <a:avLst>
              <a:gd name="adj" fmla="val 14737"/>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12" name="Text 10"/>
          <p:cNvSpPr txBox="1"/>
          <p:nvPr/>
        </p:nvSpPr>
        <p:spPr>
          <a:xfrm>
            <a:off x="8119872" y="1691640"/>
            <a:ext cx="3520440" cy="868680"/>
          </a:xfrm>
          <a:prstGeom prst="rect">
            <a:avLst/>
          </a:prstGeom>
          <a:noFill/>
          <a:ln/>
        </p:spPr>
        <p:txBody>
          <a:bodyPr wrap="square" lIns="0" tIns="0" rIns="0" bIns="0" rtlCol="0" anchor="ctr"/>
          <a:lstStyle/>
          <a:p>
            <a:pPr marL="0" indent="0" algn="ctr">
              <a:buNone/>
            </a:pPr>
            <a:r>
              <a:rPr lang="en-US" sz="2200" dirty="0">
                <a:solidFill>
                  <a:srgbClr val="12315F"/>
                </a:solidFill>
                <a:latin typeface="Segoe UI Semibold"/>
              </a:rPr>
              <a:t>Numbered, hashed PDF</a:t>
            </a:r>
            <a:endParaRPr lang="en-US" sz="2200" dirty="0"/>
          </a:p>
        </p:txBody>
      </p:sp>
      <p:sp>
        <p:nvSpPr>
          <p:cNvPr id="13" name="Stat tile"/>
          <p:cNvSpPr/>
          <p:nvPr/>
        </p:nvSpPr>
        <p:spPr>
          <a:xfrm>
            <a:off x="548640" y="2926080"/>
            <a:ext cx="3520440" cy="3063240"/>
          </a:xfrm>
          <a:prstGeom prst="roundRect">
            <a:avLst>
              <a:gd name="adj" fmla="val 5373"/>
            </a:avLst>
          </a:prstGeom>
          <a:solidFill>
            <a:srgbClr val="0B2347"/>
          </a:solidFill>
          <a:ln w="12700">
            <a:solidFill>
              <a:srgbClr val="0B2347"/>
            </a:solidFill>
            <a:prstDash val="solid"/>
          </a:ln>
          <a:effectLst>
            <a:outerShdw blurRad="127000" dist="25400" dir="5400000" algn="bl" rotWithShape="0">
              <a:srgbClr val="0B2347">
                <a:alpha val="10000"/>
              </a:srgbClr>
            </a:outerShdw>
          </a:effectLst>
        </p:spPr>
        <p:txBody>
          <a:bodyPr/>
          <a:lstStyle/>
          <a:p>
            <a:endParaRPr lang="en-US"/>
          </a:p>
        </p:txBody>
      </p:sp>
      <p:sp>
        <p:nvSpPr>
          <p:cNvPr id="14" name="Text 12"/>
          <p:cNvSpPr txBox="1"/>
          <p:nvPr/>
        </p:nvSpPr>
        <p:spPr>
          <a:xfrm>
            <a:off x="914400" y="3246120"/>
            <a:ext cx="2834640" cy="320040"/>
          </a:xfrm>
          <a:prstGeom prst="rect">
            <a:avLst/>
          </a:prstGeom>
          <a:noFill/>
          <a:ln/>
        </p:spPr>
        <p:txBody>
          <a:bodyPr wrap="square" lIns="0" tIns="0" rIns="0" bIns="0" rtlCol="0" anchor="t"/>
          <a:lstStyle/>
          <a:p>
            <a:pPr marL="0" indent="0">
              <a:buNone/>
            </a:pPr>
            <a:r>
              <a:rPr lang="en-US" sz="2100" dirty="0">
                <a:solidFill>
                  <a:srgbClr val="CFE0F7"/>
                </a:solidFill>
                <a:latin typeface="Segoe UI Semibold"/>
              </a:rPr>
              <a:t>Manual</a:t>
            </a:r>
            <a:endParaRPr lang="en-US" sz="2100" dirty="0"/>
          </a:p>
        </p:txBody>
      </p:sp>
      <p:sp>
        <p:nvSpPr>
          <p:cNvPr id="15" name="Text 13"/>
          <p:cNvSpPr txBox="1"/>
          <p:nvPr/>
        </p:nvSpPr>
        <p:spPr>
          <a:xfrm>
            <a:off x="914400" y="3794760"/>
            <a:ext cx="2834640" cy="1051560"/>
          </a:xfrm>
          <a:prstGeom prst="rect">
            <a:avLst/>
          </a:prstGeom>
          <a:noFill/>
          <a:ln/>
        </p:spPr>
        <p:txBody>
          <a:bodyPr wrap="square" lIns="0" tIns="0" rIns="0" bIns="0" rtlCol="0" anchor="t"/>
          <a:lstStyle/>
          <a:p>
            <a:pPr marL="0" indent="0">
              <a:buNone/>
            </a:pPr>
            <a:r>
              <a:rPr lang="en-US" sz="5700" dirty="0">
                <a:solidFill>
                  <a:srgbClr val="FFFFFF"/>
                </a:solidFill>
                <a:latin typeface="Segoe UI Semibold"/>
              </a:rPr>
              <a:t>By hand</a:t>
            </a:r>
            <a:endParaRPr lang="en-US" sz="5700" dirty="0"/>
          </a:p>
        </p:txBody>
      </p:sp>
      <p:sp>
        <p:nvSpPr>
          <p:cNvPr id="16" name="Text 14"/>
          <p:cNvSpPr txBox="1"/>
          <p:nvPr/>
        </p:nvSpPr>
        <p:spPr>
          <a:xfrm>
            <a:off x="914400" y="5074920"/>
            <a:ext cx="2834640" cy="640080"/>
          </a:xfrm>
          <a:prstGeom prst="rect">
            <a:avLst/>
          </a:prstGeom>
          <a:noFill/>
          <a:ln/>
        </p:spPr>
        <p:txBody>
          <a:bodyPr wrap="square" lIns="0" tIns="0" rIns="0" bIns="0" rtlCol="0" anchor="t"/>
          <a:lstStyle/>
          <a:p>
            <a:pPr marL="0" indent="0">
              <a:buNone/>
            </a:pPr>
            <a:r>
              <a:rPr lang="en-US" sz="1400" dirty="0">
                <a:solidFill>
                  <a:srgbClr val="CFE0F7"/>
                </a:solidFill>
              </a:rPr>
              <a:t>Every value retyped into the report</a:t>
            </a:r>
            <a:endParaRPr lang="en-US" sz="1400" dirty="0"/>
          </a:p>
        </p:txBody>
      </p:sp>
      <p:sp>
        <p:nvSpPr>
          <p:cNvPr id="17" name="Stat tile"/>
          <p:cNvSpPr/>
          <p:nvPr/>
        </p:nvSpPr>
        <p:spPr>
          <a:xfrm>
            <a:off x="4334256" y="2926080"/>
            <a:ext cx="3520440" cy="3063240"/>
          </a:xfrm>
          <a:prstGeom prst="roundRect">
            <a:avLst>
              <a:gd name="adj" fmla="val 5373"/>
            </a:avLst>
          </a:prstGeom>
          <a:solidFill>
            <a:srgbClr val="0B2347"/>
          </a:solidFill>
          <a:ln w="12700">
            <a:solidFill>
              <a:srgbClr val="0B2347"/>
            </a:solidFill>
            <a:prstDash val="solid"/>
          </a:ln>
          <a:effectLst>
            <a:outerShdw blurRad="127000" dist="25400" dir="5400000" algn="bl" rotWithShape="0">
              <a:srgbClr val="0B2347">
                <a:alpha val="10000"/>
              </a:srgbClr>
            </a:outerShdw>
          </a:effectLst>
        </p:spPr>
        <p:txBody>
          <a:bodyPr/>
          <a:lstStyle/>
          <a:p>
            <a:endParaRPr lang="en-US"/>
          </a:p>
        </p:txBody>
      </p:sp>
      <p:sp>
        <p:nvSpPr>
          <p:cNvPr id="18" name="Text 16"/>
          <p:cNvSpPr txBox="1"/>
          <p:nvPr/>
        </p:nvSpPr>
        <p:spPr>
          <a:xfrm>
            <a:off x="4700016" y="3246120"/>
            <a:ext cx="2834640" cy="320040"/>
          </a:xfrm>
          <a:prstGeom prst="rect">
            <a:avLst/>
          </a:prstGeom>
          <a:noFill/>
          <a:ln/>
        </p:spPr>
        <p:txBody>
          <a:bodyPr wrap="square" lIns="0" tIns="0" rIns="0" bIns="0" rtlCol="0" anchor="t"/>
          <a:lstStyle/>
          <a:p>
            <a:pPr marL="0" indent="0">
              <a:buNone/>
            </a:pPr>
            <a:r>
              <a:rPr lang="en-US" sz="2100" dirty="0">
                <a:solidFill>
                  <a:srgbClr val="CFE0F7"/>
                </a:solidFill>
                <a:latin typeface="Segoe UI Semibold"/>
              </a:rPr>
              <a:t>Aletheia</a:t>
            </a:r>
            <a:endParaRPr lang="en-US" sz="2100" dirty="0"/>
          </a:p>
        </p:txBody>
      </p:sp>
      <p:sp>
        <p:nvSpPr>
          <p:cNvPr id="19" name="Text 17"/>
          <p:cNvSpPr txBox="1"/>
          <p:nvPr/>
        </p:nvSpPr>
        <p:spPr>
          <a:xfrm>
            <a:off x="4700016" y="3794760"/>
            <a:ext cx="2834640" cy="1051560"/>
          </a:xfrm>
          <a:prstGeom prst="rect">
            <a:avLst/>
          </a:prstGeom>
          <a:noFill/>
          <a:ln/>
        </p:spPr>
        <p:txBody>
          <a:bodyPr wrap="square" lIns="0" tIns="0" rIns="0" bIns="0" rtlCol="0" anchor="t"/>
          <a:lstStyle/>
          <a:p>
            <a:pPr marL="0" indent="0">
              <a:buNone/>
            </a:pPr>
            <a:r>
              <a:rPr lang="en-US" sz="5700" dirty="0">
                <a:solidFill>
                  <a:srgbClr val="FFFFFF"/>
                </a:solidFill>
                <a:latin typeface="Segoe UI Semibold"/>
              </a:rPr>
              <a:t>0.4</a:t>
            </a:r>
            <a:endParaRPr lang="en-US" sz="5700" dirty="0"/>
          </a:p>
        </p:txBody>
      </p:sp>
      <p:sp>
        <p:nvSpPr>
          <p:cNvPr id="20" name="Text 18"/>
          <p:cNvSpPr txBox="1"/>
          <p:nvPr/>
        </p:nvSpPr>
        <p:spPr>
          <a:xfrm>
            <a:off x="4700016" y="5074920"/>
            <a:ext cx="2834640" cy="640080"/>
          </a:xfrm>
          <a:prstGeom prst="rect">
            <a:avLst/>
          </a:prstGeom>
          <a:noFill/>
          <a:ln/>
        </p:spPr>
        <p:txBody>
          <a:bodyPr wrap="square" lIns="0" tIns="0" rIns="0" bIns="0" rtlCol="0" anchor="t"/>
          <a:lstStyle/>
          <a:p>
            <a:pPr marL="0" indent="0">
              <a:buNone/>
            </a:pPr>
            <a:r>
              <a:rPr lang="en-US" sz="1400" dirty="0">
                <a:solidFill>
                  <a:srgbClr val="CFE0F7"/>
                </a:solidFill>
              </a:rPr>
              <a:t>Seconds to build the PDF</a:t>
            </a:r>
            <a:endParaRPr lang="en-US" sz="1400" dirty="0"/>
          </a:p>
        </p:txBody>
      </p:sp>
      <p:sp>
        <p:nvSpPr>
          <p:cNvPr id="21" name="Stat tile"/>
          <p:cNvSpPr/>
          <p:nvPr/>
        </p:nvSpPr>
        <p:spPr>
          <a:xfrm>
            <a:off x="8119872" y="2926080"/>
            <a:ext cx="3520440" cy="3063240"/>
          </a:xfrm>
          <a:prstGeom prst="roundRect">
            <a:avLst>
              <a:gd name="adj" fmla="val 5373"/>
            </a:avLst>
          </a:prstGeom>
          <a:solidFill>
            <a:srgbClr val="0B2347"/>
          </a:solidFill>
          <a:ln w="12700">
            <a:solidFill>
              <a:srgbClr val="0B2347"/>
            </a:solidFill>
            <a:prstDash val="solid"/>
          </a:ln>
          <a:effectLst>
            <a:outerShdw blurRad="127000" dist="25400" dir="5400000" algn="bl" rotWithShape="0">
              <a:srgbClr val="0B2347">
                <a:alpha val="10000"/>
              </a:srgbClr>
            </a:outerShdw>
          </a:effectLst>
        </p:spPr>
        <p:txBody>
          <a:bodyPr/>
          <a:lstStyle/>
          <a:p>
            <a:endParaRPr lang="en-US"/>
          </a:p>
        </p:txBody>
      </p:sp>
      <p:sp>
        <p:nvSpPr>
          <p:cNvPr id="22" name="Text 20"/>
          <p:cNvSpPr txBox="1"/>
          <p:nvPr/>
        </p:nvSpPr>
        <p:spPr>
          <a:xfrm>
            <a:off x="8485632" y="3246120"/>
            <a:ext cx="2834640" cy="320040"/>
          </a:xfrm>
          <a:prstGeom prst="rect">
            <a:avLst/>
          </a:prstGeom>
          <a:noFill/>
          <a:ln/>
        </p:spPr>
        <p:txBody>
          <a:bodyPr wrap="square" lIns="0" tIns="0" rIns="0" bIns="0" rtlCol="0" anchor="t"/>
          <a:lstStyle/>
          <a:p>
            <a:pPr marL="0" indent="0">
              <a:buNone/>
            </a:pPr>
            <a:r>
              <a:rPr lang="en-US" sz="2100" dirty="0">
                <a:solidFill>
                  <a:srgbClr val="CFE0F7"/>
                </a:solidFill>
                <a:latin typeface="Segoe UI Semibold"/>
              </a:rPr>
              <a:t>Fields typed by hand</a:t>
            </a:r>
            <a:endParaRPr lang="en-US" sz="2100" dirty="0"/>
          </a:p>
        </p:txBody>
      </p:sp>
      <p:sp>
        <p:nvSpPr>
          <p:cNvPr id="23" name="Text 21"/>
          <p:cNvSpPr txBox="1"/>
          <p:nvPr/>
        </p:nvSpPr>
        <p:spPr>
          <a:xfrm>
            <a:off x="8485632" y="3794760"/>
            <a:ext cx="2834640" cy="1051560"/>
          </a:xfrm>
          <a:prstGeom prst="rect">
            <a:avLst/>
          </a:prstGeom>
          <a:noFill/>
          <a:ln/>
        </p:spPr>
        <p:txBody>
          <a:bodyPr wrap="square" lIns="0" tIns="0" rIns="0" bIns="0" rtlCol="0" anchor="t"/>
          <a:lstStyle/>
          <a:p>
            <a:pPr marL="0" indent="0">
              <a:buNone/>
            </a:pPr>
            <a:r>
              <a:rPr lang="en-US" sz="4700" dirty="0">
                <a:solidFill>
                  <a:srgbClr val="FFFFFF"/>
                </a:solidFill>
                <a:latin typeface="Segoe UI Semibold"/>
              </a:rPr>
              <a:t>514 to 0</a:t>
            </a:r>
            <a:endParaRPr lang="en-US" sz="4700" dirty="0"/>
          </a:p>
        </p:txBody>
      </p:sp>
      <p:sp>
        <p:nvSpPr>
          <p:cNvPr id="24" name="Text 22"/>
          <p:cNvSpPr txBox="1"/>
          <p:nvPr/>
        </p:nvSpPr>
        <p:spPr>
          <a:xfrm>
            <a:off x="8485632" y="5074920"/>
            <a:ext cx="2834640" cy="640080"/>
          </a:xfrm>
          <a:prstGeom prst="rect">
            <a:avLst/>
          </a:prstGeom>
          <a:noFill/>
          <a:ln/>
        </p:spPr>
        <p:txBody>
          <a:bodyPr wrap="square" lIns="0" tIns="0" rIns="0" bIns="0" rtlCol="0" anchor="t"/>
          <a:lstStyle/>
          <a:p>
            <a:pPr marL="0" indent="0">
              <a:buNone/>
            </a:pPr>
            <a:r>
              <a:rPr lang="en-US" sz="1400" dirty="0">
                <a:solidFill>
                  <a:srgbClr val="CFE0F7"/>
                </a:solidFill>
              </a:rPr>
              <a:t>Re-keyed</a:t>
            </a:r>
            <a:endParaRPr lang="en-US" sz="1400" dirty="0"/>
          </a:p>
        </p:txBody>
      </p:sp>
      <p:sp>
        <p:nvSpPr>
          <p:cNvPr id="25"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6667F"/>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503920" cy="1005840"/>
          </a:xfrm>
          <a:prstGeom prst="rect">
            <a:avLst/>
          </a:prstGeom>
          <a:noFill/>
          <a:ln/>
        </p:spPr>
        <p:txBody>
          <a:bodyPr wrap="square" lIns="0" tIns="0" rIns="0" bIns="0" rtlCol="0" anchor="t"/>
          <a:lstStyle/>
          <a:p>
            <a:pPr marL="0" indent="0" algn="l">
              <a:buNone/>
            </a:pPr>
            <a:r>
              <a:rPr lang="en-US" sz="2800" spc="-20" dirty="0">
                <a:solidFill>
                  <a:schemeClr val="tx2"/>
                </a:solidFill>
                <a:latin typeface="Segoe UI Semibold"/>
              </a:rPr>
              <a:t>Testers verify, admins approve, and no report is built until every test is checked</a:t>
            </a:r>
            <a:endParaRPr lang="en-US" sz="2800" dirty="0"/>
          </a:p>
        </p:txBody>
      </p:sp>
      <p:sp>
        <p:nvSpPr>
          <p:cNvPr id="3" name="Text 1"/>
          <p:cNvSpPr txBox="1"/>
          <p:nvPr/>
        </p:nvSpPr>
        <p:spPr>
          <a:xfrm>
            <a:off x="9082735" y="841248"/>
            <a:ext cx="2560320" cy="228600"/>
          </a:xfrm>
          <a:prstGeom prst="rect">
            <a:avLst/>
          </a:prstGeom>
          <a:noFill/>
          <a:ln/>
        </p:spPr>
        <p:txBody>
          <a:bodyPr wrap="square" lIns="0" tIns="0" rIns="0" bIns="0" rtlCol="0" anchor="t"/>
          <a:lstStyle/>
          <a:p>
            <a:pPr marL="0" indent="0" algn="r">
              <a:buNone/>
            </a:pPr>
            <a:r>
              <a:rPr lang="en-US" sz="1050" dirty="0">
                <a:solidFill>
                  <a:srgbClr val="56667F"/>
                </a:solidFill>
              </a:rPr>
              <a:t>Objective 2: Fewer errors</a:t>
            </a:r>
            <a:endParaRPr lang="en-US" sz="1050" dirty="0"/>
          </a:p>
        </p:txBody>
      </p:sp>
      <p:sp>
        <p:nvSpPr>
          <p:cNvPr id="4" name="Pill: HIGH INTEGRITY"/>
          <p:cNvSpPr txBox="1"/>
          <p:nvPr/>
        </p:nvSpPr>
        <p:spPr>
          <a:xfrm>
            <a:off x="9752076" y="457200"/>
            <a:ext cx="1890979" cy="329184"/>
          </a:xfrm>
          <a:prstGeom prst="roundRect">
            <a:avLst>
              <a:gd name="adj" fmla="val 50000"/>
            </a:avLst>
          </a:prstGeom>
          <a:solidFill>
            <a:srgbClr val="E1F4EA"/>
          </a:solidFill>
          <a:ln w="6350">
            <a:solidFill>
              <a:srgbClr val="E1F4EA"/>
            </a:solidFill>
          </a:ln>
        </p:spPr>
        <p:txBody>
          <a:bodyPr wrap="square" lIns="0" tIns="0" rIns="0" bIns="0" rtlCol="0" anchor="ctr"/>
          <a:lstStyle/>
          <a:p>
            <a:pPr marL="0" indent="0" algn="ctr">
              <a:buNone/>
            </a:pPr>
            <a:r>
              <a:rPr lang="en-US" sz="1100" kern="0" spc="60" dirty="0">
                <a:solidFill>
                  <a:srgbClr val="14804A"/>
                </a:solidFill>
                <a:latin typeface="Segoe UI Semibold"/>
              </a:rPr>
              <a:t>HIGH INTEGRITY</a:t>
            </a:r>
            <a:endParaRPr lang="en-US" sz="1100" dirty="0"/>
          </a:p>
        </p:txBody>
      </p:sp>
      <p:sp>
        <p:nvSpPr>
          <p:cNvPr id="5" name="Role Tester"/>
          <p:cNvSpPr txBox="1"/>
          <p:nvPr/>
        </p:nvSpPr>
        <p:spPr>
          <a:xfrm>
            <a:off x="548640" y="1691640"/>
            <a:ext cx="1554480" cy="1737360"/>
          </a:xfrm>
          <a:prstGeom prst="roundRect">
            <a:avLst>
              <a:gd name="adj" fmla="val 8235"/>
            </a:avLst>
          </a:prstGeom>
          <a:solidFill>
            <a:srgbClr val="0B2347"/>
          </a:solidFill>
          <a:ln>
            <a:solidFill>
              <a:srgbClr val="0B2347"/>
            </a:solidFill>
          </a:ln>
        </p:spPr>
        <p:txBody>
          <a:bodyPr wrap="square" lIns="0" tIns="0" rIns="0" bIns="0" rtlCol="0" anchor="ctr"/>
          <a:lstStyle/>
          <a:p>
            <a:pPr marL="0" indent="0" algn="ctr">
              <a:buNone/>
            </a:pPr>
            <a:r>
              <a:rPr lang="en-US" sz="2350" dirty="0">
                <a:solidFill>
                  <a:srgbClr val="FFFFFF"/>
                </a:solidFill>
                <a:latin typeface="Segoe UI Semibold"/>
              </a:rPr>
              <a:t>Tester</a:t>
            </a:r>
            <a:endParaRPr lang="en-US" sz="2350" dirty="0"/>
          </a:p>
        </p:txBody>
      </p:sp>
      <p:sp>
        <p:nvSpPr>
          <p:cNvPr id="6" name="Connector"/>
          <p:cNvSpPr/>
          <p:nvPr/>
        </p:nvSpPr>
        <p:spPr>
          <a:xfrm>
            <a:off x="2103120" y="2011680"/>
            <a:ext cx="548640" cy="0"/>
          </a:xfrm>
          <a:prstGeom prst="line">
            <a:avLst/>
          </a:prstGeom>
          <a:noFill/>
          <a:ln w="25400">
            <a:solidFill>
              <a:srgbClr val="1C4F9C"/>
            </a:solidFill>
            <a:prstDash val="solid"/>
            <a:tailEnd type="triangle"/>
          </a:ln>
        </p:spPr>
        <p:txBody>
          <a:bodyPr/>
          <a:lstStyle/>
          <a:p>
            <a:endParaRPr lang="en-US"/>
          </a:p>
        </p:txBody>
      </p:sp>
      <p:sp>
        <p:nvSpPr>
          <p:cNvPr id="7" name="Card"/>
          <p:cNvSpPr/>
          <p:nvPr/>
        </p:nvSpPr>
        <p:spPr>
          <a:xfrm>
            <a:off x="2651760" y="1691640"/>
            <a:ext cx="3566160" cy="640080"/>
          </a:xfrm>
          <a:prstGeom prst="roundRect">
            <a:avLst>
              <a:gd name="adj" fmla="val 17143"/>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8" name="Text 6"/>
          <p:cNvSpPr txBox="1"/>
          <p:nvPr/>
        </p:nvSpPr>
        <p:spPr>
          <a:xfrm>
            <a:off x="2834640" y="1691640"/>
            <a:ext cx="3246120" cy="640080"/>
          </a:xfrm>
          <a:prstGeom prst="rect">
            <a:avLst/>
          </a:prstGeom>
          <a:noFill/>
          <a:ln/>
        </p:spPr>
        <p:txBody>
          <a:bodyPr wrap="square" lIns="0" tIns="0" rIns="0" bIns="0" rtlCol="0" anchor="ctr"/>
          <a:lstStyle/>
          <a:p>
            <a:pPr marL="0" indent="0">
              <a:buNone/>
            </a:pPr>
            <a:r>
              <a:rPr lang="en-US" sz="1550" dirty="0">
                <a:solidFill>
                  <a:srgbClr val="12315F"/>
                </a:solidFill>
                <a:latin typeface="Segoe UI Semibold"/>
              </a:rPr>
              <a:t>Upload the logsheet</a:t>
            </a:r>
            <a:endParaRPr lang="en-US" sz="1550" dirty="0"/>
          </a:p>
        </p:txBody>
      </p:sp>
      <p:sp>
        <p:nvSpPr>
          <p:cNvPr id="9" name="Connector"/>
          <p:cNvSpPr/>
          <p:nvPr/>
        </p:nvSpPr>
        <p:spPr>
          <a:xfrm>
            <a:off x="2103120" y="3108960"/>
            <a:ext cx="548640" cy="0"/>
          </a:xfrm>
          <a:prstGeom prst="line">
            <a:avLst/>
          </a:prstGeom>
          <a:noFill/>
          <a:ln w="25400">
            <a:solidFill>
              <a:srgbClr val="1C4F9C"/>
            </a:solidFill>
            <a:prstDash val="solid"/>
            <a:tailEnd type="triangle"/>
          </a:ln>
        </p:spPr>
        <p:txBody>
          <a:bodyPr/>
          <a:lstStyle/>
          <a:p>
            <a:endParaRPr lang="en-US"/>
          </a:p>
        </p:txBody>
      </p:sp>
      <p:sp>
        <p:nvSpPr>
          <p:cNvPr id="10" name="Card"/>
          <p:cNvSpPr/>
          <p:nvPr/>
        </p:nvSpPr>
        <p:spPr>
          <a:xfrm>
            <a:off x="2651760" y="2788920"/>
            <a:ext cx="3566160" cy="640080"/>
          </a:xfrm>
          <a:prstGeom prst="roundRect">
            <a:avLst>
              <a:gd name="adj" fmla="val 17143"/>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11" name="Text 9"/>
          <p:cNvSpPr txBox="1"/>
          <p:nvPr/>
        </p:nvSpPr>
        <p:spPr>
          <a:xfrm>
            <a:off x="2834640" y="2788920"/>
            <a:ext cx="3246120" cy="640080"/>
          </a:xfrm>
          <a:prstGeom prst="rect">
            <a:avLst/>
          </a:prstGeom>
          <a:noFill/>
          <a:ln/>
        </p:spPr>
        <p:txBody>
          <a:bodyPr wrap="square" lIns="0" tIns="0" rIns="0" bIns="0" rtlCol="0" anchor="ctr"/>
          <a:lstStyle/>
          <a:p>
            <a:pPr marL="0" indent="0">
              <a:buNone/>
            </a:pPr>
            <a:r>
              <a:rPr lang="en-US" sz="1550" dirty="0">
                <a:solidFill>
                  <a:srgbClr val="12315F"/>
                </a:solidFill>
                <a:latin typeface="Segoe UI Semibold"/>
              </a:rPr>
              <a:t>Verify, return or mark N/A</a:t>
            </a:r>
            <a:endParaRPr lang="en-US" sz="1550" dirty="0"/>
          </a:p>
        </p:txBody>
      </p:sp>
      <p:sp>
        <p:nvSpPr>
          <p:cNvPr id="12" name="Role Admin"/>
          <p:cNvSpPr txBox="1"/>
          <p:nvPr/>
        </p:nvSpPr>
        <p:spPr>
          <a:xfrm>
            <a:off x="548640" y="3749040"/>
            <a:ext cx="1554480" cy="1737360"/>
          </a:xfrm>
          <a:prstGeom prst="roundRect">
            <a:avLst>
              <a:gd name="adj" fmla="val 8235"/>
            </a:avLst>
          </a:prstGeom>
          <a:solidFill>
            <a:srgbClr val="0B2347"/>
          </a:solidFill>
          <a:ln>
            <a:solidFill>
              <a:srgbClr val="0B2347"/>
            </a:solidFill>
          </a:ln>
        </p:spPr>
        <p:txBody>
          <a:bodyPr wrap="square" lIns="0" tIns="0" rIns="0" bIns="0" rtlCol="0" anchor="ctr"/>
          <a:lstStyle/>
          <a:p>
            <a:pPr marL="0" indent="0" algn="ctr">
              <a:buNone/>
            </a:pPr>
            <a:r>
              <a:rPr lang="en-US" sz="2350" dirty="0">
                <a:solidFill>
                  <a:srgbClr val="FFFFFF"/>
                </a:solidFill>
                <a:latin typeface="Segoe UI Semibold"/>
              </a:rPr>
              <a:t>Admin</a:t>
            </a:r>
            <a:endParaRPr lang="en-US" sz="2350" dirty="0"/>
          </a:p>
        </p:txBody>
      </p:sp>
      <p:sp>
        <p:nvSpPr>
          <p:cNvPr id="13" name="Connector"/>
          <p:cNvSpPr/>
          <p:nvPr/>
        </p:nvSpPr>
        <p:spPr>
          <a:xfrm>
            <a:off x="2103120" y="4069080"/>
            <a:ext cx="548640" cy="0"/>
          </a:xfrm>
          <a:prstGeom prst="line">
            <a:avLst/>
          </a:prstGeom>
          <a:noFill/>
          <a:ln w="25400">
            <a:solidFill>
              <a:srgbClr val="1C4F9C"/>
            </a:solidFill>
            <a:prstDash val="solid"/>
            <a:tailEnd type="triangle"/>
          </a:ln>
        </p:spPr>
        <p:txBody>
          <a:bodyPr/>
          <a:lstStyle/>
          <a:p>
            <a:endParaRPr lang="en-US"/>
          </a:p>
        </p:txBody>
      </p:sp>
      <p:sp>
        <p:nvSpPr>
          <p:cNvPr id="14" name="Card"/>
          <p:cNvSpPr/>
          <p:nvPr/>
        </p:nvSpPr>
        <p:spPr>
          <a:xfrm>
            <a:off x="2651760" y="3749040"/>
            <a:ext cx="3566160" cy="640080"/>
          </a:xfrm>
          <a:prstGeom prst="roundRect">
            <a:avLst>
              <a:gd name="adj" fmla="val 17143"/>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15" name="Text 13"/>
          <p:cNvSpPr txBox="1"/>
          <p:nvPr/>
        </p:nvSpPr>
        <p:spPr>
          <a:xfrm>
            <a:off x="2834640" y="3749040"/>
            <a:ext cx="3246120" cy="640080"/>
          </a:xfrm>
          <a:prstGeom prst="rect">
            <a:avLst/>
          </a:prstGeom>
          <a:noFill/>
          <a:ln/>
        </p:spPr>
        <p:txBody>
          <a:bodyPr wrap="square" lIns="0" tIns="0" rIns="0" bIns="0" rtlCol="0" anchor="ctr"/>
          <a:lstStyle/>
          <a:p>
            <a:pPr marL="0" indent="0">
              <a:buNone/>
            </a:pPr>
            <a:r>
              <a:rPr lang="en-US" sz="1550" dirty="0">
                <a:solidFill>
                  <a:srgbClr val="12315F"/>
                </a:solidFill>
                <a:latin typeface="Segoe UI Semibold"/>
              </a:rPr>
              <a:t>Approve, generate, sign off</a:t>
            </a:r>
            <a:endParaRPr lang="en-US" sz="1550" dirty="0"/>
          </a:p>
        </p:txBody>
      </p:sp>
      <p:sp>
        <p:nvSpPr>
          <p:cNvPr id="16" name="Connector"/>
          <p:cNvSpPr/>
          <p:nvPr/>
        </p:nvSpPr>
        <p:spPr>
          <a:xfrm>
            <a:off x="2103120" y="5166360"/>
            <a:ext cx="548640" cy="0"/>
          </a:xfrm>
          <a:prstGeom prst="line">
            <a:avLst/>
          </a:prstGeom>
          <a:noFill/>
          <a:ln w="25400">
            <a:solidFill>
              <a:srgbClr val="C62828"/>
            </a:solidFill>
            <a:prstDash val="dash"/>
          </a:ln>
        </p:spPr>
        <p:txBody>
          <a:bodyPr/>
          <a:lstStyle/>
          <a:p>
            <a:endParaRPr lang="en-US"/>
          </a:p>
        </p:txBody>
      </p:sp>
      <p:sp>
        <p:nvSpPr>
          <p:cNvPr id="17" name="Card"/>
          <p:cNvSpPr/>
          <p:nvPr/>
        </p:nvSpPr>
        <p:spPr>
          <a:xfrm>
            <a:off x="2651760" y="4846320"/>
            <a:ext cx="3566160" cy="640080"/>
          </a:xfrm>
          <a:prstGeom prst="roundRect">
            <a:avLst>
              <a:gd name="adj" fmla="val 17143"/>
            </a:avLst>
          </a:prstGeom>
          <a:solidFill>
            <a:srgbClr val="FDE7E7"/>
          </a:solidFill>
          <a:ln w="12700">
            <a:solidFill>
              <a:srgbClr val="C62828"/>
            </a:solidFill>
            <a:prstDash val="dash"/>
          </a:ln>
        </p:spPr>
        <p:txBody>
          <a:bodyPr/>
          <a:lstStyle/>
          <a:p>
            <a:endParaRPr lang="en-US"/>
          </a:p>
        </p:txBody>
      </p:sp>
      <p:sp>
        <p:nvSpPr>
          <p:cNvPr id="18" name="Text 16"/>
          <p:cNvSpPr txBox="1"/>
          <p:nvPr/>
        </p:nvSpPr>
        <p:spPr>
          <a:xfrm>
            <a:off x="2834640" y="4846320"/>
            <a:ext cx="2468880" cy="640080"/>
          </a:xfrm>
          <a:prstGeom prst="rect">
            <a:avLst/>
          </a:prstGeom>
          <a:noFill/>
          <a:ln/>
        </p:spPr>
        <p:txBody>
          <a:bodyPr wrap="square" lIns="0" tIns="0" rIns="0" bIns="0" rtlCol="0" anchor="ctr"/>
          <a:lstStyle/>
          <a:p>
            <a:pPr marL="0" indent="0">
              <a:buNone/>
            </a:pPr>
            <a:r>
              <a:rPr lang="en-US" sz="1550" dirty="0">
                <a:solidFill>
                  <a:srgbClr val="C62828"/>
                </a:solidFill>
                <a:latin typeface="Segoe UI Semibold"/>
              </a:rPr>
              <a:t>Enter, check or verify data</a:t>
            </a:r>
            <a:endParaRPr lang="en-US" sz="1550" dirty="0"/>
          </a:p>
        </p:txBody>
      </p:sp>
      <p:sp>
        <p:nvSpPr>
          <p:cNvPr id="19" name="Pill: BLOCKED"/>
          <p:cNvSpPr txBox="1"/>
          <p:nvPr/>
        </p:nvSpPr>
        <p:spPr>
          <a:xfrm>
            <a:off x="5303520" y="5029200"/>
            <a:ext cx="822960" cy="274320"/>
          </a:xfrm>
          <a:prstGeom prst="roundRect">
            <a:avLst>
              <a:gd name="adj" fmla="val 50000"/>
            </a:avLst>
          </a:prstGeom>
          <a:solidFill>
            <a:srgbClr val="FDE7E7"/>
          </a:solidFill>
          <a:ln w="6350">
            <a:solidFill>
              <a:srgbClr val="FDE7E7"/>
            </a:solidFill>
          </a:ln>
        </p:spPr>
        <p:txBody>
          <a:bodyPr wrap="square" lIns="0" tIns="0" rIns="0" bIns="0" rtlCol="0" anchor="ctr"/>
          <a:lstStyle/>
          <a:p>
            <a:pPr marL="0" indent="0" algn="ctr">
              <a:buNone/>
            </a:pPr>
            <a:r>
              <a:rPr lang="en-US" sz="900" kern="0" spc="60" dirty="0">
                <a:solidFill>
                  <a:srgbClr val="C62828"/>
                </a:solidFill>
                <a:latin typeface="Segoe UI Semibold"/>
              </a:rPr>
              <a:t>BLOCKED</a:t>
            </a:r>
            <a:endParaRPr lang="en-US" sz="900" dirty="0"/>
          </a:p>
        </p:txBody>
      </p:sp>
      <p:sp>
        <p:nvSpPr>
          <p:cNvPr id="20" name="Outcomes card"/>
          <p:cNvSpPr/>
          <p:nvPr/>
        </p:nvSpPr>
        <p:spPr>
          <a:xfrm>
            <a:off x="6629400" y="1691640"/>
            <a:ext cx="5013655" cy="2423160"/>
          </a:xfrm>
          <a:prstGeom prst="roundRect">
            <a:avLst>
              <a:gd name="adj" fmla="val 6038"/>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21" name="Text 19"/>
          <p:cNvSpPr txBox="1"/>
          <p:nvPr/>
        </p:nvSpPr>
        <p:spPr>
          <a:xfrm>
            <a:off x="6903720" y="1828800"/>
            <a:ext cx="4480560" cy="502920"/>
          </a:xfrm>
          <a:prstGeom prst="rect">
            <a:avLst/>
          </a:prstGeom>
          <a:noFill/>
          <a:ln/>
        </p:spPr>
        <p:txBody>
          <a:bodyPr wrap="square" lIns="0" tIns="0" rIns="0" bIns="0" rtlCol="0" anchor="t"/>
          <a:lstStyle/>
          <a:p>
            <a:pPr marL="0" indent="0">
              <a:buNone/>
            </a:pPr>
            <a:r>
              <a:rPr lang="en-US" sz="1550" dirty="0">
                <a:solidFill>
                  <a:srgbClr val="12315F"/>
                </a:solidFill>
                <a:latin typeface="Segoe UI Semibold"/>
              </a:rPr>
              <a:t>A tester compares each value with the original file</a:t>
            </a:r>
            <a:endParaRPr lang="en-US" sz="1550" dirty="0"/>
          </a:p>
        </p:txBody>
      </p:sp>
      <p:sp>
        <p:nvSpPr>
          <p:cNvPr id="22" name="Pill: Verified"/>
          <p:cNvSpPr txBox="1"/>
          <p:nvPr/>
        </p:nvSpPr>
        <p:spPr>
          <a:xfrm>
            <a:off x="6903720" y="2468880"/>
            <a:ext cx="1463040" cy="310896"/>
          </a:xfrm>
          <a:prstGeom prst="roundRect">
            <a:avLst>
              <a:gd name="adj" fmla="val 50000"/>
            </a:avLst>
          </a:prstGeom>
          <a:solidFill>
            <a:srgbClr val="E1F4EA"/>
          </a:solidFill>
          <a:ln w="6350">
            <a:solidFill>
              <a:srgbClr val="E1F4EA"/>
            </a:solidFill>
          </a:ln>
        </p:spPr>
        <p:txBody>
          <a:bodyPr wrap="square" lIns="0" tIns="0" rIns="0" bIns="0" rtlCol="0" anchor="ctr"/>
          <a:lstStyle/>
          <a:p>
            <a:pPr marL="0" indent="0" algn="ctr">
              <a:buNone/>
            </a:pPr>
            <a:r>
              <a:rPr lang="en-US" sz="1100" kern="0" spc="60" dirty="0">
                <a:solidFill>
                  <a:srgbClr val="14804A"/>
                </a:solidFill>
                <a:latin typeface="Segoe UI Semibold"/>
              </a:rPr>
              <a:t>Verified</a:t>
            </a:r>
            <a:endParaRPr lang="en-US" sz="1100" dirty="0"/>
          </a:p>
        </p:txBody>
      </p:sp>
      <p:sp>
        <p:nvSpPr>
          <p:cNvPr id="23" name="Text 21"/>
          <p:cNvSpPr txBox="1"/>
          <p:nvPr/>
        </p:nvSpPr>
        <p:spPr>
          <a:xfrm>
            <a:off x="8503920" y="2468880"/>
            <a:ext cx="2926080" cy="310896"/>
          </a:xfrm>
          <a:prstGeom prst="rect">
            <a:avLst/>
          </a:prstGeom>
          <a:noFill/>
          <a:ln/>
        </p:spPr>
        <p:txBody>
          <a:bodyPr wrap="square" lIns="0" tIns="0" rIns="0" bIns="0" rtlCol="0" anchor="ctr"/>
          <a:lstStyle/>
          <a:p>
            <a:pPr marL="0" indent="0">
              <a:buNone/>
            </a:pPr>
            <a:r>
              <a:rPr lang="en-US" dirty="0">
                <a:solidFill>
                  <a:srgbClr val="14233C"/>
                </a:solidFill>
              </a:rPr>
              <a:t>Test is locked</a:t>
            </a:r>
            <a:endParaRPr lang="en-US" dirty="0"/>
          </a:p>
        </p:txBody>
      </p:sp>
      <p:sp>
        <p:nvSpPr>
          <p:cNvPr id="24" name="Pill: Returned"/>
          <p:cNvSpPr txBox="1"/>
          <p:nvPr/>
        </p:nvSpPr>
        <p:spPr>
          <a:xfrm>
            <a:off x="6903720" y="2971800"/>
            <a:ext cx="1463040" cy="310896"/>
          </a:xfrm>
          <a:prstGeom prst="roundRect">
            <a:avLst>
              <a:gd name="adj" fmla="val 50000"/>
            </a:avLst>
          </a:prstGeom>
          <a:solidFill>
            <a:srgbClr val="FFF1DA"/>
          </a:solidFill>
          <a:ln w="6350">
            <a:solidFill>
              <a:srgbClr val="FFF1DA"/>
            </a:solidFill>
          </a:ln>
        </p:spPr>
        <p:txBody>
          <a:bodyPr wrap="square" lIns="0" tIns="0" rIns="0" bIns="0" rtlCol="0" anchor="ctr"/>
          <a:lstStyle/>
          <a:p>
            <a:pPr marL="0" indent="0" algn="ctr">
              <a:buNone/>
            </a:pPr>
            <a:r>
              <a:rPr lang="en-US" sz="1100" kern="0" spc="60" dirty="0">
                <a:solidFill>
                  <a:srgbClr val="A85D00"/>
                </a:solidFill>
                <a:latin typeface="Segoe UI Semibold"/>
              </a:rPr>
              <a:t>Returned</a:t>
            </a:r>
            <a:endParaRPr lang="en-US" sz="1100" dirty="0"/>
          </a:p>
        </p:txBody>
      </p:sp>
      <p:sp>
        <p:nvSpPr>
          <p:cNvPr id="25" name="Text 23"/>
          <p:cNvSpPr txBox="1"/>
          <p:nvPr/>
        </p:nvSpPr>
        <p:spPr>
          <a:xfrm>
            <a:off x="8503920" y="2971800"/>
            <a:ext cx="2926080" cy="310896"/>
          </a:xfrm>
          <a:prstGeom prst="rect">
            <a:avLst/>
          </a:prstGeom>
          <a:noFill/>
          <a:ln/>
        </p:spPr>
        <p:txBody>
          <a:bodyPr wrap="square" lIns="0" tIns="0" rIns="0" bIns="0" rtlCol="0" anchor="ctr"/>
          <a:lstStyle/>
          <a:p>
            <a:pPr marL="0" indent="0">
              <a:buNone/>
            </a:pPr>
            <a:r>
              <a:rPr lang="en-US" dirty="0">
                <a:solidFill>
                  <a:srgbClr val="14233C"/>
                </a:solidFill>
              </a:rPr>
              <a:t>Sent back with a reason</a:t>
            </a:r>
            <a:endParaRPr lang="en-US" dirty="0"/>
          </a:p>
        </p:txBody>
      </p:sp>
      <p:sp>
        <p:nvSpPr>
          <p:cNvPr id="26" name="Pill: Not applicable"/>
          <p:cNvSpPr txBox="1"/>
          <p:nvPr/>
        </p:nvSpPr>
        <p:spPr>
          <a:xfrm>
            <a:off x="6903720" y="3474720"/>
            <a:ext cx="1463040" cy="310896"/>
          </a:xfrm>
          <a:prstGeom prst="roundRect">
            <a:avLst>
              <a:gd name="adj" fmla="val 50000"/>
            </a:avLst>
          </a:prstGeom>
          <a:solidFill>
            <a:srgbClr val="E2ECFA"/>
          </a:solidFill>
          <a:ln w="6350">
            <a:solidFill>
              <a:srgbClr val="E2ECFA"/>
            </a:solidFill>
          </a:ln>
        </p:spPr>
        <p:txBody>
          <a:bodyPr wrap="square" lIns="0" tIns="0" rIns="0" bIns="0" rtlCol="0" anchor="ctr"/>
          <a:lstStyle/>
          <a:p>
            <a:pPr marL="0" indent="0" algn="ctr">
              <a:buNone/>
            </a:pPr>
            <a:r>
              <a:rPr lang="en-US" sz="1100" kern="0" spc="60" dirty="0">
                <a:solidFill>
                  <a:srgbClr val="1C4F9C"/>
                </a:solidFill>
                <a:latin typeface="Segoe UI Semibold"/>
              </a:rPr>
              <a:t>Not applicable</a:t>
            </a:r>
            <a:endParaRPr lang="en-US" sz="1100" dirty="0"/>
          </a:p>
        </p:txBody>
      </p:sp>
      <p:sp>
        <p:nvSpPr>
          <p:cNvPr id="27" name="Text 25"/>
          <p:cNvSpPr txBox="1"/>
          <p:nvPr/>
        </p:nvSpPr>
        <p:spPr>
          <a:xfrm>
            <a:off x="8503920" y="3474720"/>
            <a:ext cx="2926080" cy="310896"/>
          </a:xfrm>
          <a:prstGeom prst="rect">
            <a:avLst/>
          </a:prstGeom>
          <a:noFill/>
          <a:ln/>
        </p:spPr>
        <p:txBody>
          <a:bodyPr wrap="square" lIns="0" tIns="0" rIns="0" bIns="0" rtlCol="0" anchor="ctr"/>
          <a:lstStyle/>
          <a:p>
            <a:pPr marL="0" indent="0">
              <a:buNone/>
            </a:pPr>
            <a:r>
              <a:rPr lang="en-US" dirty="0">
                <a:solidFill>
                  <a:srgbClr val="14233C"/>
                </a:solidFill>
              </a:rPr>
              <a:t>Recorded with a reason</a:t>
            </a:r>
            <a:endParaRPr lang="en-US" dirty="0"/>
          </a:p>
        </p:txBody>
      </p:sp>
      <p:sp>
        <p:nvSpPr>
          <p:cNvPr id="28" name="Rule card"/>
          <p:cNvSpPr/>
          <p:nvPr/>
        </p:nvSpPr>
        <p:spPr>
          <a:xfrm>
            <a:off x="6629400" y="4343400"/>
            <a:ext cx="5013655" cy="1783080"/>
          </a:xfrm>
          <a:prstGeom prst="roundRect">
            <a:avLst>
              <a:gd name="adj" fmla="val 8205"/>
            </a:avLst>
          </a:prstGeom>
          <a:solidFill>
            <a:srgbClr val="0B2347"/>
          </a:solidFill>
          <a:ln w="12700">
            <a:solidFill>
              <a:srgbClr val="0B2347"/>
            </a:solidFill>
            <a:prstDash val="solid"/>
          </a:ln>
          <a:effectLst>
            <a:outerShdw blurRad="127000" dist="25400" dir="5400000" algn="bl" rotWithShape="0">
              <a:srgbClr val="0B2347">
                <a:alpha val="10000"/>
              </a:srgbClr>
            </a:outerShdw>
          </a:effectLst>
        </p:spPr>
        <p:txBody>
          <a:bodyPr/>
          <a:lstStyle/>
          <a:p>
            <a:endParaRPr lang="en-US"/>
          </a:p>
        </p:txBody>
      </p:sp>
      <p:sp>
        <p:nvSpPr>
          <p:cNvPr id="29" name="Text 27"/>
          <p:cNvSpPr txBox="1"/>
          <p:nvPr/>
        </p:nvSpPr>
        <p:spPr>
          <a:xfrm>
            <a:off x="6949440" y="4526280"/>
            <a:ext cx="4389120" cy="777240"/>
          </a:xfrm>
          <a:prstGeom prst="rect">
            <a:avLst/>
          </a:prstGeom>
          <a:noFill/>
          <a:ln/>
        </p:spPr>
        <p:txBody>
          <a:bodyPr wrap="square" lIns="0" tIns="0" rIns="0" bIns="0" rtlCol="0" anchor="t"/>
          <a:lstStyle/>
          <a:p>
            <a:pPr marL="0" indent="0">
              <a:buNone/>
            </a:pPr>
            <a:r>
              <a:rPr lang="en-US" sz="2200" dirty="0">
                <a:solidFill>
                  <a:srgbClr val="FFFFFF"/>
                </a:solidFill>
                <a:latin typeface="Segoe UI Semibold"/>
              </a:rPr>
              <a:t>No report is generated until every test is Verified or Not applicable</a:t>
            </a:r>
            <a:endParaRPr lang="en-US" sz="2200" dirty="0"/>
          </a:p>
        </p:txBody>
      </p:sp>
      <p:sp>
        <p:nvSpPr>
          <p:cNvPr id="30" name="Text 28"/>
          <p:cNvSpPr txBox="1"/>
          <p:nvPr/>
        </p:nvSpPr>
        <p:spPr>
          <a:xfrm>
            <a:off x="6949440" y="5440680"/>
            <a:ext cx="4389120" cy="594360"/>
          </a:xfrm>
          <a:prstGeom prst="rect">
            <a:avLst/>
          </a:prstGeom>
          <a:noFill/>
          <a:ln/>
        </p:spPr>
        <p:txBody>
          <a:bodyPr wrap="square" lIns="0" tIns="0" rIns="0" bIns="0" rtlCol="0" anchor="t"/>
          <a:lstStyle/>
          <a:p>
            <a:pPr marL="0" indent="0">
              <a:buNone/>
            </a:pPr>
            <a:r>
              <a:rPr lang="en-US" sz="1700" dirty="0">
                <a:solidFill>
                  <a:srgbClr val="CFE0F7"/>
                </a:solidFill>
              </a:rPr>
              <a:t>The report manifest names who uploaded and who verified each test.</a:t>
            </a:r>
            <a:endParaRPr lang="en-US" sz="1700" dirty="0"/>
          </a:p>
        </p:txBody>
      </p:sp>
      <p:sp>
        <p:nvSpPr>
          <p:cNvPr id="31"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6667F"/>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5" name="Text 0"/>
          <p:cNvSpPr>
            <a:spLocks noGrp="1"/>
          </p:cNvSpPr>
          <p:nvPr>
            <p:ph type="title" idx="100" hasCustomPrompt="1"/>
          </p:nvPr>
        </p:nvSpPr>
        <p:spPr>
          <a:xfrm>
            <a:off x="548640" y="411480"/>
            <a:ext cx="8503920" cy="1005840"/>
          </a:xfrm>
          <a:prstGeom prst="rect">
            <a:avLst/>
          </a:prstGeom>
          <a:noFill/>
          <a:ln/>
        </p:spPr>
        <p:txBody>
          <a:bodyPr wrap="square" lIns="0" tIns="0" rIns="0" bIns="0" rtlCol="0" anchor="t"/>
          <a:lstStyle/>
          <a:p>
            <a:pPr marL="0" indent="0" algn="l">
              <a:buNone/>
            </a:pPr>
            <a:r>
              <a:rPr lang="en-US" sz="2800" spc="-20" dirty="0">
                <a:solidFill>
                  <a:schemeClr val="tx2"/>
                </a:solidFill>
                <a:latin typeface="Segoe UI Semibold"/>
              </a:rPr>
              <a:t>Four layers mean nothing changes quietly: edits are blocked or detected</a:t>
            </a:r>
            <a:endParaRPr lang="en-US" sz="2800" dirty="0"/>
          </a:p>
        </p:txBody>
      </p:sp>
      <p:sp>
        <p:nvSpPr>
          <p:cNvPr id="6" name="Text 4"/>
          <p:cNvSpPr txBox="1"/>
          <p:nvPr/>
        </p:nvSpPr>
        <p:spPr>
          <a:xfrm>
            <a:off x="9082735" y="841248"/>
            <a:ext cx="2560320" cy="228600"/>
          </a:xfrm>
          <a:prstGeom prst="rect">
            <a:avLst/>
          </a:prstGeom>
          <a:noFill/>
          <a:ln/>
        </p:spPr>
        <p:txBody>
          <a:bodyPr wrap="square" lIns="0" tIns="0" rIns="0" bIns="0" rtlCol="0" anchor="t"/>
          <a:lstStyle/>
          <a:p>
            <a:pPr marL="0" indent="0" algn="r">
              <a:buNone/>
            </a:pPr>
            <a:r>
              <a:rPr lang="en-US" sz="1050" dirty="0">
                <a:solidFill>
                  <a:srgbClr val="56667F"/>
                </a:solidFill>
              </a:rPr>
              <a:t>Objective 2: Fewer errors</a:t>
            </a:r>
            <a:endParaRPr lang="en-US" sz="1050" dirty="0"/>
          </a:p>
        </p:txBody>
      </p:sp>
      <p:sp>
        <p:nvSpPr>
          <p:cNvPr id="7" name="Pill: HIGH INTEGRITY"/>
          <p:cNvSpPr txBox="1"/>
          <p:nvPr/>
        </p:nvSpPr>
        <p:spPr>
          <a:xfrm>
            <a:off x="9752076" y="457200"/>
            <a:ext cx="1890979" cy="329184"/>
          </a:xfrm>
          <a:prstGeom prst="roundRect">
            <a:avLst>
              <a:gd name="adj" fmla="val 50000"/>
            </a:avLst>
          </a:prstGeom>
          <a:solidFill>
            <a:srgbClr val="E1F4EA"/>
          </a:solidFill>
          <a:ln w="6350">
            <a:solidFill>
              <a:srgbClr val="E1F4EA"/>
            </a:solidFill>
          </a:ln>
        </p:spPr>
        <p:txBody>
          <a:bodyPr wrap="square" lIns="0" tIns="0" rIns="0" bIns="0" rtlCol="0" anchor="ctr"/>
          <a:lstStyle/>
          <a:p>
            <a:pPr marL="0" indent="0" algn="ctr">
              <a:buNone/>
            </a:pPr>
            <a:r>
              <a:rPr lang="en-US" sz="1100" kern="0" spc="60" dirty="0">
                <a:solidFill>
                  <a:srgbClr val="14804A"/>
                </a:solidFill>
                <a:latin typeface="Segoe UI Semibold"/>
              </a:rPr>
              <a:t>HIGH INTEGRITY</a:t>
            </a:r>
            <a:endParaRPr lang="en-US" sz="1100" dirty="0"/>
          </a:p>
        </p:txBody>
      </p:sp>
      <p:sp>
        <p:nvSpPr>
          <p:cNvPr id="8" name="Card"/>
          <p:cNvSpPr/>
          <p:nvPr/>
        </p:nvSpPr>
        <p:spPr>
          <a:xfrm>
            <a:off x="548640" y="1691640"/>
            <a:ext cx="7040880" cy="969264"/>
          </a:xfrm>
          <a:prstGeom prst="roundRect">
            <a:avLst>
              <a:gd name="adj" fmla="val 13208"/>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9" name="Step 1"/>
          <p:cNvSpPr txBox="1"/>
          <p:nvPr/>
        </p:nvSpPr>
        <p:spPr>
          <a:xfrm>
            <a:off x="804672" y="1975104"/>
            <a:ext cx="402336" cy="402336"/>
          </a:xfrm>
          <a:prstGeom prst="ellipse">
            <a:avLst/>
          </a:prstGeom>
          <a:solidFill>
            <a:srgbClr val="1C4F9C"/>
          </a:solidFill>
          <a:ln>
            <a:solidFill>
              <a:srgbClr val="1C4F9C"/>
            </a:solidFill>
          </a:ln>
        </p:spPr>
        <p:txBody>
          <a:bodyPr wrap="square" lIns="0" tIns="0" rIns="0" bIns="0" rtlCol="0" anchor="ctr"/>
          <a:lstStyle/>
          <a:p>
            <a:pPr marL="0" indent="0" algn="ctr">
              <a:buNone/>
            </a:pPr>
            <a:r>
              <a:rPr lang="en-US" sz="1400" dirty="0">
                <a:solidFill>
                  <a:srgbClr val="FFFFFF"/>
                </a:solidFill>
                <a:latin typeface="Segoe UI Semibold"/>
              </a:rPr>
              <a:t>1</a:t>
            </a:r>
            <a:endParaRPr lang="en-US" sz="1400" dirty="0"/>
          </a:p>
        </p:txBody>
      </p:sp>
      <p:sp>
        <p:nvSpPr>
          <p:cNvPr id="10" name="Text 8"/>
          <p:cNvSpPr txBox="1"/>
          <p:nvPr/>
        </p:nvSpPr>
        <p:spPr>
          <a:xfrm>
            <a:off x="1463040" y="1819656"/>
            <a:ext cx="5943600" cy="274320"/>
          </a:xfrm>
          <a:prstGeom prst="rect">
            <a:avLst/>
          </a:prstGeom>
          <a:noFill/>
          <a:ln/>
        </p:spPr>
        <p:txBody>
          <a:bodyPr wrap="square" lIns="0" tIns="0" rIns="0" bIns="0" rtlCol="0" anchor="t"/>
          <a:lstStyle/>
          <a:p>
            <a:pPr marL="0" indent="0">
              <a:buNone/>
            </a:pPr>
            <a:r>
              <a:rPr lang="en-US" sz="1900" dirty="0">
                <a:solidFill>
                  <a:srgbClr val="12315F"/>
                </a:solidFill>
                <a:latin typeface="Segoe UI Semibold"/>
              </a:rPr>
              <a:t>SHA-256 fingerprint of every file</a:t>
            </a:r>
            <a:endParaRPr lang="en-US" sz="1900" dirty="0"/>
          </a:p>
        </p:txBody>
      </p:sp>
      <p:sp>
        <p:nvSpPr>
          <p:cNvPr id="11" name="Text 9"/>
          <p:cNvSpPr txBox="1"/>
          <p:nvPr/>
        </p:nvSpPr>
        <p:spPr>
          <a:xfrm>
            <a:off x="1463040" y="2148840"/>
            <a:ext cx="5943600" cy="457200"/>
          </a:xfrm>
          <a:prstGeom prst="rect">
            <a:avLst/>
          </a:prstGeom>
          <a:noFill/>
          <a:ln/>
        </p:spPr>
        <p:txBody>
          <a:bodyPr wrap="square" lIns="0" tIns="0" rIns="0" bIns="0" rtlCol="0" anchor="t"/>
          <a:lstStyle/>
          <a:p>
            <a:pPr marL="0" indent="0">
              <a:buNone/>
            </a:pPr>
            <a:r>
              <a:rPr lang="en-US" sz="1500" dirty="0">
                <a:solidFill>
                  <a:srgbClr val="14233C"/>
                </a:solidFill>
              </a:rPr>
              <a:t>Each uploaded file and its data are hashed and stored together.</a:t>
            </a:r>
            <a:endParaRPr lang="en-US" sz="1500" dirty="0"/>
          </a:p>
        </p:txBody>
      </p:sp>
      <p:sp>
        <p:nvSpPr>
          <p:cNvPr id="12" name="Card"/>
          <p:cNvSpPr/>
          <p:nvPr/>
        </p:nvSpPr>
        <p:spPr>
          <a:xfrm>
            <a:off x="548640" y="2788920"/>
            <a:ext cx="7040880" cy="969264"/>
          </a:xfrm>
          <a:prstGeom prst="roundRect">
            <a:avLst>
              <a:gd name="adj" fmla="val 13208"/>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13" name="Step 2"/>
          <p:cNvSpPr txBox="1"/>
          <p:nvPr/>
        </p:nvSpPr>
        <p:spPr>
          <a:xfrm>
            <a:off x="804672" y="3072384"/>
            <a:ext cx="402336" cy="402336"/>
          </a:xfrm>
          <a:prstGeom prst="ellipse">
            <a:avLst/>
          </a:prstGeom>
          <a:solidFill>
            <a:srgbClr val="0B2347"/>
          </a:solidFill>
          <a:ln>
            <a:solidFill>
              <a:srgbClr val="0B2347"/>
            </a:solidFill>
          </a:ln>
        </p:spPr>
        <p:txBody>
          <a:bodyPr wrap="square" lIns="0" tIns="0" rIns="0" bIns="0" rtlCol="0" anchor="ctr"/>
          <a:lstStyle/>
          <a:p>
            <a:pPr marL="0" indent="0" algn="ctr">
              <a:buNone/>
            </a:pPr>
            <a:r>
              <a:rPr lang="en-US" sz="1400" dirty="0">
                <a:solidFill>
                  <a:srgbClr val="FFFFFF"/>
                </a:solidFill>
                <a:latin typeface="Segoe UI Semibold"/>
              </a:rPr>
              <a:t>2</a:t>
            </a:r>
            <a:endParaRPr lang="en-US" sz="1400" dirty="0"/>
          </a:p>
        </p:txBody>
      </p:sp>
      <p:sp>
        <p:nvSpPr>
          <p:cNvPr id="14" name="Text 12"/>
          <p:cNvSpPr txBox="1"/>
          <p:nvPr/>
        </p:nvSpPr>
        <p:spPr>
          <a:xfrm>
            <a:off x="1463040" y="2916936"/>
            <a:ext cx="5943600" cy="274320"/>
          </a:xfrm>
          <a:prstGeom prst="rect">
            <a:avLst/>
          </a:prstGeom>
          <a:noFill/>
          <a:ln/>
        </p:spPr>
        <p:txBody>
          <a:bodyPr wrap="square" lIns="0" tIns="0" rIns="0" bIns="0" rtlCol="0" anchor="t"/>
          <a:lstStyle/>
          <a:p>
            <a:pPr marL="0" indent="0">
              <a:buNone/>
            </a:pPr>
            <a:r>
              <a:rPr lang="en-US" sz="1900" dirty="0">
                <a:solidFill>
                  <a:srgbClr val="12315F"/>
                </a:solidFill>
                <a:latin typeface="Segoe UI Semibold"/>
              </a:rPr>
              <a:t>Hash-chained audit log</a:t>
            </a:r>
            <a:endParaRPr lang="en-US" sz="1900" dirty="0"/>
          </a:p>
        </p:txBody>
      </p:sp>
      <p:sp>
        <p:nvSpPr>
          <p:cNvPr id="15" name="Text 13"/>
          <p:cNvSpPr txBox="1"/>
          <p:nvPr/>
        </p:nvSpPr>
        <p:spPr>
          <a:xfrm>
            <a:off x="1463040" y="3246120"/>
            <a:ext cx="5943600" cy="457200"/>
          </a:xfrm>
          <a:prstGeom prst="rect">
            <a:avLst/>
          </a:prstGeom>
          <a:noFill/>
          <a:ln/>
        </p:spPr>
        <p:txBody>
          <a:bodyPr wrap="square" lIns="0" tIns="0" rIns="0" bIns="0" rtlCol="0" anchor="t"/>
          <a:lstStyle/>
          <a:p>
            <a:pPr marL="0" indent="0">
              <a:buNone/>
            </a:pPr>
            <a:r>
              <a:rPr lang="en-US" sz="1500" dirty="0">
                <a:solidFill>
                  <a:srgbClr val="14233C"/>
                </a:solidFill>
              </a:rPr>
              <a:t>Edit one entry and the chain breaks after it. Check the chain proves it.</a:t>
            </a:r>
            <a:endParaRPr lang="en-US" sz="1500" dirty="0"/>
          </a:p>
        </p:txBody>
      </p:sp>
      <p:sp>
        <p:nvSpPr>
          <p:cNvPr id="16" name="Card"/>
          <p:cNvSpPr/>
          <p:nvPr/>
        </p:nvSpPr>
        <p:spPr>
          <a:xfrm>
            <a:off x="548640" y="3886200"/>
            <a:ext cx="7040880" cy="969264"/>
          </a:xfrm>
          <a:prstGeom prst="roundRect">
            <a:avLst>
              <a:gd name="adj" fmla="val 13208"/>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17" name="Step 3"/>
          <p:cNvSpPr txBox="1"/>
          <p:nvPr/>
        </p:nvSpPr>
        <p:spPr>
          <a:xfrm>
            <a:off x="804672" y="4169664"/>
            <a:ext cx="402336" cy="402336"/>
          </a:xfrm>
          <a:prstGeom prst="ellipse">
            <a:avLst/>
          </a:prstGeom>
          <a:solidFill>
            <a:srgbClr val="1C4F9C"/>
          </a:solidFill>
          <a:ln>
            <a:solidFill>
              <a:srgbClr val="1C4F9C"/>
            </a:solidFill>
          </a:ln>
        </p:spPr>
        <p:txBody>
          <a:bodyPr wrap="square" lIns="0" tIns="0" rIns="0" bIns="0" rtlCol="0" anchor="ctr"/>
          <a:lstStyle/>
          <a:p>
            <a:pPr marL="0" indent="0" algn="ctr">
              <a:buNone/>
            </a:pPr>
            <a:r>
              <a:rPr lang="en-US" sz="1400" dirty="0">
                <a:solidFill>
                  <a:srgbClr val="FFFFFF"/>
                </a:solidFill>
                <a:latin typeface="Segoe UI Semibold"/>
              </a:rPr>
              <a:t>3</a:t>
            </a:r>
            <a:endParaRPr lang="en-US" sz="1400" dirty="0"/>
          </a:p>
        </p:txBody>
      </p:sp>
      <p:sp>
        <p:nvSpPr>
          <p:cNvPr id="18" name="Text 16"/>
          <p:cNvSpPr txBox="1"/>
          <p:nvPr/>
        </p:nvSpPr>
        <p:spPr>
          <a:xfrm>
            <a:off x="1463040" y="4014216"/>
            <a:ext cx="5943600" cy="274320"/>
          </a:xfrm>
          <a:prstGeom prst="rect">
            <a:avLst/>
          </a:prstGeom>
          <a:noFill/>
          <a:ln/>
        </p:spPr>
        <p:txBody>
          <a:bodyPr wrap="square" lIns="0" tIns="0" rIns="0" bIns="0" rtlCol="0" anchor="t"/>
          <a:lstStyle/>
          <a:p>
            <a:pPr marL="0" indent="0">
              <a:buNone/>
            </a:pPr>
            <a:r>
              <a:rPr lang="en-US" sz="1900" dirty="0">
                <a:solidFill>
                  <a:srgbClr val="12315F"/>
                </a:solidFill>
                <a:latin typeface="Segoe UI Semibold"/>
              </a:rPr>
              <a:t>Verified tests are locked</a:t>
            </a:r>
            <a:endParaRPr lang="en-US" sz="1900" dirty="0"/>
          </a:p>
        </p:txBody>
      </p:sp>
      <p:sp>
        <p:nvSpPr>
          <p:cNvPr id="19" name="Text 17"/>
          <p:cNvSpPr txBox="1"/>
          <p:nvPr/>
        </p:nvSpPr>
        <p:spPr>
          <a:xfrm>
            <a:off x="1463040" y="4343400"/>
            <a:ext cx="5943600" cy="457200"/>
          </a:xfrm>
          <a:prstGeom prst="rect">
            <a:avLst/>
          </a:prstGeom>
          <a:noFill/>
          <a:ln/>
        </p:spPr>
        <p:txBody>
          <a:bodyPr wrap="square" lIns="0" tIns="0" rIns="0" bIns="0" rtlCol="0" anchor="t"/>
          <a:lstStyle/>
          <a:p>
            <a:pPr marL="0" indent="0">
              <a:buNone/>
            </a:pPr>
            <a:r>
              <a:rPr lang="en-US" sz="1500" dirty="0">
                <a:solidFill>
                  <a:srgbClr val="14233C"/>
                </a:solidFill>
              </a:rPr>
              <a:t>Reopening needs a reason, and every revision stays in the history.</a:t>
            </a:r>
            <a:endParaRPr lang="en-US" sz="1500" dirty="0"/>
          </a:p>
        </p:txBody>
      </p:sp>
      <p:sp>
        <p:nvSpPr>
          <p:cNvPr id="20" name="Card"/>
          <p:cNvSpPr/>
          <p:nvPr/>
        </p:nvSpPr>
        <p:spPr>
          <a:xfrm>
            <a:off x="548640" y="4983480"/>
            <a:ext cx="7040880" cy="969264"/>
          </a:xfrm>
          <a:prstGeom prst="roundRect">
            <a:avLst>
              <a:gd name="adj" fmla="val 13208"/>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21" name="Step 4"/>
          <p:cNvSpPr txBox="1"/>
          <p:nvPr/>
        </p:nvSpPr>
        <p:spPr>
          <a:xfrm>
            <a:off x="804672" y="5266944"/>
            <a:ext cx="402336" cy="402336"/>
          </a:xfrm>
          <a:prstGeom prst="ellipse">
            <a:avLst/>
          </a:prstGeom>
          <a:solidFill>
            <a:srgbClr val="1C4F9C"/>
          </a:solidFill>
          <a:ln>
            <a:solidFill>
              <a:srgbClr val="1C4F9C"/>
            </a:solidFill>
          </a:ln>
        </p:spPr>
        <p:txBody>
          <a:bodyPr wrap="square" lIns="0" tIns="0" rIns="0" bIns="0" rtlCol="0" anchor="ctr"/>
          <a:lstStyle/>
          <a:p>
            <a:pPr marL="0" indent="0" algn="ctr">
              <a:buNone/>
            </a:pPr>
            <a:r>
              <a:rPr lang="en-US" sz="1400" dirty="0">
                <a:solidFill>
                  <a:srgbClr val="FFFFFF"/>
                </a:solidFill>
                <a:latin typeface="Segoe UI Semibold"/>
              </a:rPr>
              <a:t>4</a:t>
            </a:r>
            <a:endParaRPr lang="en-US" sz="1400" dirty="0"/>
          </a:p>
        </p:txBody>
      </p:sp>
      <p:sp>
        <p:nvSpPr>
          <p:cNvPr id="22" name="Text 20"/>
          <p:cNvSpPr txBox="1"/>
          <p:nvPr/>
        </p:nvSpPr>
        <p:spPr>
          <a:xfrm>
            <a:off x="1463040" y="5111496"/>
            <a:ext cx="5943600" cy="274320"/>
          </a:xfrm>
          <a:prstGeom prst="rect">
            <a:avLst/>
          </a:prstGeom>
          <a:noFill/>
          <a:ln/>
        </p:spPr>
        <p:txBody>
          <a:bodyPr wrap="square" lIns="0" tIns="0" rIns="0" bIns="0" rtlCol="0" anchor="t"/>
          <a:lstStyle/>
          <a:p>
            <a:pPr marL="0" indent="0">
              <a:buNone/>
            </a:pPr>
            <a:r>
              <a:rPr lang="en-US" sz="1900" dirty="0">
                <a:solidFill>
                  <a:srgbClr val="12315F"/>
                </a:solidFill>
                <a:latin typeface="Segoe UI Semibold"/>
              </a:rPr>
              <a:t>Numbered, hashed, never edited</a:t>
            </a:r>
            <a:endParaRPr lang="en-US" sz="1900" dirty="0"/>
          </a:p>
        </p:txBody>
      </p:sp>
      <p:sp>
        <p:nvSpPr>
          <p:cNvPr id="23" name="Text 21"/>
          <p:cNvSpPr txBox="1"/>
          <p:nvPr/>
        </p:nvSpPr>
        <p:spPr>
          <a:xfrm>
            <a:off x="1463040" y="5440680"/>
            <a:ext cx="5943600" cy="457200"/>
          </a:xfrm>
          <a:prstGeom prst="rect">
            <a:avLst/>
          </a:prstGeom>
          <a:noFill/>
          <a:ln/>
        </p:spPr>
        <p:txBody>
          <a:bodyPr wrap="square" lIns="0" tIns="0" rIns="0" bIns="0" rtlCol="0" anchor="t"/>
          <a:lstStyle/>
          <a:p>
            <a:pPr marL="0" indent="0">
              <a:buNone/>
            </a:pPr>
            <a:r>
              <a:rPr lang="en-US" sz="1500" dirty="0">
                <a:solidFill>
                  <a:srgbClr val="14233C"/>
                </a:solidFill>
              </a:rPr>
              <a:t>Release needs the admin's password. Old versions are superseded, not changed.</a:t>
            </a:r>
            <a:endParaRPr lang="en-US" sz="1500" dirty="0"/>
          </a:p>
        </p:txBody>
      </p:sp>
      <p:sp>
        <p:nvSpPr>
          <p:cNvPr id="24" name="Text 22"/>
          <p:cNvSpPr txBox="1"/>
          <p:nvPr/>
        </p:nvSpPr>
        <p:spPr>
          <a:xfrm>
            <a:off x="8001000" y="1691640"/>
            <a:ext cx="3566160" cy="274320"/>
          </a:xfrm>
          <a:prstGeom prst="rect">
            <a:avLst/>
          </a:prstGeom>
          <a:noFill/>
          <a:ln/>
        </p:spPr>
        <p:txBody>
          <a:bodyPr wrap="square" lIns="0" tIns="0" rIns="0" bIns="0" rtlCol="0" anchor="t"/>
          <a:lstStyle/>
          <a:p>
            <a:pPr marL="0" indent="0">
              <a:buNone/>
            </a:pPr>
            <a:r>
              <a:rPr lang="en-US" sz="1700" dirty="0">
                <a:solidFill>
                  <a:srgbClr val="56667F"/>
                </a:solidFill>
                <a:latin typeface="Segoe UI Semibold"/>
              </a:rPr>
              <a:t>Layer 2: the audit chain</a:t>
            </a:r>
            <a:endParaRPr lang="en-US" sz="1700" dirty="0"/>
          </a:p>
        </p:txBody>
      </p:sp>
      <p:sp>
        <p:nvSpPr>
          <p:cNvPr id="25" name="Chain block 1"/>
          <p:cNvSpPr/>
          <p:nvPr/>
        </p:nvSpPr>
        <p:spPr>
          <a:xfrm>
            <a:off x="8001000" y="2057400"/>
            <a:ext cx="3639312" cy="914400"/>
          </a:xfrm>
          <a:prstGeom prst="roundRect">
            <a:avLst>
              <a:gd name="adj" fmla="val 12000"/>
            </a:avLst>
          </a:prstGeom>
          <a:solidFill>
            <a:srgbClr val="0B2347"/>
          </a:solidFill>
          <a:ln w="12700">
            <a:solidFill>
              <a:srgbClr val="0B2347"/>
            </a:solidFill>
            <a:prstDash val="solid"/>
          </a:ln>
          <a:effectLst>
            <a:outerShdw blurRad="127000" dist="25400" dir="5400000" algn="bl" rotWithShape="0">
              <a:srgbClr val="0B2347">
                <a:alpha val="10000"/>
              </a:srgbClr>
            </a:outerShdw>
          </a:effectLst>
        </p:spPr>
        <p:txBody>
          <a:bodyPr/>
          <a:lstStyle/>
          <a:p>
            <a:endParaRPr lang="en-US"/>
          </a:p>
        </p:txBody>
      </p:sp>
      <p:sp>
        <p:nvSpPr>
          <p:cNvPr id="26" name="Text 24"/>
          <p:cNvSpPr txBox="1"/>
          <p:nvPr/>
        </p:nvSpPr>
        <p:spPr>
          <a:xfrm>
            <a:off x="8229600" y="2194560"/>
            <a:ext cx="3200400" cy="292608"/>
          </a:xfrm>
          <a:prstGeom prst="rect">
            <a:avLst/>
          </a:prstGeom>
          <a:noFill/>
          <a:ln/>
        </p:spPr>
        <p:txBody>
          <a:bodyPr wrap="square" lIns="0" tIns="0" rIns="0" bIns="0" rtlCol="0" anchor="t"/>
          <a:lstStyle/>
          <a:p>
            <a:pPr marL="0" indent="0">
              <a:buNone/>
            </a:pPr>
            <a:r>
              <a:rPr lang="en-US" sz="1950" dirty="0">
                <a:solidFill>
                  <a:srgbClr val="FFFFFF"/>
                </a:solidFill>
                <a:latin typeface="Segoe UI Semibold"/>
              </a:rPr>
              <a:t>Entry n-1</a:t>
            </a:r>
            <a:endParaRPr lang="en-US" sz="1950" dirty="0"/>
          </a:p>
        </p:txBody>
      </p:sp>
      <p:sp>
        <p:nvSpPr>
          <p:cNvPr id="27" name="Text 25"/>
          <p:cNvSpPr txBox="1"/>
          <p:nvPr/>
        </p:nvSpPr>
        <p:spPr>
          <a:xfrm>
            <a:off x="8229600" y="2560320"/>
            <a:ext cx="3200400" cy="274320"/>
          </a:xfrm>
          <a:prstGeom prst="rect">
            <a:avLst/>
          </a:prstGeom>
          <a:noFill/>
          <a:ln/>
        </p:spPr>
        <p:txBody>
          <a:bodyPr wrap="square" lIns="0" tIns="0" rIns="0" bIns="0" rtlCol="0" anchor="t"/>
          <a:lstStyle/>
          <a:p>
            <a:pPr marL="0" indent="0">
              <a:buNone/>
            </a:pPr>
            <a:r>
              <a:rPr lang="en-US" sz="1550" dirty="0">
                <a:solidFill>
                  <a:srgbClr val="FFB35C"/>
                </a:solidFill>
                <a:latin typeface="Consolas" pitchFamily="34" charset="0"/>
                <a:ea typeface="Consolas" pitchFamily="34" charset="-122"/>
                <a:cs typeface="Consolas" pitchFamily="34" charset="-120"/>
              </a:rPr>
              <a:t>prev_hash  +  entry_hash</a:t>
            </a:r>
            <a:endParaRPr lang="en-US" sz="1550" dirty="0"/>
          </a:p>
        </p:txBody>
      </p:sp>
      <p:sp>
        <p:nvSpPr>
          <p:cNvPr id="28" name="Chain link"/>
          <p:cNvSpPr/>
          <p:nvPr/>
        </p:nvSpPr>
        <p:spPr>
          <a:xfrm>
            <a:off x="9820656" y="2971800"/>
            <a:ext cx="0" cy="411480"/>
          </a:xfrm>
          <a:prstGeom prst="line">
            <a:avLst/>
          </a:prstGeom>
          <a:noFill/>
          <a:ln w="38100">
            <a:solidFill>
              <a:srgbClr val="FF9933"/>
            </a:solidFill>
            <a:prstDash val="solid"/>
          </a:ln>
        </p:spPr>
        <p:txBody>
          <a:bodyPr/>
          <a:lstStyle/>
          <a:p>
            <a:endParaRPr lang="en-US"/>
          </a:p>
        </p:txBody>
      </p:sp>
      <p:sp>
        <p:nvSpPr>
          <p:cNvPr id="29" name="Chain link node"/>
          <p:cNvSpPr/>
          <p:nvPr/>
        </p:nvSpPr>
        <p:spPr>
          <a:xfrm>
            <a:off x="9729216" y="3081528"/>
            <a:ext cx="182880" cy="182880"/>
          </a:xfrm>
          <a:prstGeom prst="ellipse">
            <a:avLst/>
          </a:prstGeom>
          <a:solidFill>
            <a:srgbClr val="FF9933"/>
          </a:solidFill>
          <a:ln w="12700">
            <a:solidFill>
              <a:srgbClr val="FF9933"/>
            </a:solidFill>
            <a:prstDash val="solid"/>
          </a:ln>
        </p:spPr>
      </p:sp>
      <p:sp>
        <p:nvSpPr>
          <p:cNvPr id="30" name="Chain block 2"/>
          <p:cNvSpPr/>
          <p:nvPr/>
        </p:nvSpPr>
        <p:spPr>
          <a:xfrm>
            <a:off x="8001000" y="3383280"/>
            <a:ext cx="3639312" cy="914400"/>
          </a:xfrm>
          <a:prstGeom prst="roundRect">
            <a:avLst>
              <a:gd name="adj" fmla="val 12000"/>
            </a:avLst>
          </a:prstGeom>
          <a:solidFill>
            <a:srgbClr val="0B2347"/>
          </a:solidFill>
          <a:ln w="12700">
            <a:solidFill>
              <a:srgbClr val="0B2347"/>
            </a:solidFill>
            <a:prstDash val="solid"/>
          </a:ln>
          <a:effectLst>
            <a:outerShdw blurRad="127000" dist="25400" dir="5400000" algn="bl" rotWithShape="0">
              <a:srgbClr val="0B2347">
                <a:alpha val="10000"/>
              </a:srgbClr>
            </a:outerShdw>
          </a:effectLst>
        </p:spPr>
        <p:txBody>
          <a:bodyPr/>
          <a:lstStyle/>
          <a:p>
            <a:endParaRPr lang="en-US"/>
          </a:p>
        </p:txBody>
      </p:sp>
      <p:sp>
        <p:nvSpPr>
          <p:cNvPr id="31" name="Text 29"/>
          <p:cNvSpPr txBox="1"/>
          <p:nvPr/>
        </p:nvSpPr>
        <p:spPr>
          <a:xfrm>
            <a:off x="8229600" y="3520440"/>
            <a:ext cx="3200400" cy="292608"/>
          </a:xfrm>
          <a:prstGeom prst="rect">
            <a:avLst/>
          </a:prstGeom>
          <a:noFill/>
          <a:ln/>
        </p:spPr>
        <p:txBody>
          <a:bodyPr wrap="square" lIns="0" tIns="0" rIns="0" bIns="0" rtlCol="0" anchor="t"/>
          <a:lstStyle/>
          <a:p>
            <a:pPr marL="0" indent="0">
              <a:buNone/>
            </a:pPr>
            <a:r>
              <a:rPr lang="en-US" sz="1950" dirty="0">
                <a:solidFill>
                  <a:srgbClr val="FFFFFF"/>
                </a:solidFill>
                <a:latin typeface="Segoe UI Semibold"/>
              </a:rPr>
              <a:t>Entry n</a:t>
            </a:r>
            <a:endParaRPr lang="en-US" sz="1950" dirty="0"/>
          </a:p>
        </p:txBody>
      </p:sp>
      <p:sp>
        <p:nvSpPr>
          <p:cNvPr id="32" name="Text 30"/>
          <p:cNvSpPr txBox="1"/>
          <p:nvPr/>
        </p:nvSpPr>
        <p:spPr>
          <a:xfrm>
            <a:off x="8229600" y="3886200"/>
            <a:ext cx="3200400" cy="274320"/>
          </a:xfrm>
          <a:prstGeom prst="rect">
            <a:avLst/>
          </a:prstGeom>
          <a:noFill/>
          <a:ln/>
        </p:spPr>
        <p:txBody>
          <a:bodyPr wrap="square" lIns="0" tIns="0" rIns="0" bIns="0" rtlCol="0" anchor="t"/>
          <a:lstStyle/>
          <a:p>
            <a:pPr marL="0" indent="0">
              <a:buNone/>
            </a:pPr>
            <a:r>
              <a:rPr lang="en-US" sz="1550" dirty="0">
                <a:solidFill>
                  <a:srgbClr val="FFB35C"/>
                </a:solidFill>
                <a:latin typeface="Consolas" pitchFamily="34" charset="0"/>
                <a:ea typeface="Consolas" pitchFamily="34" charset="-122"/>
                <a:cs typeface="Consolas" pitchFamily="34" charset="-120"/>
              </a:rPr>
              <a:t>prev_hash  +  entry_hash</a:t>
            </a:r>
            <a:endParaRPr lang="en-US" sz="1550" dirty="0"/>
          </a:p>
        </p:txBody>
      </p:sp>
      <p:sp>
        <p:nvSpPr>
          <p:cNvPr id="33" name="Chain link"/>
          <p:cNvSpPr/>
          <p:nvPr/>
        </p:nvSpPr>
        <p:spPr>
          <a:xfrm>
            <a:off x="9820656" y="4297680"/>
            <a:ext cx="0" cy="411480"/>
          </a:xfrm>
          <a:prstGeom prst="line">
            <a:avLst/>
          </a:prstGeom>
          <a:noFill/>
          <a:ln w="38100">
            <a:solidFill>
              <a:srgbClr val="FF9933"/>
            </a:solidFill>
            <a:prstDash val="solid"/>
          </a:ln>
        </p:spPr>
        <p:txBody>
          <a:bodyPr/>
          <a:lstStyle/>
          <a:p>
            <a:endParaRPr lang="en-US"/>
          </a:p>
        </p:txBody>
      </p:sp>
      <p:sp>
        <p:nvSpPr>
          <p:cNvPr id="34" name="Chain link node"/>
          <p:cNvSpPr/>
          <p:nvPr/>
        </p:nvSpPr>
        <p:spPr>
          <a:xfrm>
            <a:off x="9729216" y="4407408"/>
            <a:ext cx="182880" cy="182880"/>
          </a:xfrm>
          <a:prstGeom prst="ellipse">
            <a:avLst/>
          </a:prstGeom>
          <a:solidFill>
            <a:srgbClr val="FF9933"/>
          </a:solidFill>
          <a:ln w="12700">
            <a:solidFill>
              <a:srgbClr val="FF9933"/>
            </a:solidFill>
            <a:prstDash val="solid"/>
          </a:ln>
        </p:spPr>
      </p:sp>
      <p:sp>
        <p:nvSpPr>
          <p:cNvPr id="35" name="Chain block 3"/>
          <p:cNvSpPr/>
          <p:nvPr/>
        </p:nvSpPr>
        <p:spPr>
          <a:xfrm>
            <a:off x="8001000" y="4709160"/>
            <a:ext cx="3639312" cy="914400"/>
          </a:xfrm>
          <a:prstGeom prst="roundRect">
            <a:avLst>
              <a:gd name="adj" fmla="val 12000"/>
            </a:avLst>
          </a:prstGeom>
          <a:solidFill>
            <a:srgbClr val="0B2347"/>
          </a:solidFill>
          <a:ln w="12700">
            <a:solidFill>
              <a:srgbClr val="0B2347"/>
            </a:solidFill>
            <a:prstDash val="solid"/>
          </a:ln>
          <a:effectLst>
            <a:outerShdw blurRad="127000" dist="25400" dir="5400000" algn="bl" rotWithShape="0">
              <a:srgbClr val="0B2347">
                <a:alpha val="10000"/>
              </a:srgbClr>
            </a:outerShdw>
          </a:effectLst>
        </p:spPr>
        <p:txBody>
          <a:bodyPr/>
          <a:lstStyle/>
          <a:p>
            <a:endParaRPr lang="en-US"/>
          </a:p>
        </p:txBody>
      </p:sp>
      <p:sp>
        <p:nvSpPr>
          <p:cNvPr id="36" name="Text 34"/>
          <p:cNvSpPr txBox="1"/>
          <p:nvPr/>
        </p:nvSpPr>
        <p:spPr>
          <a:xfrm>
            <a:off x="8229600" y="4846320"/>
            <a:ext cx="3200400" cy="292608"/>
          </a:xfrm>
          <a:prstGeom prst="rect">
            <a:avLst/>
          </a:prstGeom>
          <a:noFill/>
          <a:ln/>
        </p:spPr>
        <p:txBody>
          <a:bodyPr wrap="square" lIns="0" tIns="0" rIns="0" bIns="0" rtlCol="0" anchor="t"/>
          <a:lstStyle/>
          <a:p>
            <a:pPr marL="0" indent="0">
              <a:buNone/>
            </a:pPr>
            <a:r>
              <a:rPr lang="en-US" sz="1950" dirty="0">
                <a:solidFill>
                  <a:srgbClr val="FFFFFF"/>
                </a:solidFill>
                <a:latin typeface="Segoe UI Semibold"/>
              </a:rPr>
              <a:t>Entry n+1</a:t>
            </a:r>
            <a:endParaRPr lang="en-US" sz="1950" dirty="0"/>
          </a:p>
        </p:txBody>
      </p:sp>
      <p:sp>
        <p:nvSpPr>
          <p:cNvPr id="37" name="Text 35"/>
          <p:cNvSpPr txBox="1"/>
          <p:nvPr/>
        </p:nvSpPr>
        <p:spPr>
          <a:xfrm>
            <a:off x="8229600" y="5212080"/>
            <a:ext cx="3200400" cy="274320"/>
          </a:xfrm>
          <a:prstGeom prst="rect">
            <a:avLst/>
          </a:prstGeom>
          <a:noFill/>
          <a:ln/>
        </p:spPr>
        <p:txBody>
          <a:bodyPr wrap="square" lIns="0" tIns="0" rIns="0" bIns="0" rtlCol="0" anchor="t"/>
          <a:lstStyle/>
          <a:p>
            <a:pPr marL="0" indent="0">
              <a:buNone/>
            </a:pPr>
            <a:r>
              <a:rPr lang="en-US" sz="1550" dirty="0">
                <a:solidFill>
                  <a:srgbClr val="FFB35C"/>
                </a:solidFill>
                <a:latin typeface="Consolas" pitchFamily="34" charset="0"/>
                <a:ea typeface="Consolas" pitchFamily="34" charset="-122"/>
                <a:cs typeface="Consolas" pitchFamily="34" charset="-120"/>
              </a:rPr>
              <a:t>prev_hash  +  entry_hash</a:t>
            </a:r>
            <a:endParaRPr lang="en-US" sz="1550" dirty="0"/>
          </a:p>
        </p:txBody>
      </p:sp>
      <p:sp>
        <p:nvSpPr>
          <p:cNvPr id="38" name="Text 36"/>
          <p:cNvSpPr txBox="1"/>
          <p:nvPr/>
        </p:nvSpPr>
        <p:spPr>
          <a:xfrm>
            <a:off x="8001000" y="5989320"/>
            <a:ext cx="3639312" cy="320040"/>
          </a:xfrm>
          <a:prstGeom prst="rect">
            <a:avLst/>
          </a:prstGeom>
          <a:noFill/>
          <a:ln/>
        </p:spPr>
        <p:txBody>
          <a:bodyPr wrap="square" lIns="0" tIns="0" rIns="0" bIns="0" rtlCol="0" anchor="t"/>
          <a:lstStyle/>
          <a:p>
            <a:pPr marL="0" indent="0">
              <a:buNone/>
            </a:pPr>
            <a:r>
              <a:rPr lang="en-US" sz="1300" dirty="0">
                <a:solidFill>
                  <a:srgbClr val="56667F"/>
                </a:solidFill>
              </a:rPr>
              <a:t>Each entry stores the hash of the one before it.</a:t>
            </a:r>
            <a:endParaRPr lang="en-US" sz="1300" dirty="0"/>
          </a:p>
        </p:txBody>
      </p:sp>
      <p:sp>
        <p:nvSpPr>
          <p:cNvPr id="2"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6667F"/>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503920" cy="1005840"/>
          </a:xfrm>
          <a:prstGeom prst="rect">
            <a:avLst/>
          </a:prstGeom>
          <a:noFill/>
          <a:ln/>
        </p:spPr>
        <p:txBody>
          <a:bodyPr wrap="square" lIns="0" tIns="0" rIns="0" bIns="0" rtlCol="0" anchor="t"/>
          <a:lstStyle/>
          <a:p>
            <a:pPr marL="0" indent="0" algn="l">
              <a:buNone/>
            </a:pPr>
            <a:r>
              <a:rPr lang="en-US" sz="2800" spc="-20" dirty="0">
                <a:solidFill>
                  <a:schemeClr val="tx2"/>
                </a:solidFill>
                <a:latin typeface="Segoe UI Semibold"/>
              </a:rPr>
              <a:t>Edit one entry and the chain check turns red and names the broken entry</a:t>
            </a:r>
            <a:endParaRPr lang="en-US" sz="2800" dirty="0"/>
          </a:p>
        </p:txBody>
      </p:sp>
      <p:sp>
        <p:nvSpPr>
          <p:cNvPr id="3" name="Pill: HIGH INTEGRITY"/>
          <p:cNvSpPr txBox="1"/>
          <p:nvPr/>
        </p:nvSpPr>
        <p:spPr>
          <a:xfrm>
            <a:off x="9752076" y="457200"/>
            <a:ext cx="1890979" cy="329184"/>
          </a:xfrm>
          <a:prstGeom prst="roundRect">
            <a:avLst>
              <a:gd name="adj" fmla="val 50000"/>
            </a:avLst>
          </a:prstGeom>
          <a:solidFill>
            <a:srgbClr val="E1F4EA"/>
          </a:solidFill>
          <a:ln w="6350">
            <a:solidFill>
              <a:srgbClr val="E1F4EA"/>
            </a:solidFill>
          </a:ln>
        </p:spPr>
        <p:txBody>
          <a:bodyPr wrap="square" lIns="0" tIns="0" rIns="0" bIns="0" rtlCol="0" anchor="ctr"/>
          <a:lstStyle/>
          <a:p>
            <a:pPr marL="0" indent="0" algn="ctr">
              <a:buNone/>
            </a:pPr>
            <a:r>
              <a:rPr lang="en-US" sz="1100" kern="0" spc="60" dirty="0">
                <a:solidFill>
                  <a:srgbClr val="14804A"/>
                </a:solidFill>
                <a:latin typeface="Segoe UI Semibold"/>
              </a:rPr>
              <a:t>HIGH INTEGRITY</a:t>
            </a:r>
            <a:endParaRPr lang="en-US" sz="1100" dirty="0"/>
          </a:p>
        </p:txBody>
      </p:sp>
      <p:sp>
        <p:nvSpPr>
          <p:cNvPr id="4" name="Before card"/>
          <p:cNvSpPr/>
          <p:nvPr/>
        </p:nvSpPr>
        <p:spPr>
          <a:xfrm>
            <a:off x="548640" y="1691640"/>
            <a:ext cx="5120640" cy="2834640"/>
          </a:xfrm>
          <a:prstGeom prst="roundRect">
            <a:avLst>
              <a:gd name="adj" fmla="val 5161"/>
            </a:avLst>
          </a:prstGeom>
          <a:solidFill>
            <a:srgbClr val="F4FBF7"/>
          </a:solidFill>
          <a:ln w="12700">
            <a:solidFill>
              <a:srgbClr val="9AD3B2"/>
            </a:solidFill>
            <a:prstDash val="solid"/>
          </a:ln>
          <a:effectLst>
            <a:outerShdw blurRad="127000" dist="25400" dir="5400000" algn="bl" rotWithShape="0">
              <a:srgbClr val="0B2347">
                <a:alpha val="10000"/>
              </a:srgbClr>
            </a:outerShdw>
          </a:effectLst>
        </p:spPr>
        <p:txBody>
          <a:bodyPr/>
          <a:lstStyle/>
          <a:p>
            <a:endParaRPr lang="en-US"/>
          </a:p>
        </p:txBody>
      </p:sp>
      <p:sp>
        <p:nvSpPr>
          <p:cNvPr id="5" name="Pill: BEFORE: UNTOUCHED"/>
          <p:cNvSpPr txBox="1"/>
          <p:nvPr/>
        </p:nvSpPr>
        <p:spPr>
          <a:xfrm>
            <a:off x="822960" y="1920240"/>
            <a:ext cx="2011680" cy="292608"/>
          </a:xfrm>
          <a:prstGeom prst="roundRect">
            <a:avLst>
              <a:gd name="adj" fmla="val 50000"/>
            </a:avLst>
          </a:prstGeom>
          <a:solidFill>
            <a:srgbClr val="E1F4EA"/>
          </a:solidFill>
          <a:ln w="6350">
            <a:solidFill>
              <a:srgbClr val="E1F4EA"/>
            </a:solidFill>
          </a:ln>
        </p:spPr>
        <p:txBody>
          <a:bodyPr wrap="square" lIns="0" tIns="0" rIns="0" bIns="0" rtlCol="0" anchor="ctr"/>
          <a:lstStyle/>
          <a:p>
            <a:pPr marL="0" indent="0" algn="ctr">
              <a:buNone/>
            </a:pPr>
            <a:r>
              <a:rPr lang="en-US" sz="1000" kern="0" spc="60" dirty="0">
                <a:solidFill>
                  <a:srgbClr val="14804A"/>
                </a:solidFill>
                <a:latin typeface="Segoe UI Semibold"/>
              </a:rPr>
              <a:t>BEFORE: UNTOUCHED</a:t>
            </a:r>
            <a:endParaRPr lang="en-US" sz="1000" dirty="0"/>
          </a:p>
        </p:txBody>
      </p:sp>
      <p:sp>
        <p:nvSpPr>
          <p:cNvPr id="6" name="Text 4"/>
          <p:cNvSpPr txBox="1"/>
          <p:nvPr/>
        </p:nvSpPr>
        <p:spPr>
          <a:xfrm>
            <a:off x="822960" y="2423160"/>
            <a:ext cx="4572000" cy="421640"/>
          </a:xfrm>
          <a:prstGeom prst="rect">
            <a:avLst/>
          </a:prstGeom>
          <a:noFill/>
          <a:ln/>
        </p:spPr>
        <p:txBody>
          <a:bodyPr wrap="square" lIns="0" tIns="0" rIns="0" bIns="0" rtlCol="0" anchor="t"/>
          <a:lstStyle/>
          <a:p>
            <a:pPr marL="0" indent="0">
              <a:buNone/>
            </a:pPr>
            <a:r>
              <a:rPr lang="en-US" sz="2600" dirty="0">
                <a:solidFill>
                  <a:srgbClr val="12315F"/>
                </a:solidFill>
                <a:latin typeface="Segoe UI Semibold"/>
              </a:rPr>
              <a:t>Check the chain</a:t>
            </a:r>
            <a:endParaRPr lang="en-US" sz="2600" dirty="0"/>
          </a:p>
        </p:txBody>
      </p:sp>
      <p:sp>
        <p:nvSpPr>
          <p:cNvPr id="7" name="Result box green"/>
          <p:cNvSpPr/>
          <p:nvPr/>
        </p:nvSpPr>
        <p:spPr>
          <a:xfrm>
            <a:off x="822960" y="3017520"/>
            <a:ext cx="4572000" cy="1097280"/>
          </a:xfrm>
          <a:prstGeom prst="roundRect">
            <a:avLst>
              <a:gd name="adj" fmla="val 10000"/>
            </a:avLst>
          </a:prstGeom>
          <a:solidFill>
            <a:srgbClr val="E1F4EA"/>
          </a:solidFill>
          <a:ln w="12700">
            <a:solidFill>
              <a:srgbClr val="14804A"/>
            </a:solidFill>
            <a:prstDash val="solid"/>
          </a:ln>
        </p:spPr>
        <p:txBody>
          <a:bodyPr/>
          <a:lstStyle/>
          <a:p>
            <a:endParaRPr lang="en-US"/>
          </a:p>
        </p:txBody>
      </p:sp>
      <p:sp>
        <p:nvSpPr>
          <p:cNvPr id="8" name="Text 6"/>
          <p:cNvSpPr txBox="1"/>
          <p:nvPr/>
        </p:nvSpPr>
        <p:spPr>
          <a:xfrm>
            <a:off x="1005840" y="3017520"/>
            <a:ext cx="4206240" cy="1097280"/>
          </a:xfrm>
          <a:prstGeom prst="rect">
            <a:avLst/>
          </a:prstGeom>
          <a:noFill/>
          <a:ln/>
        </p:spPr>
        <p:txBody>
          <a:bodyPr wrap="square" lIns="0" tIns="0" rIns="0" bIns="0" rtlCol="0" anchor="ctr"/>
          <a:lstStyle/>
          <a:p>
            <a:pPr marL="0" indent="0">
              <a:buNone/>
            </a:pPr>
            <a:r>
              <a:rPr lang="en-US" sz="1900" b="1" dirty="0">
                <a:solidFill>
                  <a:srgbClr val="14804A"/>
                </a:solidFill>
                <a:latin typeface="Consolas" pitchFamily="34" charset="0"/>
                <a:ea typeface="Consolas" pitchFamily="34" charset="-122"/>
                <a:cs typeface="Consolas" pitchFamily="34" charset="-120"/>
              </a:rPr>
              <a:t>Audit chain intact (93 entries)</a:t>
            </a:r>
            <a:endParaRPr lang="en-US" sz="1900" dirty="0"/>
          </a:p>
        </p:txBody>
      </p:sp>
      <p:sp>
        <p:nvSpPr>
          <p:cNvPr id="9" name="Arrow"/>
          <p:cNvSpPr/>
          <p:nvPr/>
        </p:nvSpPr>
        <p:spPr>
          <a:xfrm>
            <a:off x="5852160" y="2880360"/>
            <a:ext cx="502920" cy="457200"/>
          </a:xfrm>
          <a:prstGeom prst="rightArrow">
            <a:avLst/>
          </a:prstGeom>
          <a:solidFill>
            <a:srgbClr val="1C4F9C"/>
          </a:solidFill>
          <a:ln w="12700">
            <a:solidFill>
              <a:srgbClr val="1C4F9C"/>
            </a:solidFill>
            <a:prstDash val="solid"/>
          </a:ln>
        </p:spPr>
        <p:txBody>
          <a:bodyPr/>
          <a:lstStyle/>
          <a:p>
            <a:endParaRPr lang="en-US"/>
          </a:p>
        </p:txBody>
      </p:sp>
      <p:sp>
        <p:nvSpPr>
          <p:cNvPr id="10" name="After card"/>
          <p:cNvSpPr/>
          <p:nvPr/>
        </p:nvSpPr>
        <p:spPr>
          <a:xfrm>
            <a:off x="6519672" y="1691640"/>
            <a:ext cx="5120640" cy="2834640"/>
          </a:xfrm>
          <a:prstGeom prst="roundRect">
            <a:avLst>
              <a:gd name="adj" fmla="val 5161"/>
            </a:avLst>
          </a:prstGeom>
          <a:solidFill>
            <a:srgbClr val="FFF7F7"/>
          </a:solidFill>
          <a:ln w="12700">
            <a:solidFill>
              <a:srgbClr val="E8AAAA"/>
            </a:solidFill>
            <a:prstDash val="solid"/>
          </a:ln>
          <a:effectLst>
            <a:outerShdw blurRad="127000" dist="25400" dir="5400000" algn="bl" rotWithShape="0">
              <a:srgbClr val="0B2347">
                <a:alpha val="10000"/>
              </a:srgbClr>
            </a:outerShdw>
          </a:effectLst>
        </p:spPr>
        <p:txBody>
          <a:bodyPr/>
          <a:lstStyle/>
          <a:p>
            <a:endParaRPr lang="en-US"/>
          </a:p>
        </p:txBody>
      </p:sp>
      <p:sp>
        <p:nvSpPr>
          <p:cNvPr id="11" name="Pill: AFTER: ONE ENTRY EDITED"/>
          <p:cNvSpPr txBox="1"/>
          <p:nvPr/>
        </p:nvSpPr>
        <p:spPr>
          <a:xfrm>
            <a:off x="6793992" y="1920240"/>
            <a:ext cx="2468880" cy="292608"/>
          </a:xfrm>
          <a:prstGeom prst="roundRect">
            <a:avLst>
              <a:gd name="adj" fmla="val 50000"/>
            </a:avLst>
          </a:prstGeom>
          <a:solidFill>
            <a:srgbClr val="FDE7E7"/>
          </a:solidFill>
          <a:ln w="6350">
            <a:solidFill>
              <a:srgbClr val="FDE7E7"/>
            </a:solidFill>
          </a:ln>
        </p:spPr>
        <p:txBody>
          <a:bodyPr wrap="square" lIns="0" tIns="0" rIns="0" bIns="0" rtlCol="0" anchor="ctr"/>
          <a:lstStyle/>
          <a:p>
            <a:pPr marL="0" indent="0" algn="ctr">
              <a:buNone/>
            </a:pPr>
            <a:r>
              <a:rPr lang="en-US" sz="1000" kern="0" spc="60" dirty="0">
                <a:solidFill>
                  <a:srgbClr val="C62828"/>
                </a:solidFill>
                <a:latin typeface="Segoe UI Semibold"/>
              </a:rPr>
              <a:t>AFTER: ONE ENTRY EDITED</a:t>
            </a:r>
            <a:endParaRPr lang="en-US" sz="1000" dirty="0"/>
          </a:p>
        </p:txBody>
      </p:sp>
      <p:sp>
        <p:nvSpPr>
          <p:cNvPr id="12" name="Text 10"/>
          <p:cNvSpPr txBox="1"/>
          <p:nvPr/>
        </p:nvSpPr>
        <p:spPr>
          <a:xfrm>
            <a:off x="6793992" y="2423160"/>
            <a:ext cx="4572000" cy="421640"/>
          </a:xfrm>
          <a:prstGeom prst="rect">
            <a:avLst/>
          </a:prstGeom>
          <a:noFill/>
          <a:ln/>
        </p:spPr>
        <p:txBody>
          <a:bodyPr wrap="square" lIns="0" tIns="0" rIns="0" bIns="0" rtlCol="0" anchor="t"/>
          <a:lstStyle/>
          <a:p>
            <a:pPr marL="0" indent="0">
              <a:buNone/>
            </a:pPr>
            <a:r>
              <a:rPr lang="en-US" sz="2600" dirty="0">
                <a:solidFill>
                  <a:srgbClr val="12315F"/>
                </a:solidFill>
                <a:latin typeface="Segoe UI Semibold"/>
              </a:rPr>
              <a:t>Check the chain again</a:t>
            </a:r>
            <a:endParaRPr lang="en-US" sz="2600" dirty="0"/>
          </a:p>
        </p:txBody>
      </p:sp>
      <p:sp>
        <p:nvSpPr>
          <p:cNvPr id="13" name="Result box red"/>
          <p:cNvSpPr/>
          <p:nvPr/>
        </p:nvSpPr>
        <p:spPr>
          <a:xfrm>
            <a:off x="6793992" y="3017520"/>
            <a:ext cx="4572000" cy="1097280"/>
          </a:xfrm>
          <a:prstGeom prst="roundRect">
            <a:avLst>
              <a:gd name="adj" fmla="val 10000"/>
            </a:avLst>
          </a:prstGeom>
          <a:solidFill>
            <a:srgbClr val="FDE7E7"/>
          </a:solidFill>
          <a:ln w="12700">
            <a:solidFill>
              <a:srgbClr val="C62828"/>
            </a:solidFill>
            <a:prstDash val="solid"/>
          </a:ln>
        </p:spPr>
        <p:txBody>
          <a:bodyPr/>
          <a:lstStyle/>
          <a:p>
            <a:endParaRPr lang="en-US"/>
          </a:p>
        </p:txBody>
      </p:sp>
      <p:sp>
        <p:nvSpPr>
          <p:cNvPr id="14" name="Text 12"/>
          <p:cNvSpPr txBox="1"/>
          <p:nvPr/>
        </p:nvSpPr>
        <p:spPr>
          <a:xfrm>
            <a:off x="6976872" y="3017520"/>
            <a:ext cx="4206240" cy="1097280"/>
          </a:xfrm>
          <a:prstGeom prst="rect">
            <a:avLst/>
          </a:prstGeom>
          <a:noFill/>
          <a:ln/>
        </p:spPr>
        <p:txBody>
          <a:bodyPr wrap="square" lIns="0" tIns="0" rIns="0" bIns="0" rtlCol="0" anchor="ctr"/>
          <a:lstStyle/>
          <a:p>
            <a:pPr marL="0" indent="0">
              <a:buNone/>
            </a:pPr>
            <a:r>
              <a:rPr lang="en-US" sz="1900" b="1" dirty="0">
                <a:solidFill>
                  <a:srgbClr val="C62828"/>
                </a:solidFill>
                <a:latin typeface="Consolas" pitchFamily="34" charset="0"/>
                <a:ea typeface="Consolas" pitchFamily="34" charset="-122"/>
                <a:cs typeface="Consolas" pitchFamily="34" charset="-120"/>
              </a:rPr>
              <a:t>Audit chain broken at entry 40: entry content was changed</a:t>
            </a:r>
            <a:endParaRPr lang="en-US" sz="1900" dirty="0"/>
          </a:p>
        </p:txBody>
      </p:sp>
      <p:sp>
        <p:nvSpPr>
          <p:cNvPr id="15" name="Step 1"/>
          <p:cNvSpPr txBox="1"/>
          <p:nvPr/>
        </p:nvSpPr>
        <p:spPr>
          <a:xfrm>
            <a:off x="548640" y="4754880"/>
            <a:ext cx="402336" cy="402336"/>
          </a:xfrm>
          <a:prstGeom prst="ellipse">
            <a:avLst/>
          </a:prstGeom>
          <a:solidFill>
            <a:srgbClr val="1C4F9C"/>
          </a:solidFill>
          <a:ln>
            <a:solidFill>
              <a:srgbClr val="1C4F9C"/>
            </a:solidFill>
          </a:ln>
        </p:spPr>
        <p:txBody>
          <a:bodyPr wrap="square" lIns="0" tIns="0" rIns="0" bIns="0" rtlCol="0" anchor="ctr"/>
          <a:lstStyle/>
          <a:p>
            <a:pPr marL="0" indent="0" algn="ctr">
              <a:buNone/>
            </a:pPr>
            <a:r>
              <a:rPr lang="en-US" sz="1400" dirty="0">
                <a:solidFill>
                  <a:srgbClr val="FFFFFF"/>
                </a:solidFill>
                <a:latin typeface="Segoe UI Semibold"/>
              </a:rPr>
              <a:t>1</a:t>
            </a:r>
            <a:endParaRPr lang="en-US" sz="1400" dirty="0"/>
          </a:p>
        </p:txBody>
      </p:sp>
      <p:sp>
        <p:nvSpPr>
          <p:cNvPr id="16" name="Text 14"/>
          <p:cNvSpPr txBox="1"/>
          <p:nvPr/>
        </p:nvSpPr>
        <p:spPr>
          <a:xfrm>
            <a:off x="1097280" y="4681728"/>
            <a:ext cx="2880360" cy="548640"/>
          </a:xfrm>
          <a:prstGeom prst="rect">
            <a:avLst/>
          </a:prstGeom>
          <a:noFill/>
          <a:ln/>
        </p:spPr>
        <p:txBody>
          <a:bodyPr wrap="square" lIns="0" tIns="0" rIns="0" bIns="0" rtlCol="0" anchor="ctr"/>
          <a:lstStyle/>
          <a:p>
            <a:pPr marL="0" indent="0">
              <a:buNone/>
            </a:pPr>
            <a:r>
              <a:rPr lang="en-US" sz="1750" dirty="0">
                <a:solidFill>
                  <a:srgbClr val="14233C"/>
                </a:solidFill>
              </a:rPr>
              <a:t>Run the chain check: green</a:t>
            </a:r>
            <a:endParaRPr lang="en-US" sz="1750" dirty="0"/>
          </a:p>
        </p:txBody>
      </p:sp>
      <p:sp>
        <p:nvSpPr>
          <p:cNvPr id="17" name="Step 2"/>
          <p:cNvSpPr txBox="1"/>
          <p:nvPr/>
        </p:nvSpPr>
        <p:spPr>
          <a:xfrm>
            <a:off x="4334256" y="4754880"/>
            <a:ext cx="402336" cy="402336"/>
          </a:xfrm>
          <a:prstGeom prst="ellipse">
            <a:avLst/>
          </a:prstGeom>
          <a:solidFill>
            <a:srgbClr val="1C4F9C"/>
          </a:solidFill>
          <a:ln>
            <a:solidFill>
              <a:srgbClr val="1C4F9C"/>
            </a:solidFill>
          </a:ln>
        </p:spPr>
        <p:txBody>
          <a:bodyPr wrap="square" lIns="0" tIns="0" rIns="0" bIns="0" rtlCol="0" anchor="ctr"/>
          <a:lstStyle/>
          <a:p>
            <a:pPr marL="0" indent="0" algn="ctr">
              <a:buNone/>
            </a:pPr>
            <a:r>
              <a:rPr lang="en-US" sz="1400" dirty="0">
                <a:solidFill>
                  <a:srgbClr val="FFFFFF"/>
                </a:solidFill>
                <a:latin typeface="Segoe UI Semibold"/>
              </a:rPr>
              <a:t>2</a:t>
            </a:r>
            <a:endParaRPr lang="en-US" sz="1400" dirty="0"/>
          </a:p>
        </p:txBody>
      </p:sp>
      <p:sp>
        <p:nvSpPr>
          <p:cNvPr id="18" name="Text 16"/>
          <p:cNvSpPr txBox="1"/>
          <p:nvPr/>
        </p:nvSpPr>
        <p:spPr>
          <a:xfrm>
            <a:off x="4882896" y="4681728"/>
            <a:ext cx="2880360" cy="548640"/>
          </a:xfrm>
          <a:prstGeom prst="rect">
            <a:avLst/>
          </a:prstGeom>
          <a:noFill/>
          <a:ln/>
        </p:spPr>
        <p:txBody>
          <a:bodyPr wrap="square" lIns="0" tIns="0" rIns="0" bIns="0" rtlCol="0" anchor="ctr"/>
          <a:lstStyle/>
          <a:p>
            <a:pPr marL="0" indent="0">
              <a:buNone/>
            </a:pPr>
            <a:r>
              <a:rPr lang="en-US" sz="1750" dirty="0">
                <a:solidFill>
                  <a:srgbClr val="14233C"/>
                </a:solidFill>
              </a:rPr>
              <a:t>Edit one audit entry directly in the database</a:t>
            </a:r>
            <a:endParaRPr lang="en-US" sz="1750" dirty="0"/>
          </a:p>
        </p:txBody>
      </p:sp>
      <p:sp>
        <p:nvSpPr>
          <p:cNvPr id="19" name="Step 3"/>
          <p:cNvSpPr txBox="1"/>
          <p:nvPr/>
        </p:nvSpPr>
        <p:spPr>
          <a:xfrm>
            <a:off x="8119872" y="4754880"/>
            <a:ext cx="402336" cy="402336"/>
          </a:xfrm>
          <a:prstGeom prst="ellipse">
            <a:avLst/>
          </a:prstGeom>
          <a:solidFill>
            <a:srgbClr val="1C4F9C"/>
          </a:solidFill>
          <a:ln>
            <a:solidFill>
              <a:srgbClr val="1C4F9C"/>
            </a:solidFill>
          </a:ln>
        </p:spPr>
        <p:txBody>
          <a:bodyPr wrap="square" lIns="0" tIns="0" rIns="0" bIns="0" rtlCol="0" anchor="ctr"/>
          <a:lstStyle/>
          <a:p>
            <a:pPr marL="0" indent="0" algn="ctr">
              <a:buNone/>
            </a:pPr>
            <a:r>
              <a:rPr lang="en-US" sz="1400" dirty="0">
                <a:solidFill>
                  <a:srgbClr val="FFFFFF"/>
                </a:solidFill>
                <a:latin typeface="Segoe UI Semibold"/>
              </a:rPr>
              <a:t>3</a:t>
            </a:r>
            <a:endParaRPr lang="en-US" sz="1400" dirty="0"/>
          </a:p>
        </p:txBody>
      </p:sp>
      <p:sp>
        <p:nvSpPr>
          <p:cNvPr id="20" name="Text 18"/>
          <p:cNvSpPr txBox="1"/>
          <p:nvPr/>
        </p:nvSpPr>
        <p:spPr>
          <a:xfrm>
            <a:off x="8668512" y="4681728"/>
            <a:ext cx="2880360" cy="548640"/>
          </a:xfrm>
          <a:prstGeom prst="rect">
            <a:avLst/>
          </a:prstGeom>
          <a:noFill/>
          <a:ln/>
        </p:spPr>
        <p:txBody>
          <a:bodyPr wrap="square" lIns="0" tIns="0" rIns="0" bIns="0" rtlCol="0" anchor="ctr"/>
          <a:lstStyle/>
          <a:p>
            <a:pPr marL="0" indent="0">
              <a:buNone/>
            </a:pPr>
            <a:r>
              <a:rPr lang="en-US" sz="1750" dirty="0">
                <a:solidFill>
                  <a:srgbClr val="14233C"/>
                </a:solidFill>
              </a:rPr>
              <a:t>Run it again: red, with the entry number</a:t>
            </a:r>
            <a:endParaRPr lang="en-US" sz="1750" dirty="0"/>
          </a:p>
        </p:txBody>
      </p:sp>
      <p:sp>
        <p:nvSpPr>
          <p:cNvPr id="21" name="Live banner"/>
          <p:cNvSpPr/>
          <p:nvPr/>
        </p:nvSpPr>
        <p:spPr>
          <a:xfrm>
            <a:off x="548640" y="5486400"/>
            <a:ext cx="11094415" cy="594360"/>
          </a:xfrm>
          <a:prstGeom prst="roundRect">
            <a:avLst>
              <a:gd name="adj" fmla="val 24615"/>
            </a:avLst>
          </a:prstGeom>
          <a:solidFill>
            <a:srgbClr val="0B2347"/>
          </a:solidFill>
          <a:ln w="12700">
            <a:solidFill>
              <a:srgbClr val="0B2347"/>
            </a:solidFill>
            <a:prstDash val="solid"/>
          </a:ln>
        </p:spPr>
        <p:txBody>
          <a:bodyPr/>
          <a:lstStyle/>
          <a:p>
            <a:endParaRPr lang="en-US"/>
          </a:p>
        </p:txBody>
      </p:sp>
      <p:sp>
        <p:nvSpPr>
          <p:cNvPr id="22" name="Text 20"/>
          <p:cNvSpPr txBox="1"/>
          <p:nvPr/>
        </p:nvSpPr>
        <p:spPr>
          <a:xfrm>
            <a:off x="548640" y="5486400"/>
            <a:ext cx="11094415" cy="594360"/>
          </a:xfrm>
          <a:prstGeom prst="rect">
            <a:avLst/>
          </a:prstGeom>
          <a:noFill/>
          <a:ln/>
        </p:spPr>
        <p:txBody>
          <a:bodyPr wrap="square" lIns="0" tIns="0" rIns="0" bIns="0" rtlCol="0" anchor="ctr"/>
          <a:lstStyle/>
          <a:p>
            <a:pPr marL="0" indent="0" algn="ctr">
              <a:buNone/>
            </a:pPr>
            <a:r>
              <a:rPr lang="en-US" sz="2350" dirty="0">
                <a:solidFill>
                  <a:srgbClr val="FFFFFF"/>
                </a:solidFill>
                <a:latin typeface="Segoe UI Semibold"/>
              </a:rPr>
              <a:t>This is the part we'll show live</a:t>
            </a:r>
            <a:endParaRPr lang="en-US" sz="2350" dirty="0"/>
          </a:p>
        </p:txBody>
      </p:sp>
      <p:sp>
        <p:nvSpPr>
          <p:cNvPr id="25"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6667F"/>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503920" cy="1005840"/>
          </a:xfrm>
          <a:prstGeom prst="rect">
            <a:avLst/>
          </a:prstGeom>
          <a:noFill/>
          <a:ln/>
        </p:spPr>
        <p:txBody>
          <a:bodyPr wrap="square" lIns="0" tIns="0" rIns="0" bIns="0" rtlCol="0" anchor="t"/>
          <a:lstStyle/>
          <a:p>
            <a:pPr marL="0" indent="0" algn="l">
              <a:buNone/>
            </a:pPr>
            <a:r>
              <a:rPr lang="en-US" sz="2800" spc="-20" dirty="0">
                <a:solidFill>
                  <a:schemeClr val="tx2"/>
                </a:solidFill>
                <a:latin typeface="Segoe UI Semibold"/>
              </a:rPr>
              <a:t>Customers verify the report themselves by scanning its QR code</a:t>
            </a:r>
            <a:endParaRPr lang="en-US" sz="2800" dirty="0"/>
          </a:p>
        </p:txBody>
      </p:sp>
      <p:sp>
        <p:nvSpPr>
          <p:cNvPr id="3" name="Text 1"/>
          <p:cNvSpPr txBox="1"/>
          <p:nvPr/>
        </p:nvSpPr>
        <p:spPr>
          <a:xfrm>
            <a:off x="9082735" y="841248"/>
            <a:ext cx="2560320" cy="228600"/>
          </a:xfrm>
          <a:prstGeom prst="rect">
            <a:avLst/>
          </a:prstGeom>
          <a:noFill/>
          <a:ln/>
        </p:spPr>
        <p:txBody>
          <a:bodyPr wrap="square" lIns="0" tIns="0" rIns="0" bIns="0" rtlCol="0" anchor="t"/>
          <a:lstStyle/>
          <a:p>
            <a:pPr marL="0" indent="0" algn="r">
              <a:buNone/>
            </a:pPr>
            <a:r>
              <a:rPr lang="en-US" sz="1050" dirty="0">
                <a:solidFill>
                  <a:srgbClr val="56667F"/>
                </a:solidFill>
              </a:rPr>
              <a:t>Objective 4: Customer experience</a:t>
            </a:r>
            <a:endParaRPr lang="en-US" sz="1050" dirty="0"/>
          </a:p>
        </p:txBody>
      </p:sp>
      <p:sp>
        <p:nvSpPr>
          <p:cNvPr id="4" name="Pill: CUSTOMER EXPERIENCE"/>
          <p:cNvSpPr txBox="1"/>
          <p:nvPr/>
        </p:nvSpPr>
        <p:spPr>
          <a:xfrm>
            <a:off x="9240012" y="457200"/>
            <a:ext cx="2403043" cy="329184"/>
          </a:xfrm>
          <a:prstGeom prst="roundRect">
            <a:avLst>
              <a:gd name="adj" fmla="val 50000"/>
            </a:avLst>
          </a:prstGeom>
          <a:solidFill>
            <a:srgbClr val="FFF1DA"/>
          </a:solidFill>
          <a:ln w="6350">
            <a:solidFill>
              <a:srgbClr val="FFF1DA"/>
            </a:solidFill>
          </a:ln>
        </p:spPr>
        <p:txBody>
          <a:bodyPr wrap="square" lIns="0" tIns="0" rIns="0" bIns="0" rtlCol="0" anchor="ctr"/>
          <a:lstStyle/>
          <a:p>
            <a:pPr marL="0" indent="0" algn="ctr">
              <a:buNone/>
            </a:pPr>
            <a:r>
              <a:rPr lang="en-US" sz="1100" kern="0" spc="60" dirty="0">
                <a:solidFill>
                  <a:srgbClr val="A85D00"/>
                </a:solidFill>
                <a:latin typeface="Segoe UI Semibold"/>
              </a:rPr>
              <a:t>CUSTOMER EXPERIENCE</a:t>
            </a:r>
            <a:endParaRPr lang="en-US" sz="1100" dirty="0"/>
          </a:p>
        </p:txBody>
      </p:sp>
      <p:sp>
        <p:nvSpPr>
          <p:cNvPr id="5" name="Card"/>
          <p:cNvSpPr/>
          <p:nvPr/>
        </p:nvSpPr>
        <p:spPr>
          <a:xfrm>
            <a:off x="548640" y="1691640"/>
            <a:ext cx="5943600" cy="896112"/>
          </a:xfrm>
          <a:prstGeom prst="roundRect">
            <a:avLst>
              <a:gd name="adj" fmla="val 14286"/>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6" name="Step 1"/>
          <p:cNvSpPr txBox="1"/>
          <p:nvPr/>
        </p:nvSpPr>
        <p:spPr>
          <a:xfrm>
            <a:off x="777240" y="1938528"/>
            <a:ext cx="402336" cy="402336"/>
          </a:xfrm>
          <a:prstGeom prst="ellipse">
            <a:avLst/>
          </a:prstGeom>
          <a:solidFill>
            <a:srgbClr val="1C4F9C"/>
          </a:solidFill>
          <a:ln>
            <a:solidFill>
              <a:srgbClr val="1C4F9C"/>
            </a:solidFill>
          </a:ln>
        </p:spPr>
        <p:txBody>
          <a:bodyPr wrap="square" lIns="0" tIns="0" rIns="0" bIns="0" rtlCol="0" anchor="ctr"/>
          <a:lstStyle/>
          <a:p>
            <a:pPr marL="0" indent="0" algn="ctr">
              <a:buNone/>
            </a:pPr>
            <a:r>
              <a:rPr lang="en-US" sz="1400" dirty="0">
                <a:solidFill>
                  <a:srgbClr val="FFFFFF"/>
                </a:solidFill>
                <a:latin typeface="Segoe UI Semibold"/>
              </a:rPr>
              <a:t>1</a:t>
            </a:r>
            <a:endParaRPr lang="en-US" sz="1400" dirty="0"/>
          </a:p>
        </p:txBody>
      </p:sp>
      <p:sp>
        <p:nvSpPr>
          <p:cNvPr id="7" name="Text 5"/>
          <p:cNvSpPr txBox="1"/>
          <p:nvPr/>
        </p:nvSpPr>
        <p:spPr>
          <a:xfrm>
            <a:off x="1417320" y="1801368"/>
            <a:ext cx="4937760" cy="274320"/>
          </a:xfrm>
          <a:prstGeom prst="rect">
            <a:avLst/>
          </a:prstGeom>
          <a:noFill/>
          <a:ln/>
        </p:spPr>
        <p:txBody>
          <a:bodyPr wrap="square" lIns="0" tIns="0" rIns="0" bIns="0" rtlCol="0" anchor="t"/>
          <a:lstStyle/>
          <a:p>
            <a:pPr marL="0" indent="0">
              <a:buNone/>
            </a:pPr>
            <a:r>
              <a:rPr lang="en-US" dirty="0">
                <a:solidFill>
                  <a:srgbClr val="12315F"/>
                </a:solidFill>
                <a:latin typeface="Segoe UI Semibold"/>
              </a:rPr>
              <a:t>Scan the QR code on the printed report</a:t>
            </a:r>
            <a:endParaRPr lang="en-US" dirty="0"/>
          </a:p>
        </p:txBody>
      </p:sp>
      <p:sp>
        <p:nvSpPr>
          <p:cNvPr id="8" name="Text 6"/>
          <p:cNvSpPr txBox="1"/>
          <p:nvPr/>
        </p:nvSpPr>
        <p:spPr>
          <a:xfrm>
            <a:off x="1417320" y="2148840"/>
            <a:ext cx="4937760" cy="365760"/>
          </a:xfrm>
          <a:prstGeom prst="rect">
            <a:avLst/>
          </a:prstGeom>
          <a:noFill/>
          <a:ln/>
        </p:spPr>
        <p:txBody>
          <a:bodyPr wrap="square" lIns="0" tIns="0" rIns="0" bIns="0" rtlCol="0" anchor="t"/>
          <a:lstStyle/>
          <a:p>
            <a:pPr marL="0" indent="0">
              <a:buNone/>
            </a:pPr>
            <a:r>
              <a:rPr lang="en-US" sz="1700" dirty="0">
                <a:solidFill>
                  <a:srgbClr val="14233C"/>
                </a:solidFill>
              </a:rPr>
              <a:t>It opens the verification page for that exact version.</a:t>
            </a:r>
            <a:endParaRPr lang="en-US" sz="1700" dirty="0"/>
          </a:p>
        </p:txBody>
      </p:sp>
      <p:sp>
        <p:nvSpPr>
          <p:cNvPr id="9" name="Card"/>
          <p:cNvSpPr/>
          <p:nvPr/>
        </p:nvSpPr>
        <p:spPr>
          <a:xfrm>
            <a:off x="548640" y="2715768"/>
            <a:ext cx="5943600" cy="896112"/>
          </a:xfrm>
          <a:prstGeom prst="roundRect">
            <a:avLst>
              <a:gd name="adj" fmla="val 14286"/>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10" name="Step 2"/>
          <p:cNvSpPr txBox="1"/>
          <p:nvPr/>
        </p:nvSpPr>
        <p:spPr>
          <a:xfrm>
            <a:off x="777240" y="2962656"/>
            <a:ext cx="402336" cy="402336"/>
          </a:xfrm>
          <a:prstGeom prst="ellipse">
            <a:avLst/>
          </a:prstGeom>
          <a:solidFill>
            <a:srgbClr val="1C4F9C"/>
          </a:solidFill>
          <a:ln>
            <a:solidFill>
              <a:srgbClr val="1C4F9C"/>
            </a:solidFill>
          </a:ln>
        </p:spPr>
        <p:txBody>
          <a:bodyPr wrap="square" lIns="0" tIns="0" rIns="0" bIns="0" rtlCol="0" anchor="ctr"/>
          <a:lstStyle/>
          <a:p>
            <a:pPr marL="0" indent="0" algn="ctr">
              <a:buNone/>
            </a:pPr>
            <a:r>
              <a:rPr lang="en-US" sz="1400" dirty="0">
                <a:solidFill>
                  <a:srgbClr val="FFFFFF"/>
                </a:solidFill>
                <a:latin typeface="Segoe UI Semibold"/>
              </a:rPr>
              <a:t>2</a:t>
            </a:r>
            <a:endParaRPr lang="en-US" sz="1400" dirty="0"/>
          </a:p>
        </p:txBody>
      </p:sp>
      <p:sp>
        <p:nvSpPr>
          <p:cNvPr id="11" name="Text 9"/>
          <p:cNvSpPr txBox="1"/>
          <p:nvPr/>
        </p:nvSpPr>
        <p:spPr>
          <a:xfrm>
            <a:off x="1417320" y="2825496"/>
            <a:ext cx="4937760" cy="274320"/>
          </a:xfrm>
          <a:prstGeom prst="rect">
            <a:avLst/>
          </a:prstGeom>
          <a:noFill/>
          <a:ln/>
        </p:spPr>
        <p:txBody>
          <a:bodyPr wrap="square" lIns="0" tIns="0" rIns="0" bIns="0" rtlCol="0" anchor="t"/>
          <a:lstStyle/>
          <a:p>
            <a:pPr marL="0" indent="0">
              <a:buNone/>
            </a:pPr>
            <a:r>
              <a:rPr lang="en-US" dirty="0">
                <a:solidFill>
                  <a:srgbClr val="12315F"/>
                </a:solidFill>
                <a:latin typeface="Segoe UI Semibold"/>
              </a:rPr>
              <a:t>The PDF is checked against its manifest hash</a:t>
            </a:r>
            <a:endParaRPr lang="en-US" dirty="0"/>
          </a:p>
        </p:txBody>
      </p:sp>
      <p:sp>
        <p:nvSpPr>
          <p:cNvPr id="12" name="Text 10"/>
          <p:cNvSpPr txBox="1"/>
          <p:nvPr/>
        </p:nvSpPr>
        <p:spPr>
          <a:xfrm>
            <a:off x="1417320" y="3172968"/>
            <a:ext cx="4937760" cy="365760"/>
          </a:xfrm>
          <a:prstGeom prst="rect">
            <a:avLst/>
          </a:prstGeom>
          <a:noFill/>
          <a:ln/>
        </p:spPr>
        <p:txBody>
          <a:bodyPr wrap="square" lIns="0" tIns="0" rIns="0" bIns="0" rtlCol="0" anchor="t"/>
          <a:lstStyle/>
          <a:p>
            <a:pPr marL="0" indent="0">
              <a:buNone/>
            </a:pPr>
            <a:r>
              <a:rPr lang="en-US" sz="1700" dirty="0">
                <a:solidFill>
                  <a:srgbClr val="14233C"/>
                </a:solidFill>
              </a:rPr>
              <a:t>A changed file shows as not intact.</a:t>
            </a:r>
            <a:endParaRPr lang="en-US" sz="1700" dirty="0"/>
          </a:p>
        </p:txBody>
      </p:sp>
      <p:sp>
        <p:nvSpPr>
          <p:cNvPr id="13" name="Card"/>
          <p:cNvSpPr/>
          <p:nvPr/>
        </p:nvSpPr>
        <p:spPr>
          <a:xfrm>
            <a:off x="548640" y="3739896"/>
            <a:ext cx="5943600" cy="896112"/>
          </a:xfrm>
          <a:prstGeom prst="roundRect">
            <a:avLst>
              <a:gd name="adj" fmla="val 14286"/>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14" name="Step 3"/>
          <p:cNvSpPr txBox="1"/>
          <p:nvPr/>
        </p:nvSpPr>
        <p:spPr>
          <a:xfrm>
            <a:off x="777240" y="3986784"/>
            <a:ext cx="402336" cy="402336"/>
          </a:xfrm>
          <a:prstGeom prst="ellipse">
            <a:avLst/>
          </a:prstGeom>
          <a:solidFill>
            <a:srgbClr val="1C4F9C"/>
          </a:solidFill>
          <a:ln>
            <a:solidFill>
              <a:srgbClr val="1C4F9C"/>
            </a:solidFill>
          </a:ln>
        </p:spPr>
        <p:txBody>
          <a:bodyPr wrap="square" lIns="0" tIns="0" rIns="0" bIns="0" rtlCol="0" anchor="ctr"/>
          <a:lstStyle/>
          <a:p>
            <a:pPr marL="0" indent="0" algn="ctr">
              <a:buNone/>
            </a:pPr>
            <a:r>
              <a:rPr lang="en-US" sz="1400" dirty="0">
                <a:solidFill>
                  <a:srgbClr val="FFFFFF"/>
                </a:solidFill>
                <a:latin typeface="Segoe UI Semibold"/>
              </a:rPr>
              <a:t>3</a:t>
            </a:r>
            <a:endParaRPr lang="en-US" sz="1400" dirty="0"/>
          </a:p>
        </p:txBody>
      </p:sp>
      <p:sp>
        <p:nvSpPr>
          <p:cNvPr id="15" name="Text 13"/>
          <p:cNvSpPr txBox="1"/>
          <p:nvPr/>
        </p:nvSpPr>
        <p:spPr>
          <a:xfrm>
            <a:off x="1417320" y="3849624"/>
            <a:ext cx="4937760" cy="274320"/>
          </a:xfrm>
          <a:prstGeom prst="rect">
            <a:avLst/>
          </a:prstGeom>
          <a:noFill/>
          <a:ln/>
        </p:spPr>
        <p:txBody>
          <a:bodyPr wrap="square" lIns="0" tIns="0" rIns="0" bIns="0" rtlCol="0" anchor="t"/>
          <a:lstStyle/>
          <a:p>
            <a:pPr marL="0" indent="0">
              <a:buNone/>
            </a:pPr>
            <a:r>
              <a:rPr lang="en-US" dirty="0">
                <a:solidFill>
                  <a:srgbClr val="12315F"/>
                </a:solidFill>
                <a:latin typeface="Segoe UI Semibold"/>
              </a:rPr>
              <a:t>It shows who tested, verified and approved it</a:t>
            </a:r>
            <a:endParaRPr lang="en-US" dirty="0"/>
          </a:p>
        </p:txBody>
      </p:sp>
      <p:sp>
        <p:nvSpPr>
          <p:cNvPr id="16" name="Text 14"/>
          <p:cNvSpPr txBox="1"/>
          <p:nvPr/>
        </p:nvSpPr>
        <p:spPr>
          <a:xfrm>
            <a:off x="1417320" y="4197096"/>
            <a:ext cx="4937760" cy="365760"/>
          </a:xfrm>
          <a:prstGeom prst="rect">
            <a:avLst/>
          </a:prstGeom>
          <a:noFill/>
          <a:ln/>
        </p:spPr>
        <p:txBody>
          <a:bodyPr wrap="square" lIns="0" tIns="0" rIns="0" bIns="0" rtlCol="0" anchor="t"/>
          <a:lstStyle/>
          <a:p>
            <a:pPr marL="0" indent="0">
              <a:buNone/>
            </a:pPr>
            <a:r>
              <a:rPr lang="en-US" sz="1700" dirty="0">
                <a:solidFill>
                  <a:srgbClr val="14233C"/>
                </a:solidFill>
              </a:rPr>
              <a:t>Every test lists its source file fingerprint.</a:t>
            </a:r>
            <a:endParaRPr lang="en-US" sz="1700" dirty="0"/>
          </a:p>
        </p:txBody>
      </p:sp>
      <p:sp>
        <p:nvSpPr>
          <p:cNvPr id="17" name="Card"/>
          <p:cNvSpPr/>
          <p:nvPr/>
        </p:nvSpPr>
        <p:spPr>
          <a:xfrm>
            <a:off x="548640" y="4764024"/>
            <a:ext cx="5943600" cy="896112"/>
          </a:xfrm>
          <a:prstGeom prst="roundRect">
            <a:avLst>
              <a:gd name="adj" fmla="val 14286"/>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18" name="Step 4"/>
          <p:cNvSpPr txBox="1"/>
          <p:nvPr/>
        </p:nvSpPr>
        <p:spPr>
          <a:xfrm>
            <a:off x="777240" y="5010912"/>
            <a:ext cx="402336" cy="402336"/>
          </a:xfrm>
          <a:prstGeom prst="ellipse">
            <a:avLst/>
          </a:prstGeom>
          <a:solidFill>
            <a:srgbClr val="1C4F9C"/>
          </a:solidFill>
          <a:ln>
            <a:solidFill>
              <a:srgbClr val="1C4F9C"/>
            </a:solidFill>
          </a:ln>
        </p:spPr>
        <p:txBody>
          <a:bodyPr wrap="square" lIns="0" tIns="0" rIns="0" bIns="0" rtlCol="0" anchor="ctr"/>
          <a:lstStyle/>
          <a:p>
            <a:pPr marL="0" indent="0" algn="ctr">
              <a:buNone/>
            </a:pPr>
            <a:r>
              <a:rPr lang="en-US" sz="1400" dirty="0">
                <a:solidFill>
                  <a:srgbClr val="FFFFFF"/>
                </a:solidFill>
                <a:latin typeface="Segoe UI Semibold"/>
              </a:rPr>
              <a:t>4</a:t>
            </a:r>
            <a:endParaRPr lang="en-US" sz="1400" dirty="0"/>
          </a:p>
        </p:txBody>
      </p:sp>
      <p:sp>
        <p:nvSpPr>
          <p:cNvPr id="19" name="Text 17"/>
          <p:cNvSpPr txBox="1"/>
          <p:nvPr/>
        </p:nvSpPr>
        <p:spPr>
          <a:xfrm>
            <a:off x="1417320" y="4873752"/>
            <a:ext cx="4937760" cy="274320"/>
          </a:xfrm>
          <a:prstGeom prst="rect">
            <a:avLst/>
          </a:prstGeom>
          <a:noFill/>
          <a:ln/>
        </p:spPr>
        <p:txBody>
          <a:bodyPr wrap="square" lIns="0" tIns="0" rIns="0" bIns="0" rtlCol="0" anchor="t"/>
          <a:lstStyle/>
          <a:p>
            <a:pPr marL="0" indent="0">
              <a:buNone/>
            </a:pPr>
            <a:r>
              <a:rPr lang="en-US" dirty="0">
                <a:solidFill>
                  <a:srgbClr val="12315F"/>
                </a:solidFill>
                <a:latin typeface="Segoe UI Semibold"/>
              </a:rPr>
              <a:t>It flags a superseded version, and why</a:t>
            </a:r>
            <a:endParaRPr lang="en-US" dirty="0"/>
          </a:p>
        </p:txBody>
      </p:sp>
      <p:sp>
        <p:nvSpPr>
          <p:cNvPr id="20" name="Text 18"/>
          <p:cNvSpPr txBox="1"/>
          <p:nvPr/>
        </p:nvSpPr>
        <p:spPr>
          <a:xfrm>
            <a:off x="1417320" y="5221224"/>
            <a:ext cx="4937760" cy="365760"/>
          </a:xfrm>
          <a:prstGeom prst="rect">
            <a:avLst/>
          </a:prstGeom>
          <a:noFill/>
          <a:ln/>
        </p:spPr>
        <p:txBody>
          <a:bodyPr wrap="square" lIns="0" tIns="0" rIns="0" bIns="0" rtlCol="0" anchor="t"/>
          <a:lstStyle/>
          <a:p>
            <a:pPr marL="0" indent="0">
              <a:buNone/>
            </a:pPr>
            <a:r>
              <a:rPr lang="en-US" sz="1700" dirty="0">
                <a:solidFill>
                  <a:srgbClr val="14233C"/>
                </a:solidFill>
              </a:rPr>
              <a:t>Old versions stay verifiable, never silently replaced.</a:t>
            </a:r>
            <a:endParaRPr lang="en-US" sz="1700" dirty="0"/>
          </a:p>
        </p:txBody>
      </p:sp>
      <p:sp>
        <p:nvSpPr>
          <p:cNvPr id="21" name="Pill: INTACT"/>
          <p:cNvSpPr txBox="1"/>
          <p:nvPr/>
        </p:nvSpPr>
        <p:spPr>
          <a:xfrm>
            <a:off x="548640" y="5852160"/>
            <a:ext cx="1325880" cy="292608"/>
          </a:xfrm>
          <a:prstGeom prst="roundRect">
            <a:avLst>
              <a:gd name="adj" fmla="val 50000"/>
            </a:avLst>
          </a:prstGeom>
          <a:solidFill>
            <a:srgbClr val="E1F4EA"/>
          </a:solidFill>
          <a:ln w="6350">
            <a:solidFill>
              <a:srgbClr val="E1F4EA"/>
            </a:solidFill>
          </a:ln>
        </p:spPr>
        <p:txBody>
          <a:bodyPr wrap="square" lIns="0" tIns="0" rIns="0" bIns="0" rtlCol="0" anchor="ctr"/>
          <a:lstStyle/>
          <a:p>
            <a:pPr marL="0" indent="0" algn="ctr">
              <a:buNone/>
            </a:pPr>
            <a:r>
              <a:rPr lang="en-US" sz="1000" kern="0" spc="60" dirty="0">
                <a:solidFill>
                  <a:srgbClr val="14804A"/>
                </a:solidFill>
                <a:latin typeface="Segoe UI Semibold"/>
              </a:rPr>
              <a:t>INTACT</a:t>
            </a:r>
            <a:endParaRPr lang="en-US" sz="1000" dirty="0"/>
          </a:p>
        </p:txBody>
      </p:sp>
      <p:sp>
        <p:nvSpPr>
          <p:cNvPr id="22" name="Pill: CURRENT"/>
          <p:cNvSpPr txBox="1"/>
          <p:nvPr/>
        </p:nvSpPr>
        <p:spPr>
          <a:xfrm>
            <a:off x="2011680" y="5852160"/>
            <a:ext cx="1325880" cy="292608"/>
          </a:xfrm>
          <a:prstGeom prst="roundRect">
            <a:avLst>
              <a:gd name="adj" fmla="val 50000"/>
            </a:avLst>
          </a:prstGeom>
          <a:solidFill>
            <a:srgbClr val="E1F4EA"/>
          </a:solidFill>
          <a:ln w="6350">
            <a:solidFill>
              <a:srgbClr val="E1F4EA"/>
            </a:solidFill>
          </a:ln>
        </p:spPr>
        <p:txBody>
          <a:bodyPr wrap="square" lIns="0" tIns="0" rIns="0" bIns="0" rtlCol="0" anchor="ctr"/>
          <a:lstStyle/>
          <a:p>
            <a:pPr marL="0" indent="0" algn="ctr">
              <a:buNone/>
            </a:pPr>
            <a:r>
              <a:rPr lang="en-US" sz="1000" kern="0" spc="60" dirty="0">
                <a:solidFill>
                  <a:srgbClr val="14804A"/>
                </a:solidFill>
                <a:latin typeface="Segoe UI Semibold"/>
              </a:rPr>
              <a:t>CURRENT</a:t>
            </a:r>
            <a:endParaRPr lang="en-US" sz="1000" dirty="0"/>
          </a:p>
        </p:txBody>
      </p:sp>
      <p:sp>
        <p:nvSpPr>
          <p:cNvPr id="23" name="Pill: SUPERSEDED"/>
          <p:cNvSpPr txBox="1"/>
          <p:nvPr/>
        </p:nvSpPr>
        <p:spPr>
          <a:xfrm>
            <a:off x="3474720" y="5852160"/>
            <a:ext cx="1325880" cy="292608"/>
          </a:xfrm>
          <a:prstGeom prst="roundRect">
            <a:avLst>
              <a:gd name="adj" fmla="val 50000"/>
            </a:avLst>
          </a:prstGeom>
          <a:solidFill>
            <a:srgbClr val="FFF1DA"/>
          </a:solidFill>
          <a:ln w="6350">
            <a:solidFill>
              <a:srgbClr val="FFF1DA"/>
            </a:solidFill>
          </a:ln>
        </p:spPr>
        <p:txBody>
          <a:bodyPr wrap="square" lIns="0" tIns="0" rIns="0" bIns="0" rtlCol="0" anchor="ctr"/>
          <a:lstStyle/>
          <a:p>
            <a:pPr marL="0" indent="0" algn="ctr">
              <a:buNone/>
            </a:pPr>
            <a:r>
              <a:rPr lang="en-US" sz="1000" kern="0" spc="60" dirty="0">
                <a:solidFill>
                  <a:srgbClr val="A85D00"/>
                </a:solidFill>
                <a:latin typeface="Segoe UI Semibold"/>
              </a:rPr>
              <a:t>SUPERSEDED</a:t>
            </a:r>
            <a:endParaRPr lang="en-US" sz="1000" dirty="0"/>
          </a:p>
        </p:txBody>
      </p:sp>
      <p:pic>
        <p:nvPicPr>
          <p:cNvPr id="1706" name="Screenshot: Report verification page" descr="Screenshot of the Aletheia prototype: Report verification page"/>
          <p:cNvPicPr>
            <a:picLocks noChangeAspect="1"/>
          </p:cNvPicPr>
          <p:nvPr/>
        </p:nvPicPr>
        <p:blipFill>
          <a:blip r:embed="rId3"/>
          <a:stretch>
            <a:fillRect/>
          </a:stretch>
        </p:blipFill>
        <p:spPr>
          <a:xfrm>
            <a:off x="7157767" y="1764792"/>
            <a:ext cx="4139800" cy="4288536"/>
          </a:xfrm>
          <a:prstGeom prst="rect">
            <a:avLst/>
          </a:prstGeom>
          <a:ln w="12700">
            <a:solidFill>
              <a:srgbClr val="9DB6D8"/>
            </a:solidFill>
          </a:ln>
        </p:spPr>
      </p:pic>
      <p:sp>
        <p:nvSpPr>
          <p:cNvPr id="25"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6667F"/>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5" name="Text 0"/>
          <p:cNvSpPr>
            <a:spLocks noGrp="1"/>
          </p:cNvSpPr>
          <p:nvPr>
            <p:ph type="title" idx="100" hasCustomPrompt="1"/>
          </p:nvPr>
        </p:nvSpPr>
        <p:spPr>
          <a:xfrm>
            <a:off x="548640" y="411480"/>
            <a:ext cx="8503920" cy="1005840"/>
          </a:xfrm>
          <a:prstGeom prst="rect">
            <a:avLst/>
          </a:prstGeom>
          <a:noFill/>
          <a:ln/>
        </p:spPr>
        <p:txBody>
          <a:bodyPr wrap="square" lIns="0" tIns="0" rIns="0" bIns="0" rtlCol="0" anchor="t"/>
          <a:lstStyle/>
          <a:p>
            <a:pPr marL="0" indent="0" algn="l">
              <a:buNone/>
            </a:pPr>
            <a:r>
              <a:rPr lang="en-US" sz="2800" spc="-20" dirty="0">
                <a:solidFill>
                  <a:schemeClr val="tx2"/>
                </a:solidFill>
                <a:latin typeface="Segoe UI Semibold"/>
              </a:rPr>
              <a:t>Architecture: one Flask app and one SQLite database run the whole flow on one lab PC</a:t>
            </a:r>
            <a:endParaRPr lang="en-US" sz="2800" dirty="0"/>
          </a:p>
        </p:txBody>
      </p:sp>
      <p:sp>
        <p:nvSpPr>
          <p:cNvPr id="6" name="Pill: ARCHITECTURE"/>
          <p:cNvSpPr txBox="1"/>
          <p:nvPr/>
        </p:nvSpPr>
        <p:spPr>
          <a:xfrm>
            <a:off x="9956902" y="457200"/>
            <a:ext cx="1686154" cy="329184"/>
          </a:xfrm>
          <a:prstGeom prst="roundRect">
            <a:avLst>
              <a:gd name="adj" fmla="val 50000"/>
            </a:avLst>
          </a:prstGeom>
          <a:solidFill>
            <a:srgbClr val="EEF3FA"/>
          </a:solidFill>
          <a:ln w="6350">
            <a:solidFill>
              <a:srgbClr val="EEF3FA"/>
            </a:solidFill>
          </a:ln>
        </p:spPr>
        <p:txBody>
          <a:bodyPr wrap="square" lIns="0" tIns="0" rIns="0" bIns="0" rtlCol="0" anchor="ctr"/>
          <a:lstStyle/>
          <a:p>
            <a:pPr marL="0" indent="0" algn="ctr">
              <a:buNone/>
            </a:pPr>
            <a:r>
              <a:rPr lang="en-US" sz="1100" kern="0" spc="60" dirty="0">
                <a:solidFill>
                  <a:srgbClr val="56667F"/>
                </a:solidFill>
                <a:latin typeface="Segoe UI Semibold"/>
              </a:rPr>
              <a:t>ARCHITECTURE</a:t>
            </a:r>
            <a:endParaRPr lang="en-US" sz="1100" dirty="0"/>
          </a:p>
        </p:txBody>
      </p:sp>
      <p:sp>
        <p:nvSpPr>
          <p:cNvPr id="7" name="Tab USERS"/>
          <p:cNvSpPr txBox="1"/>
          <p:nvPr/>
        </p:nvSpPr>
        <p:spPr>
          <a:xfrm>
            <a:off x="548640" y="1645920"/>
            <a:ext cx="1920240" cy="292608"/>
          </a:xfrm>
          <a:prstGeom prst="roundRect">
            <a:avLst>
              <a:gd name="adj" fmla="val 25000"/>
            </a:avLst>
          </a:prstGeom>
          <a:solidFill>
            <a:srgbClr val="0B2347"/>
          </a:solidFill>
          <a:ln>
            <a:solidFill>
              <a:srgbClr val="0B2347"/>
            </a:solidFill>
          </a:ln>
        </p:spPr>
        <p:txBody>
          <a:bodyPr wrap="square" lIns="0" tIns="0" rIns="0" bIns="0" rtlCol="0" anchor="ctr"/>
          <a:lstStyle/>
          <a:p>
            <a:pPr marL="0" indent="0" algn="ctr">
              <a:buNone/>
            </a:pPr>
            <a:r>
              <a:rPr lang="en-US" sz="1100" kern="0" spc="100" dirty="0">
                <a:solidFill>
                  <a:srgbClr val="FFFFFF"/>
                </a:solidFill>
                <a:latin typeface="Segoe UI Semibold"/>
              </a:rPr>
              <a:t>USERS</a:t>
            </a:r>
            <a:endParaRPr lang="en-US" sz="1100" dirty="0"/>
          </a:p>
        </p:txBody>
      </p:sp>
      <p:sp>
        <p:nvSpPr>
          <p:cNvPr id="8" name="Card"/>
          <p:cNvSpPr/>
          <p:nvPr/>
        </p:nvSpPr>
        <p:spPr>
          <a:xfrm>
            <a:off x="548640" y="2057400"/>
            <a:ext cx="1920240" cy="804672"/>
          </a:xfrm>
          <a:prstGeom prst="roundRect">
            <a:avLst>
              <a:gd name="adj" fmla="val 11364"/>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9" name="Text 7"/>
          <p:cNvSpPr txBox="1"/>
          <p:nvPr/>
        </p:nvSpPr>
        <p:spPr>
          <a:xfrm>
            <a:off x="658368" y="2130552"/>
            <a:ext cx="1700784" cy="256032"/>
          </a:xfrm>
          <a:prstGeom prst="rect">
            <a:avLst/>
          </a:prstGeom>
          <a:noFill/>
          <a:ln/>
        </p:spPr>
        <p:txBody>
          <a:bodyPr wrap="square" lIns="0" tIns="0" rIns="0" bIns="0" rtlCol="0" anchor="t"/>
          <a:lstStyle/>
          <a:p>
            <a:pPr marL="0" indent="0">
              <a:buNone/>
            </a:pPr>
            <a:r>
              <a:rPr lang="en-US" sz="1550" dirty="0">
                <a:solidFill>
                  <a:srgbClr val="12315F"/>
                </a:solidFill>
                <a:latin typeface="Segoe UI Semibold"/>
              </a:rPr>
              <a:t>Browser UI</a:t>
            </a:r>
            <a:endParaRPr lang="en-US" sz="1550" dirty="0"/>
          </a:p>
        </p:txBody>
      </p:sp>
      <p:sp>
        <p:nvSpPr>
          <p:cNvPr id="10" name="Text 8"/>
          <p:cNvSpPr txBox="1"/>
          <p:nvPr/>
        </p:nvSpPr>
        <p:spPr>
          <a:xfrm>
            <a:off x="658368" y="2423160"/>
            <a:ext cx="1700784" cy="420624"/>
          </a:xfrm>
          <a:prstGeom prst="rect">
            <a:avLst/>
          </a:prstGeom>
          <a:noFill/>
          <a:ln/>
        </p:spPr>
        <p:txBody>
          <a:bodyPr wrap="square" lIns="0" tIns="0" rIns="0" bIns="0" rtlCol="0" anchor="t"/>
          <a:lstStyle/>
          <a:p>
            <a:pPr marL="0" indent="0">
              <a:buNone/>
            </a:pPr>
            <a:r>
              <a:rPr lang="en-US" sz="1050" dirty="0">
                <a:solidFill>
                  <a:srgbClr val="56667F"/>
                </a:solidFill>
              </a:rPr>
              <a:t>Static pages (index.html + JS)</a:t>
            </a:r>
            <a:endParaRPr lang="en-US" sz="1050" dirty="0"/>
          </a:p>
        </p:txBody>
      </p:sp>
      <p:sp>
        <p:nvSpPr>
          <p:cNvPr id="11" name="Card"/>
          <p:cNvSpPr/>
          <p:nvPr/>
        </p:nvSpPr>
        <p:spPr>
          <a:xfrm>
            <a:off x="548640" y="2971800"/>
            <a:ext cx="1920240" cy="804672"/>
          </a:xfrm>
          <a:prstGeom prst="roundRect">
            <a:avLst>
              <a:gd name="adj" fmla="val 11364"/>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12" name="Text 10"/>
          <p:cNvSpPr txBox="1"/>
          <p:nvPr/>
        </p:nvSpPr>
        <p:spPr>
          <a:xfrm>
            <a:off x="658368" y="3044952"/>
            <a:ext cx="1700784" cy="256032"/>
          </a:xfrm>
          <a:prstGeom prst="rect">
            <a:avLst/>
          </a:prstGeom>
          <a:noFill/>
          <a:ln/>
        </p:spPr>
        <p:txBody>
          <a:bodyPr wrap="square" lIns="0" tIns="0" rIns="0" bIns="0" rtlCol="0" anchor="t"/>
          <a:lstStyle/>
          <a:p>
            <a:pPr marL="0" indent="0">
              <a:buNone/>
            </a:pPr>
            <a:r>
              <a:rPr lang="en-US" sz="1550" dirty="0">
                <a:solidFill>
                  <a:srgbClr val="12315F"/>
                </a:solidFill>
                <a:latin typeface="Segoe UI Semibold"/>
              </a:rPr>
              <a:t>Customer portal</a:t>
            </a:r>
            <a:endParaRPr lang="en-US" sz="1550" dirty="0"/>
          </a:p>
        </p:txBody>
      </p:sp>
      <p:sp>
        <p:nvSpPr>
          <p:cNvPr id="13" name="Text 11"/>
          <p:cNvSpPr txBox="1"/>
          <p:nvPr/>
        </p:nvSpPr>
        <p:spPr>
          <a:xfrm>
            <a:off x="658368" y="3337560"/>
            <a:ext cx="1700784" cy="420624"/>
          </a:xfrm>
          <a:prstGeom prst="rect">
            <a:avLst/>
          </a:prstGeom>
          <a:noFill/>
          <a:ln/>
        </p:spPr>
        <p:txBody>
          <a:bodyPr wrap="square" lIns="0" tIns="0" rIns="0" bIns="0" rtlCol="0" anchor="t"/>
          <a:lstStyle/>
          <a:p>
            <a:pPr marL="0" indent="0">
              <a:buNone/>
            </a:pPr>
            <a:r>
              <a:rPr lang="en-US" sz="1050" dirty="0">
                <a:solidFill>
                  <a:srgbClr val="56667F"/>
                </a:solidFill>
              </a:rPr>
              <a:t>portal.py, tickets.py</a:t>
            </a:r>
            <a:endParaRPr lang="en-US" sz="1050" dirty="0"/>
          </a:p>
        </p:txBody>
      </p:sp>
      <p:sp>
        <p:nvSpPr>
          <p:cNvPr id="14" name="Flow arrow"/>
          <p:cNvSpPr/>
          <p:nvPr/>
        </p:nvSpPr>
        <p:spPr>
          <a:xfrm>
            <a:off x="2496312" y="2926080"/>
            <a:ext cx="318440" cy="237744"/>
          </a:xfrm>
          <a:prstGeom prst="rightArrow">
            <a:avLst/>
          </a:prstGeom>
          <a:solidFill>
            <a:srgbClr val="FFB35C"/>
          </a:solidFill>
          <a:ln w="12700">
            <a:solidFill>
              <a:srgbClr val="FFB35C"/>
            </a:solidFill>
            <a:prstDash val="solid"/>
          </a:ln>
        </p:spPr>
      </p:sp>
      <p:sp>
        <p:nvSpPr>
          <p:cNvPr id="15" name="Tab GATE"/>
          <p:cNvSpPr txBox="1"/>
          <p:nvPr/>
        </p:nvSpPr>
        <p:spPr>
          <a:xfrm>
            <a:off x="2842184" y="1645920"/>
            <a:ext cx="1920240" cy="292608"/>
          </a:xfrm>
          <a:prstGeom prst="roundRect">
            <a:avLst>
              <a:gd name="adj" fmla="val 25000"/>
            </a:avLst>
          </a:prstGeom>
          <a:solidFill>
            <a:srgbClr val="0B2347"/>
          </a:solidFill>
          <a:ln>
            <a:solidFill>
              <a:srgbClr val="0B2347"/>
            </a:solidFill>
          </a:ln>
        </p:spPr>
        <p:txBody>
          <a:bodyPr wrap="square" lIns="0" tIns="0" rIns="0" bIns="0" rtlCol="0" anchor="ctr"/>
          <a:lstStyle/>
          <a:p>
            <a:pPr marL="0" indent="0" algn="ctr">
              <a:buNone/>
            </a:pPr>
            <a:r>
              <a:rPr lang="en-US" sz="1100" kern="0" spc="100" dirty="0">
                <a:solidFill>
                  <a:srgbClr val="FFFFFF"/>
                </a:solidFill>
                <a:latin typeface="Segoe UI Semibold"/>
              </a:rPr>
              <a:t>GATE</a:t>
            </a:r>
            <a:endParaRPr lang="en-US" sz="1100" dirty="0"/>
          </a:p>
        </p:txBody>
      </p:sp>
      <p:sp>
        <p:nvSpPr>
          <p:cNvPr id="16" name="Card"/>
          <p:cNvSpPr/>
          <p:nvPr/>
        </p:nvSpPr>
        <p:spPr>
          <a:xfrm>
            <a:off x="2842184" y="2057400"/>
            <a:ext cx="1920240" cy="1005840"/>
          </a:xfrm>
          <a:prstGeom prst="roundRect">
            <a:avLst>
              <a:gd name="adj" fmla="val 9091"/>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17" name="Text 15"/>
          <p:cNvSpPr txBox="1"/>
          <p:nvPr/>
        </p:nvSpPr>
        <p:spPr>
          <a:xfrm>
            <a:off x="2951912" y="2130552"/>
            <a:ext cx="1700784" cy="256032"/>
          </a:xfrm>
          <a:prstGeom prst="rect">
            <a:avLst/>
          </a:prstGeom>
          <a:noFill/>
          <a:ln/>
        </p:spPr>
        <p:txBody>
          <a:bodyPr wrap="square" lIns="0" tIns="0" rIns="0" bIns="0" rtlCol="0" anchor="t"/>
          <a:lstStyle/>
          <a:p>
            <a:pPr marL="0" indent="0">
              <a:buNone/>
            </a:pPr>
            <a:r>
              <a:rPr lang="en-US" sz="1550" b="1" dirty="0">
                <a:solidFill>
                  <a:srgbClr val="12315F"/>
                </a:solidFill>
                <a:latin typeface="Consolas" pitchFamily="34" charset="0"/>
                <a:ea typeface="Consolas" pitchFamily="34" charset="-122"/>
                <a:cs typeface="Consolas" pitchFamily="34" charset="-120"/>
              </a:rPr>
              <a:t>auth.py</a:t>
            </a:r>
            <a:endParaRPr lang="en-US" sz="1550" dirty="0"/>
          </a:p>
        </p:txBody>
      </p:sp>
      <p:sp>
        <p:nvSpPr>
          <p:cNvPr id="18" name="Text 16"/>
          <p:cNvSpPr txBox="1"/>
          <p:nvPr/>
        </p:nvSpPr>
        <p:spPr>
          <a:xfrm>
            <a:off x="2951912" y="2423160"/>
            <a:ext cx="1700784" cy="420624"/>
          </a:xfrm>
          <a:prstGeom prst="rect">
            <a:avLst/>
          </a:prstGeom>
          <a:noFill/>
          <a:ln/>
        </p:spPr>
        <p:txBody>
          <a:bodyPr wrap="square" lIns="0" tIns="0" rIns="0" bIns="0" rtlCol="0" anchor="t"/>
          <a:lstStyle/>
          <a:p>
            <a:pPr marL="0" indent="0">
              <a:buNone/>
            </a:pPr>
            <a:r>
              <a:rPr lang="en-US" sz="1050" dirty="0">
                <a:solidFill>
                  <a:srgbClr val="56667F"/>
                </a:solidFill>
              </a:rPr>
              <a:t>Roles, CSRF, permission per route</a:t>
            </a:r>
            <a:endParaRPr lang="en-US" sz="1050" dirty="0"/>
          </a:p>
        </p:txBody>
      </p:sp>
      <p:sp>
        <p:nvSpPr>
          <p:cNvPr id="19" name="Flow arrow"/>
          <p:cNvSpPr/>
          <p:nvPr/>
        </p:nvSpPr>
        <p:spPr>
          <a:xfrm>
            <a:off x="4789856" y="2926080"/>
            <a:ext cx="318440" cy="237744"/>
          </a:xfrm>
          <a:prstGeom prst="rightArrow">
            <a:avLst/>
          </a:prstGeom>
          <a:solidFill>
            <a:srgbClr val="FFB35C"/>
          </a:solidFill>
          <a:ln w="12700">
            <a:solidFill>
              <a:srgbClr val="FFB35C"/>
            </a:solidFill>
            <a:prstDash val="solid"/>
          </a:ln>
        </p:spPr>
      </p:sp>
      <p:sp>
        <p:nvSpPr>
          <p:cNvPr id="20" name="Tab INPUT"/>
          <p:cNvSpPr txBox="1"/>
          <p:nvPr/>
        </p:nvSpPr>
        <p:spPr>
          <a:xfrm>
            <a:off x="5135728" y="1645920"/>
            <a:ext cx="1920240" cy="292608"/>
          </a:xfrm>
          <a:prstGeom prst="roundRect">
            <a:avLst>
              <a:gd name="adj" fmla="val 25000"/>
            </a:avLst>
          </a:prstGeom>
          <a:solidFill>
            <a:srgbClr val="0B2347"/>
          </a:solidFill>
          <a:ln>
            <a:solidFill>
              <a:srgbClr val="0B2347"/>
            </a:solidFill>
          </a:ln>
        </p:spPr>
        <p:txBody>
          <a:bodyPr wrap="square" lIns="0" tIns="0" rIns="0" bIns="0" rtlCol="0" anchor="ctr"/>
          <a:lstStyle/>
          <a:p>
            <a:pPr marL="0" indent="0" algn="ctr">
              <a:buNone/>
            </a:pPr>
            <a:r>
              <a:rPr lang="en-US" sz="1100" kern="0" spc="100" dirty="0">
                <a:solidFill>
                  <a:srgbClr val="FFFFFF"/>
                </a:solidFill>
                <a:latin typeface="Segoe UI Semibold"/>
              </a:rPr>
              <a:t>INPUT</a:t>
            </a:r>
            <a:endParaRPr lang="en-US" sz="1100" dirty="0"/>
          </a:p>
        </p:txBody>
      </p:sp>
      <p:sp>
        <p:nvSpPr>
          <p:cNvPr id="21" name="Card"/>
          <p:cNvSpPr/>
          <p:nvPr/>
        </p:nvSpPr>
        <p:spPr>
          <a:xfrm>
            <a:off x="5135728" y="2057400"/>
            <a:ext cx="1920240" cy="804672"/>
          </a:xfrm>
          <a:prstGeom prst="roundRect">
            <a:avLst>
              <a:gd name="adj" fmla="val 11364"/>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22" name="Text 20"/>
          <p:cNvSpPr txBox="1"/>
          <p:nvPr/>
        </p:nvSpPr>
        <p:spPr>
          <a:xfrm>
            <a:off x="5245456" y="2130552"/>
            <a:ext cx="1700784" cy="256032"/>
          </a:xfrm>
          <a:prstGeom prst="rect">
            <a:avLst/>
          </a:prstGeom>
          <a:noFill/>
          <a:ln/>
        </p:spPr>
        <p:txBody>
          <a:bodyPr wrap="square" lIns="0" tIns="0" rIns="0" bIns="0" rtlCol="0" anchor="t"/>
          <a:lstStyle/>
          <a:p>
            <a:pPr marL="0" indent="0">
              <a:buNone/>
            </a:pPr>
            <a:r>
              <a:rPr lang="en-US" sz="1550" b="1" dirty="0">
                <a:solidFill>
                  <a:srgbClr val="12315F"/>
                </a:solidFill>
                <a:latin typeface="Consolas" pitchFamily="34" charset="0"/>
                <a:ea typeface="Consolas" pitchFamily="34" charset="-122"/>
                <a:cs typeface="Consolas" pitchFamily="34" charset="-120"/>
              </a:rPr>
              <a:t>importers.py</a:t>
            </a:r>
            <a:endParaRPr lang="en-US" sz="1550" dirty="0"/>
          </a:p>
        </p:txBody>
      </p:sp>
      <p:sp>
        <p:nvSpPr>
          <p:cNvPr id="23" name="Text 21"/>
          <p:cNvSpPr txBox="1"/>
          <p:nvPr/>
        </p:nvSpPr>
        <p:spPr>
          <a:xfrm>
            <a:off x="5245456" y="2423160"/>
            <a:ext cx="1700784" cy="420624"/>
          </a:xfrm>
          <a:prstGeom prst="rect">
            <a:avLst/>
          </a:prstGeom>
          <a:noFill/>
          <a:ln/>
        </p:spPr>
        <p:txBody>
          <a:bodyPr wrap="square" lIns="0" tIns="0" rIns="0" bIns="0" rtlCol="0" anchor="t"/>
          <a:lstStyle/>
          <a:p>
            <a:pPr marL="0" indent="0">
              <a:buNone/>
            </a:pPr>
            <a:r>
              <a:rPr lang="en-US" sz="1050" dirty="0">
                <a:solidFill>
                  <a:srgbClr val="56667F"/>
                </a:solidFill>
              </a:rPr>
              <a:t>CSV, Excel, JSON, SQLite, legacy registers</a:t>
            </a:r>
            <a:endParaRPr lang="en-US" sz="1050" dirty="0"/>
          </a:p>
        </p:txBody>
      </p:sp>
      <p:sp>
        <p:nvSpPr>
          <p:cNvPr id="24" name="Card"/>
          <p:cNvSpPr/>
          <p:nvPr/>
        </p:nvSpPr>
        <p:spPr>
          <a:xfrm>
            <a:off x="5135728" y="2971800"/>
            <a:ext cx="1920240" cy="804672"/>
          </a:xfrm>
          <a:prstGeom prst="roundRect">
            <a:avLst>
              <a:gd name="adj" fmla="val 11364"/>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25" name="Text 23"/>
          <p:cNvSpPr txBox="1"/>
          <p:nvPr/>
        </p:nvSpPr>
        <p:spPr>
          <a:xfrm>
            <a:off x="5245456" y="3044952"/>
            <a:ext cx="1700784" cy="256032"/>
          </a:xfrm>
          <a:prstGeom prst="rect">
            <a:avLst/>
          </a:prstGeom>
          <a:noFill/>
          <a:ln/>
        </p:spPr>
        <p:txBody>
          <a:bodyPr wrap="square" lIns="0" tIns="0" rIns="0" bIns="0" rtlCol="0" anchor="t"/>
          <a:lstStyle/>
          <a:p>
            <a:pPr marL="0" indent="0">
              <a:buNone/>
            </a:pPr>
            <a:r>
              <a:rPr lang="en-US" sz="1550" b="1" dirty="0">
                <a:solidFill>
                  <a:srgbClr val="12315F"/>
                </a:solidFill>
                <a:latin typeface="Consolas" pitchFamily="34" charset="0"/>
                <a:ea typeface="Consolas" pitchFamily="34" charset="-122"/>
                <a:cs typeface="Consolas" pitchFamily="34" charset="-120"/>
              </a:rPr>
              <a:t>xltemplates.py</a:t>
            </a:r>
            <a:endParaRPr lang="en-US" sz="1550" dirty="0"/>
          </a:p>
        </p:txBody>
      </p:sp>
      <p:sp>
        <p:nvSpPr>
          <p:cNvPr id="26" name="Text 24"/>
          <p:cNvSpPr txBox="1"/>
          <p:nvPr/>
        </p:nvSpPr>
        <p:spPr>
          <a:xfrm>
            <a:off x="5245456" y="3337560"/>
            <a:ext cx="1700784" cy="420624"/>
          </a:xfrm>
          <a:prstGeom prst="rect">
            <a:avLst/>
          </a:prstGeom>
          <a:noFill/>
          <a:ln/>
        </p:spPr>
        <p:txBody>
          <a:bodyPr wrap="square" lIns="0" tIns="0" rIns="0" bIns="0" rtlCol="0" anchor="t"/>
          <a:lstStyle/>
          <a:p>
            <a:pPr marL="0" indent="0">
              <a:buNone/>
            </a:pPr>
            <a:r>
              <a:rPr lang="en-US" sz="1050" dirty="0">
                <a:solidFill>
                  <a:srgbClr val="56667F"/>
                </a:solidFill>
              </a:rPr>
              <a:t>Excel logsheets with source cells</a:t>
            </a:r>
            <a:endParaRPr lang="en-US" sz="1050" dirty="0"/>
          </a:p>
        </p:txBody>
      </p:sp>
      <p:sp>
        <p:nvSpPr>
          <p:cNvPr id="27" name="Card"/>
          <p:cNvSpPr/>
          <p:nvPr/>
        </p:nvSpPr>
        <p:spPr>
          <a:xfrm>
            <a:off x="5135728" y="3886200"/>
            <a:ext cx="1920240" cy="804672"/>
          </a:xfrm>
          <a:prstGeom prst="roundRect">
            <a:avLst>
              <a:gd name="adj" fmla="val 11364"/>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28" name="Text 26"/>
          <p:cNvSpPr txBox="1"/>
          <p:nvPr/>
        </p:nvSpPr>
        <p:spPr>
          <a:xfrm>
            <a:off x="5245456" y="3959352"/>
            <a:ext cx="1700784" cy="256032"/>
          </a:xfrm>
          <a:prstGeom prst="rect">
            <a:avLst/>
          </a:prstGeom>
          <a:noFill/>
          <a:ln/>
        </p:spPr>
        <p:txBody>
          <a:bodyPr wrap="square" lIns="0" tIns="0" rIns="0" bIns="0" rtlCol="0" anchor="t"/>
          <a:lstStyle/>
          <a:p>
            <a:pPr marL="0" indent="0">
              <a:buNone/>
            </a:pPr>
            <a:r>
              <a:rPr lang="en-US" sz="1550" b="1" dirty="0">
                <a:solidFill>
                  <a:srgbClr val="12315F"/>
                </a:solidFill>
                <a:latin typeface="Consolas" pitchFamily="34" charset="0"/>
                <a:ea typeface="Consolas" pitchFamily="34" charset="-122"/>
                <a:cs typeface="Consolas" pitchFamily="34" charset="-120"/>
              </a:rPr>
              <a:t>workflow.py</a:t>
            </a:r>
            <a:endParaRPr lang="en-US" sz="1550" dirty="0"/>
          </a:p>
        </p:txBody>
      </p:sp>
      <p:sp>
        <p:nvSpPr>
          <p:cNvPr id="29" name="Text 27"/>
          <p:cNvSpPr txBox="1"/>
          <p:nvPr/>
        </p:nvSpPr>
        <p:spPr>
          <a:xfrm>
            <a:off x="5245456" y="4251960"/>
            <a:ext cx="1700784" cy="420624"/>
          </a:xfrm>
          <a:prstGeom prst="rect">
            <a:avLst/>
          </a:prstGeom>
          <a:noFill/>
          <a:ln/>
        </p:spPr>
        <p:txBody>
          <a:bodyPr wrap="square" lIns="0" tIns="0" rIns="0" bIns="0" rtlCol="0" anchor="t"/>
          <a:lstStyle/>
          <a:p>
            <a:pPr marL="0" indent="0">
              <a:buNone/>
            </a:pPr>
            <a:r>
              <a:rPr lang="en-US" sz="1050" dirty="0">
                <a:solidFill>
                  <a:srgbClr val="56667F"/>
                </a:solidFill>
              </a:rPr>
              <a:t>Customer Request Form</a:t>
            </a:r>
            <a:endParaRPr lang="en-US" sz="1050" dirty="0"/>
          </a:p>
        </p:txBody>
      </p:sp>
      <p:sp>
        <p:nvSpPr>
          <p:cNvPr id="30" name="Flow arrow"/>
          <p:cNvSpPr/>
          <p:nvPr/>
        </p:nvSpPr>
        <p:spPr>
          <a:xfrm>
            <a:off x="7083400" y="2926080"/>
            <a:ext cx="318440" cy="237744"/>
          </a:xfrm>
          <a:prstGeom prst="rightArrow">
            <a:avLst/>
          </a:prstGeom>
          <a:solidFill>
            <a:srgbClr val="FFB35C"/>
          </a:solidFill>
          <a:ln w="12700">
            <a:solidFill>
              <a:srgbClr val="FFB35C"/>
            </a:solidFill>
            <a:prstDash val="solid"/>
          </a:ln>
        </p:spPr>
      </p:sp>
      <p:sp>
        <p:nvSpPr>
          <p:cNvPr id="31" name="Tab ENGINE"/>
          <p:cNvSpPr txBox="1"/>
          <p:nvPr/>
        </p:nvSpPr>
        <p:spPr>
          <a:xfrm>
            <a:off x="7429271" y="1645920"/>
            <a:ext cx="1920240" cy="292608"/>
          </a:xfrm>
          <a:prstGeom prst="roundRect">
            <a:avLst>
              <a:gd name="adj" fmla="val 25000"/>
            </a:avLst>
          </a:prstGeom>
          <a:solidFill>
            <a:srgbClr val="0B2347"/>
          </a:solidFill>
          <a:ln>
            <a:solidFill>
              <a:srgbClr val="0B2347"/>
            </a:solidFill>
          </a:ln>
        </p:spPr>
        <p:txBody>
          <a:bodyPr wrap="square" lIns="0" tIns="0" rIns="0" bIns="0" rtlCol="0" anchor="ctr"/>
          <a:lstStyle/>
          <a:p>
            <a:pPr marL="0" indent="0" algn="ctr">
              <a:buNone/>
            </a:pPr>
            <a:r>
              <a:rPr lang="en-US" sz="1100" kern="0" spc="100" dirty="0">
                <a:solidFill>
                  <a:srgbClr val="FFFFFF"/>
                </a:solidFill>
                <a:latin typeface="Segoe UI Semibold"/>
              </a:rPr>
              <a:t>ENGINE</a:t>
            </a:r>
            <a:endParaRPr lang="en-US" sz="1100" dirty="0"/>
          </a:p>
        </p:txBody>
      </p:sp>
      <p:sp>
        <p:nvSpPr>
          <p:cNvPr id="32" name="Card"/>
          <p:cNvSpPr/>
          <p:nvPr/>
        </p:nvSpPr>
        <p:spPr>
          <a:xfrm>
            <a:off x="7429271" y="2057400"/>
            <a:ext cx="1920240" cy="804672"/>
          </a:xfrm>
          <a:prstGeom prst="roundRect">
            <a:avLst>
              <a:gd name="adj" fmla="val 11364"/>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33" name="Text 31"/>
          <p:cNvSpPr txBox="1"/>
          <p:nvPr/>
        </p:nvSpPr>
        <p:spPr>
          <a:xfrm>
            <a:off x="7538999" y="2130552"/>
            <a:ext cx="1700784" cy="256032"/>
          </a:xfrm>
          <a:prstGeom prst="rect">
            <a:avLst/>
          </a:prstGeom>
          <a:noFill/>
          <a:ln/>
        </p:spPr>
        <p:txBody>
          <a:bodyPr wrap="square" lIns="0" tIns="0" rIns="0" bIns="0" rtlCol="0" anchor="t"/>
          <a:lstStyle/>
          <a:p>
            <a:pPr marL="0" indent="0">
              <a:buNone/>
            </a:pPr>
            <a:r>
              <a:rPr lang="en-US" sz="1550" b="1" dirty="0">
                <a:solidFill>
                  <a:srgbClr val="12315F"/>
                </a:solidFill>
                <a:latin typeface="Consolas" pitchFamily="34" charset="0"/>
                <a:ea typeface="Consolas" pitchFamily="34" charset="-122"/>
                <a:cs typeface="Consolas" pitchFamily="34" charset="-120"/>
              </a:rPr>
              <a:t>app.py</a:t>
            </a:r>
            <a:endParaRPr lang="en-US" sz="1550" dirty="0"/>
          </a:p>
        </p:txBody>
      </p:sp>
      <p:sp>
        <p:nvSpPr>
          <p:cNvPr id="34" name="Text 32"/>
          <p:cNvSpPr txBox="1"/>
          <p:nvPr/>
        </p:nvSpPr>
        <p:spPr>
          <a:xfrm>
            <a:off x="7538999" y="2423160"/>
            <a:ext cx="1700784" cy="420624"/>
          </a:xfrm>
          <a:prstGeom prst="rect">
            <a:avLst/>
          </a:prstGeom>
          <a:noFill/>
          <a:ln/>
        </p:spPr>
        <p:txBody>
          <a:bodyPr wrap="square" lIns="0" tIns="0" rIns="0" bIns="0" rtlCol="0" anchor="t"/>
          <a:lstStyle/>
          <a:p>
            <a:pPr marL="0" indent="0">
              <a:buNone/>
            </a:pPr>
            <a:r>
              <a:rPr lang="en-US" sz="1050" dirty="0">
                <a:solidFill>
                  <a:srgbClr val="56667F"/>
                </a:solidFill>
              </a:rPr>
              <a:t>Flask API, job lifecycle</a:t>
            </a:r>
            <a:endParaRPr lang="en-US" sz="1050" dirty="0"/>
          </a:p>
        </p:txBody>
      </p:sp>
      <p:sp>
        <p:nvSpPr>
          <p:cNvPr id="35" name="Card"/>
          <p:cNvSpPr/>
          <p:nvPr/>
        </p:nvSpPr>
        <p:spPr>
          <a:xfrm>
            <a:off x="7429271" y="2971800"/>
            <a:ext cx="1920240" cy="804672"/>
          </a:xfrm>
          <a:prstGeom prst="roundRect">
            <a:avLst>
              <a:gd name="adj" fmla="val 11364"/>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36" name="Text 34"/>
          <p:cNvSpPr txBox="1"/>
          <p:nvPr/>
        </p:nvSpPr>
        <p:spPr>
          <a:xfrm>
            <a:off x="7538999" y="3044952"/>
            <a:ext cx="1700784" cy="256032"/>
          </a:xfrm>
          <a:prstGeom prst="rect">
            <a:avLst/>
          </a:prstGeom>
          <a:noFill/>
          <a:ln/>
        </p:spPr>
        <p:txBody>
          <a:bodyPr wrap="square" lIns="0" tIns="0" rIns="0" bIns="0" rtlCol="0" anchor="t"/>
          <a:lstStyle/>
          <a:p>
            <a:pPr marL="0" indent="0">
              <a:buNone/>
            </a:pPr>
            <a:r>
              <a:rPr lang="en-US" sz="1550" b="1" dirty="0">
                <a:solidFill>
                  <a:srgbClr val="12315F"/>
                </a:solidFill>
                <a:latin typeface="Consolas" pitchFamily="34" charset="0"/>
                <a:ea typeface="Consolas" pitchFamily="34" charset="-122"/>
                <a:cs typeface="Consolas" pitchFamily="34" charset="-120"/>
              </a:rPr>
              <a:t>rules.py</a:t>
            </a:r>
            <a:endParaRPr lang="en-US" sz="1550" dirty="0"/>
          </a:p>
        </p:txBody>
      </p:sp>
      <p:sp>
        <p:nvSpPr>
          <p:cNvPr id="37" name="Text 35"/>
          <p:cNvSpPr txBox="1"/>
          <p:nvPr/>
        </p:nvSpPr>
        <p:spPr>
          <a:xfrm>
            <a:off x="7538999" y="3337560"/>
            <a:ext cx="1700784" cy="420624"/>
          </a:xfrm>
          <a:prstGeom prst="rect">
            <a:avLst/>
          </a:prstGeom>
          <a:noFill/>
          <a:ln/>
        </p:spPr>
        <p:txBody>
          <a:bodyPr wrap="square" lIns="0" tIns="0" rIns="0" bIns="0" rtlCol="0" anchor="t"/>
          <a:lstStyle/>
          <a:p>
            <a:pPr marL="0" indent="0">
              <a:buNone/>
            </a:pPr>
            <a:r>
              <a:rPr lang="en-US" sz="1050" dirty="0">
                <a:solidFill>
                  <a:srgbClr val="56667F"/>
                </a:solidFill>
              </a:rPr>
              <a:t>Checks against limits</a:t>
            </a:r>
            <a:endParaRPr lang="en-US" sz="1050" dirty="0"/>
          </a:p>
        </p:txBody>
      </p:sp>
      <p:sp>
        <p:nvSpPr>
          <p:cNvPr id="38" name="Card"/>
          <p:cNvSpPr/>
          <p:nvPr/>
        </p:nvSpPr>
        <p:spPr>
          <a:xfrm>
            <a:off x="7429271" y="3886200"/>
            <a:ext cx="1920240" cy="804672"/>
          </a:xfrm>
          <a:prstGeom prst="roundRect">
            <a:avLst>
              <a:gd name="adj" fmla="val 11364"/>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39" name="Text 37"/>
          <p:cNvSpPr txBox="1"/>
          <p:nvPr/>
        </p:nvSpPr>
        <p:spPr>
          <a:xfrm>
            <a:off x="7538999" y="3959352"/>
            <a:ext cx="1700784" cy="256032"/>
          </a:xfrm>
          <a:prstGeom prst="rect">
            <a:avLst/>
          </a:prstGeom>
          <a:noFill/>
          <a:ln/>
        </p:spPr>
        <p:txBody>
          <a:bodyPr wrap="square" lIns="0" tIns="0" rIns="0" bIns="0" rtlCol="0" anchor="t"/>
          <a:lstStyle/>
          <a:p>
            <a:pPr marL="0" indent="0">
              <a:buNone/>
            </a:pPr>
            <a:r>
              <a:rPr lang="en-US" sz="1550" b="1" dirty="0">
                <a:solidFill>
                  <a:srgbClr val="12315F"/>
                </a:solidFill>
                <a:latin typeface="Consolas" pitchFamily="34" charset="0"/>
                <a:ea typeface="Consolas" pitchFamily="34" charset="-122"/>
                <a:cs typeface="Consolas" pitchFamily="34" charset="-120"/>
              </a:rPr>
              <a:t>report.py</a:t>
            </a:r>
            <a:endParaRPr lang="en-US" sz="1550" dirty="0"/>
          </a:p>
        </p:txBody>
      </p:sp>
      <p:sp>
        <p:nvSpPr>
          <p:cNvPr id="40" name="Text 38"/>
          <p:cNvSpPr txBox="1"/>
          <p:nvPr/>
        </p:nvSpPr>
        <p:spPr>
          <a:xfrm>
            <a:off x="7538999" y="4251960"/>
            <a:ext cx="1700784" cy="420624"/>
          </a:xfrm>
          <a:prstGeom prst="rect">
            <a:avLst/>
          </a:prstGeom>
          <a:noFill/>
          <a:ln/>
        </p:spPr>
        <p:txBody>
          <a:bodyPr wrap="square" lIns="0" tIns="0" rIns="0" bIns="0" rtlCol="0" anchor="t"/>
          <a:lstStyle/>
          <a:p>
            <a:pPr marL="0" indent="0">
              <a:buNone/>
            </a:pPr>
            <a:r>
              <a:rPr lang="en-US" sz="1050" dirty="0">
                <a:solidFill>
                  <a:srgbClr val="56667F"/>
                </a:solidFill>
              </a:rPr>
              <a:t>PDF, manifest, QR</a:t>
            </a:r>
            <a:endParaRPr lang="en-US" sz="1050" dirty="0"/>
          </a:p>
        </p:txBody>
      </p:sp>
      <p:sp>
        <p:nvSpPr>
          <p:cNvPr id="41" name="Flow arrow"/>
          <p:cNvSpPr/>
          <p:nvPr/>
        </p:nvSpPr>
        <p:spPr>
          <a:xfrm>
            <a:off x="9376943" y="2926080"/>
            <a:ext cx="318440" cy="237744"/>
          </a:xfrm>
          <a:prstGeom prst="rightArrow">
            <a:avLst/>
          </a:prstGeom>
          <a:solidFill>
            <a:srgbClr val="FFB35C"/>
          </a:solidFill>
          <a:ln w="12700">
            <a:solidFill>
              <a:srgbClr val="FFB35C"/>
            </a:solidFill>
            <a:prstDash val="solid"/>
          </a:ln>
        </p:spPr>
      </p:sp>
      <p:sp>
        <p:nvSpPr>
          <p:cNvPr id="42" name="Tab STORE"/>
          <p:cNvSpPr txBox="1"/>
          <p:nvPr/>
        </p:nvSpPr>
        <p:spPr>
          <a:xfrm>
            <a:off x="9722815" y="1645920"/>
            <a:ext cx="1920240" cy="292608"/>
          </a:xfrm>
          <a:prstGeom prst="roundRect">
            <a:avLst>
              <a:gd name="adj" fmla="val 25000"/>
            </a:avLst>
          </a:prstGeom>
          <a:solidFill>
            <a:srgbClr val="0B2347"/>
          </a:solidFill>
          <a:ln>
            <a:solidFill>
              <a:srgbClr val="0B2347"/>
            </a:solidFill>
          </a:ln>
        </p:spPr>
        <p:txBody>
          <a:bodyPr wrap="square" lIns="0" tIns="0" rIns="0" bIns="0" rtlCol="0" anchor="ctr"/>
          <a:lstStyle/>
          <a:p>
            <a:pPr marL="0" indent="0" algn="ctr">
              <a:buNone/>
            </a:pPr>
            <a:r>
              <a:rPr lang="en-US" sz="1100" kern="0" spc="100" dirty="0">
                <a:solidFill>
                  <a:srgbClr val="FFFFFF"/>
                </a:solidFill>
                <a:latin typeface="Segoe UI Semibold"/>
              </a:rPr>
              <a:t>STORE</a:t>
            </a:r>
            <a:endParaRPr lang="en-US" sz="1100" dirty="0"/>
          </a:p>
        </p:txBody>
      </p:sp>
      <p:sp>
        <p:nvSpPr>
          <p:cNvPr id="43" name="Card"/>
          <p:cNvSpPr/>
          <p:nvPr/>
        </p:nvSpPr>
        <p:spPr>
          <a:xfrm>
            <a:off x="9722815" y="2057400"/>
            <a:ext cx="1920240" cy="804672"/>
          </a:xfrm>
          <a:prstGeom prst="roundRect">
            <a:avLst>
              <a:gd name="adj" fmla="val 11364"/>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44" name="Text 42"/>
          <p:cNvSpPr txBox="1"/>
          <p:nvPr/>
        </p:nvSpPr>
        <p:spPr>
          <a:xfrm>
            <a:off x="9832543" y="2130552"/>
            <a:ext cx="1700784" cy="256032"/>
          </a:xfrm>
          <a:prstGeom prst="rect">
            <a:avLst/>
          </a:prstGeom>
          <a:noFill/>
          <a:ln/>
        </p:spPr>
        <p:txBody>
          <a:bodyPr wrap="square" lIns="0" tIns="0" rIns="0" bIns="0" rtlCol="0" anchor="t"/>
          <a:lstStyle/>
          <a:p>
            <a:pPr marL="0" indent="0">
              <a:buNone/>
            </a:pPr>
            <a:r>
              <a:rPr lang="en-US" sz="1550" b="1" dirty="0">
                <a:solidFill>
                  <a:srgbClr val="12315F"/>
                </a:solidFill>
                <a:latin typeface="Consolas" pitchFamily="34" charset="0"/>
                <a:ea typeface="Consolas" pitchFamily="34" charset="-122"/>
                <a:cs typeface="Consolas" pitchFamily="34" charset="-120"/>
              </a:rPr>
              <a:t>integrity.py</a:t>
            </a:r>
            <a:endParaRPr lang="en-US" sz="1550" dirty="0"/>
          </a:p>
        </p:txBody>
      </p:sp>
      <p:sp>
        <p:nvSpPr>
          <p:cNvPr id="45" name="Text 43"/>
          <p:cNvSpPr txBox="1"/>
          <p:nvPr/>
        </p:nvSpPr>
        <p:spPr>
          <a:xfrm>
            <a:off x="9832543" y="2423160"/>
            <a:ext cx="1700784" cy="420624"/>
          </a:xfrm>
          <a:prstGeom prst="rect">
            <a:avLst/>
          </a:prstGeom>
          <a:noFill/>
          <a:ln/>
        </p:spPr>
        <p:txBody>
          <a:bodyPr wrap="square" lIns="0" tIns="0" rIns="0" bIns="0" rtlCol="0" anchor="t"/>
          <a:lstStyle/>
          <a:p>
            <a:pPr marL="0" indent="0">
              <a:buNone/>
            </a:pPr>
            <a:r>
              <a:rPr lang="en-US" sz="1050" dirty="0">
                <a:solidFill>
                  <a:srgbClr val="56667F"/>
                </a:solidFill>
              </a:rPr>
              <a:t>SQLite: sections, history, files</a:t>
            </a:r>
            <a:endParaRPr lang="en-US" sz="1050" dirty="0"/>
          </a:p>
        </p:txBody>
      </p:sp>
      <p:sp>
        <p:nvSpPr>
          <p:cNvPr id="46" name="Card"/>
          <p:cNvSpPr/>
          <p:nvPr/>
        </p:nvSpPr>
        <p:spPr>
          <a:xfrm>
            <a:off x="9722815" y="2971800"/>
            <a:ext cx="1920240" cy="804672"/>
          </a:xfrm>
          <a:prstGeom prst="roundRect">
            <a:avLst>
              <a:gd name="adj" fmla="val 11364"/>
            </a:avLst>
          </a:prstGeom>
          <a:solidFill>
            <a:srgbClr val="FFF4E5"/>
          </a:solidFill>
          <a:ln w="12700">
            <a:solidFill>
              <a:srgbClr val="FF9933"/>
            </a:solidFill>
            <a:prstDash val="solid"/>
          </a:ln>
          <a:effectLst>
            <a:outerShdw blurRad="127000" dist="25400" dir="5400000" algn="bl" rotWithShape="0">
              <a:srgbClr val="0B2347">
                <a:alpha val="10000"/>
              </a:srgbClr>
            </a:outerShdw>
          </a:effectLst>
        </p:spPr>
        <p:txBody>
          <a:bodyPr/>
          <a:lstStyle/>
          <a:p>
            <a:endParaRPr lang="en-US"/>
          </a:p>
        </p:txBody>
      </p:sp>
      <p:sp>
        <p:nvSpPr>
          <p:cNvPr id="47" name="Text 45"/>
          <p:cNvSpPr txBox="1"/>
          <p:nvPr/>
        </p:nvSpPr>
        <p:spPr>
          <a:xfrm>
            <a:off x="9832543" y="3044952"/>
            <a:ext cx="1700784" cy="256032"/>
          </a:xfrm>
          <a:prstGeom prst="rect">
            <a:avLst/>
          </a:prstGeom>
          <a:noFill/>
          <a:ln/>
        </p:spPr>
        <p:txBody>
          <a:bodyPr wrap="square" lIns="0" tIns="0" rIns="0" bIns="0" rtlCol="0" anchor="t"/>
          <a:lstStyle/>
          <a:p>
            <a:pPr marL="0" indent="0">
              <a:buNone/>
            </a:pPr>
            <a:r>
              <a:rPr lang="en-US" sz="1550" dirty="0">
                <a:solidFill>
                  <a:srgbClr val="12315F"/>
                </a:solidFill>
                <a:latin typeface="Segoe UI Semibold"/>
              </a:rPr>
              <a:t>Audit hash chain</a:t>
            </a:r>
            <a:endParaRPr lang="en-US" sz="1550" dirty="0"/>
          </a:p>
        </p:txBody>
      </p:sp>
      <p:sp>
        <p:nvSpPr>
          <p:cNvPr id="48" name="Text 46"/>
          <p:cNvSpPr txBox="1"/>
          <p:nvPr/>
        </p:nvSpPr>
        <p:spPr>
          <a:xfrm>
            <a:off x="9832543" y="3337560"/>
            <a:ext cx="1700784" cy="420624"/>
          </a:xfrm>
          <a:prstGeom prst="rect">
            <a:avLst/>
          </a:prstGeom>
          <a:noFill/>
          <a:ln/>
        </p:spPr>
        <p:txBody>
          <a:bodyPr wrap="square" lIns="0" tIns="0" rIns="0" bIns="0" rtlCol="0" anchor="t"/>
          <a:lstStyle/>
          <a:p>
            <a:pPr marL="0" indent="0">
              <a:buNone/>
            </a:pPr>
            <a:r>
              <a:rPr lang="en-US" sz="1050" dirty="0">
                <a:solidFill>
                  <a:srgbClr val="56667F"/>
                </a:solidFill>
              </a:rPr>
              <a:t>Sealed on every action</a:t>
            </a:r>
            <a:endParaRPr lang="en-US" sz="1050" dirty="0"/>
          </a:p>
        </p:txBody>
      </p:sp>
      <p:sp>
        <p:nvSpPr>
          <p:cNvPr id="49" name="Card"/>
          <p:cNvSpPr/>
          <p:nvPr/>
        </p:nvSpPr>
        <p:spPr>
          <a:xfrm>
            <a:off x="9722815" y="3886200"/>
            <a:ext cx="1920240" cy="804672"/>
          </a:xfrm>
          <a:prstGeom prst="roundRect">
            <a:avLst>
              <a:gd name="adj" fmla="val 11364"/>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50" name="Text 48"/>
          <p:cNvSpPr txBox="1"/>
          <p:nvPr/>
        </p:nvSpPr>
        <p:spPr>
          <a:xfrm>
            <a:off x="9832543" y="3959352"/>
            <a:ext cx="1700784" cy="256032"/>
          </a:xfrm>
          <a:prstGeom prst="rect">
            <a:avLst/>
          </a:prstGeom>
          <a:noFill/>
          <a:ln/>
        </p:spPr>
        <p:txBody>
          <a:bodyPr wrap="square" lIns="0" tIns="0" rIns="0" bIns="0" rtlCol="0" anchor="t"/>
          <a:lstStyle/>
          <a:p>
            <a:pPr marL="0" indent="0">
              <a:buNone/>
            </a:pPr>
            <a:r>
              <a:rPr lang="en-US" sz="1550" b="1" dirty="0">
                <a:solidFill>
                  <a:srgbClr val="12315F"/>
                </a:solidFill>
                <a:latin typeface="Consolas" pitchFamily="34" charset="0"/>
                <a:ea typeface="Consolas" pitchFamily="34" charset="-122"/>
                <a:cs typeface="Consolas" pitchFamily="34" charset="-120"/>
              </a:rPr>
              <a:t>notify.py</a:t>
            </a:r>
            <a:endParaRPr lang="en-US" sz="1550" dirty="0"/>
          </a:p>
        </p:txBody>
      </p:sp>
      <p:sp>
        <p:nvSpPr>
          <p:cNvPr id="51" name="Text 49"/>
          <p:cNvSpPr txBox="1"/>
          <p:nvPr/>
        </p:nvSpPr>
        <p:spPr>
          <a:xfrm>
            <a:off x="9832543" y="4251960"/>
            <a:ext cx="1700784" cy="420624"/>
          </a:xfrm>
          <a:prstGeom prst="rect">
            <a:avLst/>
          </a:prstGeom>
          <a:noFill/>
          <a:ln/>
        </p:spPr>
        <p:txBody>
          <a:bodyPr wrap="square" lIns="0" tIns="0" rIns="0" bIns="0" rtlCol="0" anchor="t"/>
          <a:lstStyle/>
          <a:p>
            <a:pPr marL="0" indent="0">
              <a:buNone/>
            </a:pPr>
            <a:r>
              <a:rPr lang="en-US" sz="1050" dirty="0">
                <a:solidFill>
                  <a:srgbClr val="56667F"/>
                </a:solidFill>
              </a:rPr>
              <a:t>Notices; retention.py backups</a:t>
            </a:r>
            <a:endParaRPr lang="en-US" sz="1050" dirty="0"/>
          </a:p>
        </p:txBody>
      </p:sp>
      <p:sp>
        <p:nvSpPr>
          <p:cNvPr id="52" name="Legend navy"/>
          <p:cNvSpPr/>
          <p:nvPr/>
        </p:nvSpPr>
        <p:spPr>
          <a:xfrm>
            <a:off x="548640" y="4754880"/>
            <a:ext cx="182880" cy="182880"/>
          </a:xfrm>
          <a:prstGeom prst="roundRect">
            <a:avLst>
              <a:gd name="adj" fmla="val 20000"/>
            </a:avLst>
          </a:prstGeom>
          <a:solidFill>
            <a:srgbClr val="0B2347"/>
          </a:solidFill>
          <a:ln w="12700">
            <a:solidFill>
              <a:srgbClr val="0B2347"/>
            </a:solidFill>
            <a:prstDash val="solid"/>
          </a:ln>
        </p:spPr>
      </p:sp>
      <p:sp>
        <p:nvSpPr>
          <p:cNvPr id="53" name="Text 51"/>
          <p:cNvSpPr txBox="1"/>
          <p:nvPr/>
        </p:nvSpPr>
        <p:spPr>
          <a:xfrm>
            <a:off x="822960" y="4727448"/>
            <a:ext cx="914400" cy="237744"/>
          </a:xfrm>
          <a:prstGeom prst="rect">
            <a:avLst/>
          </a:prstGeom>
          <a:noFill/>
          <a:ln/>
        </p:spPr>
        <p:txBody>
          <a:bodyPr wrap="square" lIns="0" tIns="0" rIns="0" bIns="0" rtlCol="0" anchor="t"/>
          <a:lstStyle/>
          <a:p>
            <a:pPr marL="0" indent="0">
              <a:buNone/>
            </a:pPr>
            <a:r>
              <a:rPr lang="en-US" sz="1050" dirty="0">
                <a:solidFill>
                  <a:srgbClr val="56667F"/>
                </a:solidFill>
              </a:rPr>
              <a:t>Module</a:t>
            </a:r>
            <a:endParaRPr lang="en-US" sz="1050" dirty="0"/>
          </a:p>
        </p:txBody>
      </p:sp>
      <p:sp>
        <p:nvSpPr>
          <p:cNvPr id="54" name="Legend saffron"/>
          <p:cNvSpPr/>
          <p:nvPr/>
        </p:nvSpPr>
        <p:spPr>
          <a:xfrm>
            <a:off x="1737360" y="4754880"/>
            <a:ext cx="182880" cy="182880"/>
          </a:xfrm>
          <a:prstGeom prst="roundRect">
            <a:avLst>
              <a:gd name="adj" fmla="val 20000"/>
            </a:avLst>
          </a:prstGeom>
          <a:solidFill>
            <a:srgbClr val="FFF4E5"/>
          </a:solidFill>
          <a:ln w="12700">
            <a:solidFill>
              <a:srgbClr val="FF9933"/>
            </a:solidFill>
            <a:prstDash val="solid"/>
          </a:ln>
        </p:spPr>
      </p:sp>
      <p:sp>
        <p:nvSpPr>
          <p:cNvPr id="55" name="Text 53"/>
          <p:cNvSpPr txBox="1"/>
          <p:nvPr/>
        </p:nvSpPr>
        <p:spPr>
          <a:xfrm>
            <a:off x="2011680" y="4727448"/>
            <a:ext cx="1371600" cy="237744"/>
          </a:xfrm>
          <a:prstGeom prst="rect">
            <a:avLst/>
          </a:prstGeom>
          <a:noFill/>
          <a:ln/>
        </p:spPr>
        <p:txBody>
          <a:bodyPr wrap="square" lIns="0" tIns="0" rIns="0" bIns="0" rtlCol="0" anchor="t"/>
          <a:lstStyle/>
          <a:p>
            <a:pPr marL="0" indent="0">
              <a:buNone/>
            </a:pPr>
            <a:r>
              <a:rPr lang="en-US" sz="1050" dirty="0">
                <a:solidFill>
                  <a:srgbClr val="56667F"/>
                </a:solidFill>
              </a:rPr>
              <a:t>Integrity layer</a:t>
            </a:r>
            <a:endParaRPr lang="en-US" sz="1050" dirty="0"/>
          </a:p>
        </p:txBody>
      </p:sp>
      <p:sp>
        <p:nvSpPr>
          <p:cNvPr id="56" name="Card"/>
          <p:cNvSpPr/>
          <p:nvPr/>
        </p:nvSpPr>
        <p:spPr>
          <a:xfrm>
            <a:off x="548640" y="5166360"/>
            <a:ext cx="1475188" cy="914400"/>
          </a:xfrm>
          <a:prstGeom prst="roundRect">
            <a:avLst>
              <a:gd name="adj" fmla="val 12000"/>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57" name="Text 55"/>
          <p:cNvSpPr txBox="1"/>
          <p:nvPr/>
        </p:nvSpPr>
        <p:spPr>
          <a:xfrm>
            <a:off x="640080" y="5257800"/>
            <a:ext cx="1292308" cy="274320"/>
          </a:xfrm>
          <a:prstGeom prst="rect">
            <a:avLst/>
          </a:prstGeom>
          <a:noFill/>
          <a:ln/>
        </p:spPr>
        <p:txBody>
          <a:bodyPr wrap="square" lIns="0" tIns="0" rIns="0" bIns="0" rtlCol="0" anchor="t"/>
          <a:lstStyle/>
          <a:p>
            <a:pPr marL="0" indent="0">
              <a:buNone/>
            </a:pPr>
            <a:r>
              <a:rPr lang="en-US" sz="1550" dirty="0">
                <a:solidFill>
                  <a:srgbClr val="1C4F9C"/>
                </a:solidFill>
                <a:latin typeface="Segoe UI Semibold"/>
              </a:rPr>
              <a:t>Python</a:t>
            </a:r>
            <a:endParaRPr lang="en-US" sz="1550" dirty="0"/>
          </a:p>
        </p:txBody>
      </p:sp>
      <p:sp>
        <p:nvSpPr>
          <p:cNvPr id="58" name="Text 56"/>
          <p:cNvSpPr txBox="1"/>
          <p:nvPr/>
        </p:nvSpPr>
        <p:spPr>
          <a:xfrm>
            <a:off x="640080" y="5559552"/>
            <a:ext cx="1292308" cy="457200"/>
          </a:xfrm>
          <a:prstGeom prst="rect">
            <a:avLst/>
          </a:prstGeom>
          <a:noFill/>
          <a:ln/>
        </p:spPr>
        <p:txBody>
          <a:bodyPr wrap="square" lIns="0" tIns="0" rIns="0" bIns="0" rtlCol="0" anchor="t"/>
          <a:lstStyle/>
          <a:p>
            <a:pPr marL="0" indent="0">
              <a:buNone/>
            </a:pPr>
            <a:r>
              <a:rPr lang="en-US" sz="1050" dirty="0">
                <a:solidFill>
                  <a:srgbClr val="56667F"/>
                </a:solidFill>
              </a:rPr>
              <a:t>About 83% of the code</a:t>
            </a:r>
            <a:endParaRPr lang="en-US" sz="1050" dirty="0"/>
          </a:p>
        </p:txBody>
      </p:sp>
      <p:sp>
        <p:nvSpPr>
          <p:cNvPr id="59" name="Card"/>
          <p:cNvSpPr/>
          <p:nvPr/>
        </p:nvSpPr>
        <p:spPr>
          <a:xfrm>
            <a:off x="2151844" y="5166360"/>
            <a:ext cx="1475188" cy="914400"/>
          </a:xfrm>
          <a:prstGeom prst="roundRect">
            <a:avLst>
              <a:gd name="adj" fmla="val 12000"/>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60" name="Text 58"/>
          <p:cNvSpPr txBox="1"/>
          <p:nvPr/>
        </p:nvSpPr>
        <p:spPr>
          <a:xfrm>
            <a:off x="2243284" y="5257800"/>
            <a:ext cx="1292308" cy="274320"/>
          </a:xfrm>
          <a:prstGeom prst="rect">
            <a:avLst/>
          </a:prstGeom>
          <a:noFill/>
          <a:ln/>
        </p:spPr>
        <p:txBody>
          <a:bodyPr wrap="square" lIns="0" tIns="0" rIns="0" bIns="0" rtlCol="0" anchor="t"/>
          <a:lstStyle/>
          <a:p>
            <a:pPr marL="0" indent="0">
              <a:buNone/>
            </a:pPr>
            <a:r>
              <a:rPr lang="en-US" sz="1550" dirty="0">
                <a:solidFill>
                  <a:srgbClr val="1C4F9C"/>
                </a:solidFill>
                <a:latin typeface="Segoe UI Semibold"/>
              </a:rPr>
              <a:t>Flask</a:t>
            </a:r>
            <a:endParaRPr lang="en-US" sz="1550" dirty="0"/>
          </a:p>
        </p:txBody>
      </p:sp>
      <p:sp>
        <p:nvSpPr>
          <p:cNvPr id="61" name="Text 59"/>
          <p:cNvSpPr txBox="1"/>
          <p:nvPr/>
        </p:nvSpPr>
        <p:spPr>
          <a:xfrm>
            <a:off x="2243284" y="5559552"/>
            <a:ext cx="1292308" cy="457200"/>
          </a:xfrm>
          <a:prstGeom prst="rect">
            <a:avLst/>
          </a:prstGeom>
          <a:noFill/>
          <a:ln/>
        </p:spPr>
        <p:txBody>
          <a:bodyPr wrap="square" lIns="0" tIns="0" rIns="0" bIns="0" rtlCol="0" anchor="t"/>
          <a:lstStyle/>
          <a:p>
            <a:pPr marL="0" indent="0">
              <a:buNone/>
            </a:pPr>
            <a:r>
              <a:rPr lang="en-US" sz="1050" dirty="0">
                <a:solidFill>
                  <a:srgbClr val="56667F"/>
                </a:solidFill>
              </a:rPr>
              <a:t>REST API</a:t>
            </a:r>
            <a:endParaRPr lang="en-US" sz="1050" dirty="0"/>
          </a:p>
        </p:txBody>
      </p:sp>
      <p:sp>
        <p:nvSpPr>
          <p:cNvPr id="62" name="Card"/>
          <p:cNvSpPr/>
          <p:nvPr/>
        </p:nvSpPr>
        <p:spPr>
          <a:xfrm>
            <a:off x="3755049" y="5166360"/>
            <a:ext cx="1475188" cy="914400"/>
          </a:xfrm>
          <a:prstGeom prst="roundRect">
            <a:avLst>
              <a:gd name="adj" fmla="val 12000"/>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63" name="Text 61"/>
          <p:cNvSpPr txBox="1"/>
          <p:nvPr/>
        </p:nvSpPr>
        <p:spPr>
          <a:xfrm>
            <a:off x="3846489" y="5257800"/>
            <a:ext cx="1292308" cy="274320"/>
          </a:xfrm>
          <a:prstGeom prst="rect">
            <a:avLst/>
          </a:prstGeom>
          <a:noFill/>
          <a:ln/>
        </p:spPr>
        <p:txBody>
          <a:bodyPr wrap="square" lIns="0" tIns="0" rIns="0" bIns="0" rtlCol="0" anchor="t"/>
          <a:lstStyle/>
          <a:p>
            <a:pPr marL="0" indent="0">
              <a:buNone/>
            </a:pPr>
            <a:r>
              <a:rPr lang="en-US" sz="1550" dirty="0">
                <a:solidFill>
                  <a:srgbClr val="1C4F9C"/>
                </a:solidFill>
                <a:latin typeface="Segoe UI Semibold"/>
              </a:rPr>
              <a:t>SQLite</a:t>
            </a:r>
            <a:endParaRPr lang="en-US" sz="1550" dirty="0"/>
          </a:p>
        </p:txBody>
      </p:sp>
      <p:sp>
        <p:nvSpPr>
          <p:cNvPr id="64" name="Text 62"/>
          <p:cNvSpPr txBox="1"/>
          <p:nvPr/>
        </p:nvSpPr>
        <p:spPr>
          <a:xfrm>
            <a:off x="3846489" y="5559552"/>
            <a:ext cx="1292308" cy="457200"/>
          </a:xfrm>
          <a:prstGeom prst="rect">
            <a:avLst/>
          </a:prstGeom>
          <a:noFill/>
          <a:ln/>
        </p:spPr>
        <p:txBody>
          <a:bodyPr wrap="square" lIns="0" tIns="0" rIns="0" bIns="0" rtlCol="0" anchor="t"/>
          <a:lstStyle/>
          <a:p>
            <a:pPr marL="0" indent="0">
              <a:buNone/>
            </a:pPr>
            <a:r>
              <a:rPr lang="en-US" sz="1050" dirty="0">
                <a:solidFill>
                  <a:srgbClr val="56667F"/>
                </a:solidFill>
              </a:rPr>
              <a:t>One file, no extra service</a:t>
            </a:r>
            <a:endParaRPr lang="en-US" sz="1050" dirty="0"/>
          </a:p>
        </p:txBody>
      </p:sp>
      <p:sp>
        <p:nvSpPr>
          <p:cNvPr id="65" name="Card"/>
          <p:cNvSpPr/>
          <p:nvPr/>
        </p:nvSpPr>
        <p:spPr>
          <a:xfrm>
            <a:off x="5358253" y="5166360"/>
            <a:ext cx="1475188" cy="914400"/>
          </a:xfrm>
          <a:prstGeom prst="roundRect">
            <a:avLst>
              <a:gd name="adj" fmla="val 12000"/>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66" name="Text 64"/>
          <p:cNvSpPr txBox="1"/>
          <p:nvPr/>
        </p:nvSpPr>
        <p:spPr>
          <a:xfrm>
            <a:off x="5449693" y="5257800"/>
            <a:ext cx="1292308" cy="274320"/>
          </a:xfrm>
          <a:prstGeom prst="rect">
            <a:avLst/>
          </a:prstGeom>
          <a:noFill/>
          <a:ln/>
        </p:spPr>
        <p:txBody>
          <a:bodyPr wrap="square" lIns="0" tIns="0" rIns="0" bIns="0" rtlCol="0" anchor="t"/>
          <a:lstStyle/>
          <a:p>
            <a:pPr marL="0" indent="0">
              <a:buNone/>
            </a:pPr>
            <a:r>
              <a:rPr lang="en-US" sz="1550" dirty="0">
                <a:solidFill>
                  <a:srgbClr val="1C4F9C"/>
                </a:solidFill>
                <a:latin typeface="Segoe UI Semibold"/>
              </a:rPr>
              <a:t>openpyxl</a:t>
            </a:r>
            <a:endParaRPr lang="en-US" sz="1550" dirty="0"/>
          </a:p>
        </p:txBody>
      </p:sp>
      <p:sp>
        <p:nvSpPr>
          <p:cNvPr id="67" name="Text 65"/>
          <p:cNvSpPr txBox="1"/>
          <p:nvPr/>
        </p:nvSpPr>
        <p:spPr>
          <a:xfrm>
            <a:off x="5449693" y="5559552"/>
            <a:ext cx="1292308" cy="457200"/>
          </a:xfrm>
          <a:prstGeom prst="rect">
            <a:avLst/>
          </a:prstGeom>
          <a:noFill/>
          <a:ln/>
        </p:spPr>
        <p:txBody>
          <a:bodyPr wrap="square" lIns="0" tIns="0" rIns="0" bIns="0" rtlCol="0" anchor="t"/>
          <a:lstStyle/>
          <a:p>
            <a:pPr marL="0" indent="0">
              <a:buNone/>
            </a:pPr>
            <a:r>
              <a:rPr lang="en-US" sz="1050" dirty="0">
                <a:solidFill>
                  <a:srgbClr val="56667F"/>
                </a:solidFill>
              </a:rPr>
              <a:t>Excel logsheets</a:t>
            </a:r>
            <a:endParaRPr lang="en-US" sz="1050" dirty="0"/>
          </a:p>
        </p:txBody>
      </p:sp>
      <p:sp>
        <p:nvSpPr>
          <p:cNvPr id="68" name="Card"/>
          <p:cNvSpPr/>
          <p:nvPr/>
        </p:nvSpPr>
        <p:spPr>
          <a:xfrm>
            <a:off x="6961458" y="5166360"/>
            <a:ext cx="1475188" cy="914400"/>
          </a:xfrm>
          <a:prstGeom prst="roundRect">
            <a:avLst>
              <a:gd name="adj" fmla="val 12000"/>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69" name="Text 67"/>
          <p:cNvSpPr txBox="1"/>
          <p:nvPr/>
        </p:nvSpPr>
        <p:spPr>
          <a:xfrm>
            <a:off x="7052898" y="5257800"/>
            <a:ext cx="1292308" cy="274320"/>
          </a:xfrm>
          <a:prstGeom prst="rect">
            <a:avLst/>
          </a:prstGeom>
          <a:noFill/>
          <a:ln/>
        </p:spPr>
        <p:txBody>
          <a:bodyPr wrap="square" lIns="0" tIns="0" rIns="0" bIns="0" rtlCol="0" anchor="t"/>
          <a:lstStyle/>
          <a:p>
            <a:pPr marL="0" indent="0">
              <a:buNone/>
            </a:pPr>
            <a:r>
              <a:rPr lang="en-US" sz="1550" dirty="0">
                <a:solidFill>
                  <a:srgbClr val="1C4F9C"/>
                </a:solidFill>
                <a:latin typeface="Segoe UI Semibold"/>
              </a:rPr>
              <a:t>ReportLab</a:t>
            </a:r>
            <a:endParaRPr lang="en-US" sz="1550" dirty="0"/>
          </a:p>
        </p:txBody>
      </p:sp>
      <p:sp>
        <p:nvSpPr>
          <p:cNvPr id="70" name="Text 68"/>
          <p:cNvSpPr txBox="1"/>
          <p:nvPr/>
        </p:nvSpPr>
        <p:spPr>
          <a:xfrm>
            <a:off x="7052898" y="5559552"/>
            <a:ext cx="1292308" cy="457200"/>
          </a:xfrm>
          <a:prstGeom prst="rect">
            <a:avLst/>
          </a:prstGeom>
          <a:noFill/>
          <a:ln/>
        </p:spPr>
        <p:txBody>
          <a:bodyPr wrap="square" lIns="0" tIns="0" rIns="0" bIns="0" rtlCol="0" anchor="t"/>
          <a:lstStyle/>
          <a:p>
            <a:pPr marL="0" indent="0">
              <a:buNone/>
            </a:pPr>
            <a:r>
              <a:rPr lang="en-US" sz="1050" dirty="0">
                <a:solidFill>
                  <a:srgbClr val="56667F"/>
                </a:solidFill>
              </a:rPr>
              <a:t>PDF reports</a:t>
            </a:r>
            <a:endParaRPr lang="en-US" sz="1050" dirty="0"/>
          </a:p>
        </p:txBody>
      </p:sp>
      <p:sp>
        <p:nvSpPr>
          <p:cNvPr id="71" name="Card"/>
          <p:cNvSpPr/>
          <p:nvPr/>
        </p:nvSpPr>
        <p:spPr>
          <a:xfrm>
            <a:off x="8564662" y="5166360"/>
            <a:ext cx="1475188" cy="914400"/>
          </a:xfrm>
          <a:prstGeom prst="roundRect">
            <a:avLst>
              <a:gd name="adj" fmla="val 12000"/>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72" name="Text 70"/>
          <p:cNvSpPr txBox="1"/>
          <p:nvPr/>
        </p:nvSpPr>
        <p:spPr>
          <a:xfrm>
            <a:off x="8656102" y="5257800"/>
            <a:ext cx="1292308" cy="274320"/>
          </a:xfrm>
          <a:prstGeom prst="rect">
            <a:avLst/>
          </a:prstGeom>
          <a:noFill/>
          <a:ln/>
        </p:spPr>
        <p:txBody>
          <a:bodyPr wrap="square" lIns="0" tIns="0" rIns="0" bIns="0" rtlCol="0" anchor="t"/>
          <a:lstStyle/>
          <a:p>
            <a:pPr marL="0" indent="0">
              <a:buNone/>
            </a:pPr>
            <a:r>
              <a:rPr lang="en-US" sz="1550" dirty="0">
                <a:solidFill>
                  <a:srgbClr val="1C4F9C"/>
                </a:solidFill>
                <a:latin typeface="Segoe UI Semibold"/>
              </a:rPr>
              <a:t>pypdfium2</a:t>
            </a:r>
            <a:endParaRPr lang="en-US" sz="1550" dirty="0"/>
          </a:p>
        </p:txBody>
      </p:sp>
      <p:sp>
        <p:nvSpPr>
          <p:cNvPr id="73" name="Text 71"/>
          <p:cNvSpPr txBox="1"/>
          <p:nvPr/>
        </p:nvSpPr>
        <p:spPr>
          <a:xfrm>
            <a:off x="8656102" y="5559552"/>
            <a:ext cx="1292308" cy="457200"/>
          </a:xfrm>
          <a:prstGeom prst="rect">
            <a:avLst/>
          </a:prstGeom>
          <a:noFill/>
          <a:ln/>
        </p:spPr>
        <p:txBody>
          <a:bodyPr wrap="square" lIns="0" tIns="0" rIns="0" bIns="0" rtlCol="0" anchor="t"/>
          <a:lstStyle/>
          <a:p>
            <a:pPr marL="0" indent="0">
              <a:buNone/>
            </a:pPr>
            <a:r>
              <a:rPr lang="en-US" sz="1050" dirty="0">
                <a:solidFill>
                  <a:srgbClr val="56667F"/>
                </a:solidFill>
              </a:rPr>
              <a:t>PDF checks</a:t>
            </a:r>
            <a:endParaRPr lang="en-US" sz="1050" dirty="0"/>
          </a:p>
        </p:txBody>
      </p:sp>
      <p:sp>
        <p:nvSpPr>
          <p:cNvPr id="74" name="Card"/>
          <p:cNvSpPr/>
          <p:nvPr/>
        </p:nvSpPr>
        <p:spPr>
          <a:xfrm>
            <a:off x="10167867" y="5166360"/>
            <a:ext cx="1475188" cy="914400"/>
          </a:xfrm>
          <a:prstGeom prst="roundRect">
            <a:avLst>
              <a:gd name="adj" fmla="val 12000"/>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75" name="Text 73"/>
          <p:cNvSpPr txBox="1"/>
          <p:nvPr/>
        </p:nvSpPr>
        <p:spPr>
          <a:xfrm>
            <a:off x="10259307" y="5257800"/>
            <a:ext cx="1292308" cy="274320"/>
          </a:xfrm>
          <a:prstGeom prst="rect">
            <a:avLst/>
          </a:prstGeom>
          <a:noFill/>
          <a:ln/>
        </p:spPr>
        <p:txBody>
          <a:bodyPr wrap="square" lIns="0" tIns="0" rIns="0" bIns="0" rtlCol="0" anchor="t"/>
          <a:lstStyle/>
          <a:p>
            <a:pPr marL="0" indent="0">
              <a:buNone/>
            </a:pPr>
            <a:r>
              <a:rPr lang="en-US" sz="1550" dirty="0">
                <a:solidFill>
                  <a:srgbClr val="1C4F9C"/>
                </a:solidFill>
                <a:latin typeface="Segoe UI Semibold"/>
              </a:rPr>
              <a:t>HTML + JS</a:t>
            </a:r>
            <a:endParaRPr lang="en-US" sz="1550" dirty="0"/>
          </a:p>
        </p:txBody>
      </p:sp>
      <p:sp>
        <p:nvSpPr>
          <p:cNvPr id="76" name="Text 74"/>
          <p:cNvSpPr txBox="1"/>
          <p:nvPr/>
        </p:nvSpPr>
        <p:spPr>
          <a:xfrm>
            <a:off x="10259307" y="5559552"/>
            <a:ext cx="1292308" cy="457200"/>
          </a:xfrm>
          <a:prstGeom prst="rect">
            <a:avLst/>
          </a:prstGeom>
          <a:noFill/>
          <a:ln/>
        </p:spPr>
        <p:txBody>
          <a:bodyPr wrap="square" lIns="0" tIns="0" rIns="0" bIns="0" rtlCol="0" anchor="t"/>
          <a:lstStyle/>
          <a:p>
            <a:pPr marL="0" indent="0">
              <a:buNone/>
            </a:pPr>
            <a:r>
              <a:rPr lang="en-US" sz="1050" dirty="0">
                <a:solidFill>
                  <a:srgbClr val="56667F"/>
                </a:solidFill>
              </a:rPr>
              <a:t>Front end</a:t>
            </a:r>
            <a:endParaRPr lang="en-US" sz="1050" dirty="0"/>
          </a:p>
        </p:txBody>
      </p:sp>
      <p:sp>
        <p:nvSpPr>
          <p:cNvPr id="2"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6667F"/>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503920" cy="1005840"/>
          </a:xfrm>
          <a:prstGeom prst="rect">
            <a:avLst/>
          </a:prstGeom>
          <a:noFill/>
          <a:ln/>
        </p:spPr>
        <p:txBody>
          <a:bodyPr wrap="square" lIns="0" tIns="0" rIns="0" bIns="0" rtlCol="0" anchor="t"/>
          <a:lstStyle/>
          <a:p>
            <a:pPr marL="0" indent="0" algn="l">
              <a:buNone/>
            </a:pPr>
            <a:r>
              <a:rPr lang="en-US" sz="2800" spc="-20" dirty="0">
                <a:solidFill>
                  <a:schemeClr val="tx2"/>
                </a:solidFill>
                <a:latin typeface="Segoe UI Semibold"/>
              </a:rPr>
              <a:t>Results: ten documents, four import formats and 157 automated tests, with more to come</a:t>
            </a:r>
            <a:endParaRPr lang="en-US" sz="2800" dirty="0"/>
          </a:p>
        </p:txBody>
      </p:sp>
      <p:sp>
        <p:nvSpPr>
          <p:cNvPr id="3" name="Pill: RESULTS"/>
          <p:cNvSpPr txBox="1"/>
          <p:nvPr/>
        </p:nvSpPr>
        <p:spPr>
          <a:xfrm>
            <a:off x="10468966" y="457200"/>
            <a:ext cx="1174090" cy="329184"/>
          </a:xfrm>
          <a:prstGeom prst="roundRect">
            <a:avLst>
              <a:gd name="adj" fmla="val 50000"/>
            </a:avLst>
          </a:prstGeom>
          <a:solidFill>
            <a:srgbClr val="EEF3FA"/>
          </a:solidFill>
          <a:ln w="6350">
            <a:solidFill>
              <a:srgbClr val="EEF3FA"/>
            </a:solidFill>
          </a:ln>
        </p:spPr>
        <p:txBody>
          <a:bodyPr wrap="square" lIns="0" tIns="0" rIns="0" bIns="0" rtlCol="0" anchor="ctr"/>
          <a:lstStyle/>
          <a:p>
            <a:pPr marL="0" indent="0" algn="ctr">
              <a:buNone/>
            </a:pPr>
            <a:r>
              <a:rPr lang="en-US" sz="1100" kern="0" spc="60" dirty="0">
                <a:solidFill>
                  <a:srgbClr val="56667F"/>
                </a:solidFill>
                <a:latin typeface="Segoe UI Semibold"/>
              </a:rPr>
              <a:t>RESULTS</a:t>
            </a:r>
            <a:endParaRPr lang="en-US" sz="1100" dirty="0"/>
          </a:p>
        </p:txBody>
      </p:sp>
      <p:sp>
        <p:nvSpPr>
          <p:cNvPr id="4" name="Card"/>
          <p:cNvSpPr/>
          <p:nvPr/>
        </p:nvSpPr>
        <p:spPr>
          <a:xfrm>
            <a:off x="548640" y="1691640"/>
            <a:ext cx="2697480" cy="2011680"/>
          </a:xfrm>
          <a:prstGeom prst="roundRect">
            <a:avLst>
              <a:gd name="adj" fmla="val 7273"/>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5" name="Text 3"/>
          <p:cNvSpPr txBox="1"/>
          <p:nvPr/>
        </p:nvSpPr>
        <p:spPr>
          <a:xfrm>
            <a:off x="822960" y="1965960"/>
            <a:ext cx="2194560" cy="822960"/>
          </a:xfrm>
          <a:prstGeom prst="rect">
            <a:avLst/>
          </a:prstGeom>
          <a:noFill/>
          <a:ln/>
        </p:spPr>
        <p:txBody>
          <a:bodyPr wrap="square" lIns="0" tIns="0" rIns="0" bIns="0" rtlCol="0" anchor="ctr"/>
          <a:lstStyle/>
          <a:p>
            <a:pPr marL="0" indent="0">
              <a:buNone/>
            </a:pPr>
            <a:r>
              <a:rPr lang="en-US" sz="5500" dirty="0">
                <a:solidFill>
                  <a:srgbClr val="1C4F9C"/>
                </a:solidFill>
                <a:latin typeface="Segoe UI Semibold"/>
              </a:rPr>
              <a:t>10</a:t>
            </a:r>
            <a:endParaRPr lang="en-US" sz="5500" dirty="0"/>
          </a:p>
        </p:txBody>
      </p:sp>
      <p:sp>
        <p:nvSpPr>
          <p:cNvPr id="6" name="Text 4"/>
          <p:cNvSpPr txBox="1"/>
          <p:nvPr/>
        </p:nvSpPr>
        <p:spPr>
          <a:xfrm>
            <a:off x="822960" y="2880360"/>
            <a:ext cx="2194560" cy="640080"/>
          </a:xfrm>
          <a:prstGeom prst="rect">
            <a:avLst/>
          </a:prstGeom>
          <a:noFill/>
          <a:ln/>
        </p:spPr>
        <p:txBody>
          <a:bodyPr wrap="square" lIns="0" tIns="0" rIns="0" bIns="0" rtlCol="0" anchor="t"/>
          <a:lstStyle/>
          <a:p>
            <a:pPr marL="0" indent="0">
              <a:buNone/>
            </a:pPr>
            <a:r>
              <a:rPr lang="en-US" dirty="0">
                <a:solidFill>
                  <a:srgbClr val="14233C"/>
                </a:solidFill>
              </a:rPr>
              <a:t>Document types</a:t>
            </a:r>
            <a:endParaRPr lang="en-US" dirty="0"/>
          </a:p>
        </p:txBody>
      </p:sp>
      <p:sp>
        <p:nvSpPr>
          <p:cNvPr id="7" name="Card"/>
          <p:cNvSpPr/>
          <p:nvPr/>
        </p:nvSpPr>
        <p:spPr>
          <a:xfrm>
            <a:off x="3474720" y="1691640"/>
            <a:ext cx="2697480" cy="2011680"/>
          </a:xfrm>
          <a:prstGeom prst="roundRect">
            <a:avLst>
              <a:gd name="adj" fmla="val 7273"/>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8" name="Text 6"/>
          <p:cNvSpPr txBox="1"/>
          <p:nvPr/>
        </p:nvSpPr>
        <p:spPr>
          <a:xfrm>
            <a:off x="3749040" y="1965960"/>
            <a:ext cx="2194560" cy="822960"/>
          </a:xfrm>
          <a:prstGeom prst="rect">
            <a:avLst/>
          </a:prstGeom>
          <a:noFill/>
          <a:ln/>
        </p:spPr>
        <p:txBody>
          <a:bodyPr wrap="square" lIns="0" tIns="0" rIns="0" bIns="0" rtlCol="0" anchor="ctr"/>
          <a:lstStyle/>
          <a:p>
            <a:pPr marL="0" indent="0">
              <a:buNone/>
            </a:pPr>
            <a:r>
              <a:rPr lang="en-US" sz="5500" dirty="0">
                <a:solidFill>
                  <a:srgbClr val="1C4F9C"/>
                </a:solidFill>
                <a:latin typeface="Segoe UI Semibold"/>
              </a:rPr>
              <a:t>4</a:t>
            </a:r>
            <a:endParaRPr lang="en-US" sz="5500" dirty="0"/>
          </a:p>
        </p:txBody>
      </p:sp>
      <p:sp>
        <p:nvSpPr>
          <p:cNvPr id="9" name="Text 7"/>
          <p:cNvSpPr txBox="1"/>
          <p:nvPr/>
        </p:nvSpPr>
        <p:spPr>
          <a:xfrm>
            <a:off x="3749040" y="2880360"/>
            <a:ext cx="2194560" cy="640080"/>
          </a:xfrm>
          <a:prstGeom prst="rect">
            <a:avLst/>
          </a:prstGeom>
          <a:noFill/>
          <a:ln/>
        </p:spPr>
        <p:txBody>
          <a:bodyPr wrap="square" lIns="0" tIns="0" rIns="0" bIns="0" rtlCol="0" anchor="t"/>
          <a:lstStyle/>
          <a:p>
            <a:pPr marL="0" indent="0">
              <a:buNone/>
            </a:pPr>
            <a:r>
              <a:rPr lang="en-US" dirty="0">
                <a:solidFill>
                  <a:srgbClr val="14233C"/>
                </a:solidFill>
              </a:rPr>
              <a:t>Import formats</a:t>
            </a:r>
            <a:endParaRPr lang="en-US" dirty="0"/>
          </a:p>
        </p:txBody>
      </p:sp>
      <p:sp>
        <p:nvSpPr>
          <p:cNvPr id="10" name="Card"/>
          <p:cNvSpPr/>
          <p:nvPr/>
        </p:nvSpPr>
        <p:spPr>
          <a:xfrm>
            <a:off x="548640" y="3931920"/>
            <a:ext cx="2697480" cy="2011680"/>
          </a:xfrm>
          <a:prstGeom prst="roundRect">
            <a:avLst>
              <a:gd name="adj" fmla="val 7273"/>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11" name="Text 9"/>
          <p:cNvSpPr txBox="1"/>
          <p:nvPr/>
        </p:nvSpPr>
        <p:spPr>
          <a:xfrm>
            <a:off x="822960" y="4206240"/>
            <a:ext cx="2194560" cy="822960"/>
          </a:xfrm>
          <a:prstGeom prst="rect">
            <a:avLst/>
          </a:prstGeom>
          <a:noFill/>
          <a:ln/>
        </p:spPr>
        <p:txBody>
          <a:bodyPr wrap="square" lIns="0" tIns="0" rIns="0" bIns="0" rtlCol="0" anchor="ctr"/>
          <a:lstStyle/>
          <a:p>
            <a:pPr marL="0" indent="0">
              <a:buNone/>
            </a:pPr>
            <a:r>
              <a:rPr lang="en-US" sz="5500" dirty="0">
                <a:solidFill>
                  <a:srgbClr val="1C4F9C"/>
                </a:solidFill>
                <a:latin typeface="Segoe UI Semibold"/>
              </a:rPr>
              <a:t>157</a:t>
            </a:r>
            <a:endParaRPr lang="en-US" sz="5500" dirty="0"/>
          </a:p>
        </p:txBody>
      </p:sp>
      <p:sp>
        <p:nvSpPr>
          <p:cNvPr id="12" name="Text 10"/>
          <p:cNvSpPr txBox="1"/>
          <p:nvPr/>
        </p:nvSpPr>
        <p:spPr>
          <a:xfrm>
            <a:off x="822960" y="5120640"/>
            <a:ext cx="2194560" cy="640080"/>
          </a:xfrm>
          <a:prstGeom prst="rect">
            <a:avLst/>
          </a:prstGeom>
          <a:noFill/>
          <a:ln/>
        </p:spPr>
        <p:txBody>
          <a:bodyPr wrap="square" lIns="0" tIns="0" rIns="0" bIns="0" rtlCol="0" anchor="t"/>
          <a:lstStyle/>
          <a:p>
            <a:pPr marL="0" indent="0">
              <a:buNone/>
            </a:pPr>
            <a:r>
              <a:rPr lang="en-US" dirty="0">
                <a:solidFill>
                  <a:srgbClr val="14233C"/>
                </a:solidFill>
              </a:rPr>
              <a:t>Automated tests</a:t>
            </a:r>
            <a:endParaRPr lang="en-US" dirty="0"/>
          </a:p>
        </p:txBody>
      </p:sp>
      <p:sp>
        <p:nvSpPr>
          <p:cNvPr id="13" name="Card"/>
          <p:cNvSpPr/>
          <p:nvPr/>
        </p:nvSpPr>
        <p:spPr>
          <a:xfrm>
            <a:off x="3474720" y="3931920"/>
            <a:ext cx="2697480" cy="2011680"/>
          </a:xfrm>
          <a:prstGeom prst="roundRect">
            <a:avLst>
              <a:gd name="adj" fmla="val 7273"/>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14" name="Text 12"/>
          <p:cNvSpPr txBox="1"/>
          <p:nvPr/>
        </p:nvSpPr>
        <p:spPr>
          <a:xfrm>
            <a:off x="3749040" y="4206240"/>
            <a:ext cx="2194560" cy="822960"/>
          </a:xfrm>
          <a:prstGeom prst="rect">
            <a:avLst/>
          </a:prstGeom>
          <a:noFill/>
          <a:ln/>
        </p:spPr>
        <p:txBody>
          <a:bodyPr wrap="square" lIns="0" tIns="0" rIns="0" bIns="0" rtlCol="0" anchor="ctr"/>
          <a:lstStyle/>
          <a:p>
            <a:pPr marL="0" indent="0">
              <a:buNone/>
            </a:pPr>
            <a:r>
              <a:rPr lang="en-US" sz="5500" dirty="0">
                <a:solidFill>
                  <a:srgbClr val="1C4F9C"/>
                </a:solidFill>
                <a:latin typeface="Segoe UI Semibold"/>
              </a:rPr>
              <a:t>0.4 s</a:t>
            </a:r>
            <a:endParaRPr lang="en-US" sz="5500" dirty="0"/>
          </a:p>
        </p:txBody>
      </p:sp>
      <p:sp>
        <p:nvSpPr>
          <p:cNvPr id="15" name="Text 13"/>
          <p:cNvSpPr txBox="1"/>
          <p:nvPr/>
        </p:nvSpPr>
        <p:spPr>
          <a:xfrm>
            <a:off x="3749040" y="5120640"/>
            <a:ext cx="2194560" cy="640080"/>
          </a:xfrm>
          <a:prstGeom prst="rect">
            <a:avLst/>
          </a:prstGeom>
          <a:noFill/>
          <a:ln/>
        </p:spPr>
        <p:txBody>
          <a:bodyPr wrap="square" lIns="0" tIns="0" rIns="0" bIns="0" rtlCol="0" anchor="t"/>
          <a:lstStyle/>
          <a:p>
            <a:pPr marL="0" indent="0">
              <a:buNone/>
            </a:pPr>
            <a:r>
              <a:rPr lang="en-US" dirty="0">
                <a:solidFill>
                  <a:srgbClr val="14233C"/>
                </a:solidFill>
              </a:rPr>
              <a:t>Report build time, measured</a:t>
            </a:r>
            <a:endParaRPr lang="en-US" dirty="0"/>
          </a:p>
        </p:txBody>
      </p:sp>
      <p:sp>
        <p:nvSpPr>
          <p:cNvPr id="16" name="Roadmap card"/>
          <p:cNvSpPr/>
          <p:nvPr/>
        </p:nvSpPr>
        <p:spPr>
          <a:xfrm>
            <a:off x="6446520" y="1691640"/>
            <a:ext cx="5196535" cy="4343400"/>
          </a:xfrm>
          <a:prstGeom prst="roundRect">
            <a:avLst>
              <a:gd name="adj" fmla="val 3368"/>
            </a:avLst>
          </a:prstGeom>
          <a:solidFill>
            <a:srgbClr val="FFFFFF"/>
          </a:solidFill>
          <a:ln w="9525">
            <a:solidFill>
              <a:srgbClr val="E1E7F0"/>
            </a:solidFill>
            <a:prstDash val="solid"/>
          </a:ln>
          <a:effectLst>
            <a:outerShdw blurRad="127000" dist="25400" dir="5400000" algn="bl" rotWithShape="0">
              <a:srgbClr val="0B2347">
                <a:alpha val="10000"/>
              </a:srgbClr>
            </a:outerShdw>
          </a:effectLst>
        </p:spPr>
        <p:txBody>
          <a:bodyPr/>
          <a:lstStyle/>
          <a:p>
            <a:endParaRPr lang="en-US"/>
          </a:p>
        </p:txBody>
      </p:sp>
      <p:sp>
        <p:nvSpPr>
          <p:cNvPr id="17" name="Text 15"/>
          <p:cNvSpPr txBox="1"/>
          <p:nvPr/>
        </p:nvSpPr>
        <p:spPr>
          <a:xfrm>
            <a:off x="6720840" y="1828800"/>
            <a:ext cx="4572000" cy="320040"/>
          </a:xfrm>
          <a:prstGeom prst="rect">
            <a:avLst/>
          </a:prstGeom>
          <a:noFill/>
          <a:ln/>
        </p:spPr>
        <p:txBody>
          <a:bodyPr wrap="square" lIns="0" tIns="0" rIns="0" bIns="0" rtlCol="0" anchor="t"/>
          <a:lstStyle/>
          <a:p>
            <a:pPr marL="0" indent="0">
              <a:buNone/>
            </a:pPr>
            <a:r>
              <a:rPr lang="en-US" sz="2100" dirty="0">
                <a:solidFill>
                  <a:srgbClr val="12315F"/>
                </a:solidFill>
                <a:latin typeface="Segoe UI Semibold"/>
              </a:rPr>
              <a:t>What is done, what is next</a:t>
            </a:r>
            <a:endParaRPr lang="en-US" sz="2100" dirty="0"/>
          </a:p>
        </p:txBody>
      </p:sp>
      <p:sp>
        <p:nvSpPr>
          <p:cNvPr id="18" name="Pill: DONE"/>
          <p:cNvSpPr txBox="1"/>
          <p:nvPr/>
        </p:nvSpPr>
        <p:spPr>
          <a:xfrm>
            <a:off x="6720840" y="2404872"/>
            <a:ext cx="914400" cy="274320"/>
          </a:xfrm>
          <a:prstGeom prst="roundRect">
            <a:avLst>
              <a:gd name="adj" fmla="val 50000"/>
            </a:avLst>
          </a:prstGeom>
          <a:solidFill>
            <a:srgbClr val="E1F4EA"/>
          </a:solidFill>
          <a:ln w="6350">
            <a:solidFill>
              <a:srgbClr val="E1F4EA"/>
            </a:solidFill>
          </a:ln>
        </p:spPr>
        <p:txBody>
          <a:bodyPr wrap="square" lIns="0" tIns="0" rIns="0" bIns="0" rtlCol="0" anchor="ctr"/>
          <a:lstStyle/>
          <a:p>
            <a:pPr marL="0" indent="0" algn="ctr">
              <a:buNone/>
            </a:pPr>
            <a:r>
              <a:rPr lang="en-US" sz="1000" kern="0" spc="60" dirty="0">
                <a:solidFill>
                  <a:srgbClr val="14804A"/>
                </a:solidFill>
                <a:latin typeface="Segoe UI Semibold"/>
              </a:rPr>
              <a:t>DONE</a:t>
            </a:r>
            <a:endParaRPr lang="en-US" sz="1000" dirty="0"/>
          </a:p>
        </p:txBody>
      </p:sp>
      <p:sp>
        <p:nvSpPr>
          <p:cNvPr id="19" name="Text 17"/>
          <p:cNvSpPr txBox="1"/>
          <p:nvPr/>
        </p:nvSpPr>
        <p:spPr>
          <a:xfrm>
            <a:off x="7818120" y="2331720"/>
            <a:ext cx="3550615" cy="566928"/>
          </a:xfrm>
          <a:prstGeom prst="rect">
            <a:avLst/>
          </a:prstGeom>
          <a:noFill/>
          <a:ln/>
        </p:spPr>
        <p:txBody>
          <a:bodyPr wrap="square" lIns="0" tIns="0" rIns="0" bIns="0" rtlCol="0" anchor="ctr"/>
          <a:lstStyle/>
          <a:p>
            <a:pPr marL="0" indent="0">
              <a:buNone/>
            </a:pPr>
            <a:r>
              <a:rPr lang="en-US" sz="1400" dirty="0">
                <a:solidFill>
                  <a:srgbClr val="14233C"/>
                </a:solidFill>
              </a:rPr>
              <a:t>Online request form and source-cell preview</a:t>
            </a:r>
            <a:endParaRPr lang="en-US" sz="1400" dirty="0"/>
          </a:p>
        </p:txBody>
      </p:sp>
      <p:sp>
        <p:nvSpPr>
          <p:cNvPr id="20" name="Pill: DONE"/>
          <p:cNvSpPr txBox="1"/>
          <p:nvPr/>
        </p:nvSpPr>
        <p:spPr>
          <a:xfrm>
            <a:off x="6720840" y="3008376"/>
            <a:ext cx="914400" cy="274320"/>
          </a:xfrm>
          <a:prstGeom prst="roundRect">
            <a:avLst>
              <a:gd name="adj" fmla="val 50000"/>
            </a:avLst>
          </a:prstGeom>
          <a:solidFill>
            <a:srgbClr val="E1F4EA"/>
          </a:solidFill>
          <a:ln w="6350">
            <a:solidFill>
              <a:srgbClr val="E1F4EA"/>
            </a:solidFill>
          </a:ln>
        </p:spPr>
        <p:txBody>
          <a:bodyPr wrap="square" lIns="0" tIns="0" rIns="0" bIns="0" rtlCol="0" anchor="ctr"/>
          <a:lstStyle/>
          <a:p>
            <a:pPr marL="0" indent="0" algn="ctr">
              <a:buNone/>
            </a:pPr>
            <a:r>
              <a:rPr lang="en-US" sz="1000" kern="0" spc="60" dirty="0">
                <a:solidFill>
                  <a:srgbClr val="14804A"/>
                </a:solidFill>
                <a:latin typeface="Segoe UI Semibold"/>
              </a:rPr>
              <a:t>DONE</a:t>
            </a:r>
            <a:endParaRPr lang="en-US" sz="1000" dirty="0"/>
          </a:p>
        </p:txBody>
      </p:sp>
      <p:sp>
        <p:nvSpPr>
          <p:cNvPr id="21" name="Text 19"/>
          <p:cNvSpPr txBox="1"/>
          <p:nvPr/>
        </p:nvSpPr>
        <p:spPr>
          <a:xfrm>
            <a:off x="7818120" y="2935224"/>
            <a:ext cx="3550615" cy="566928"/>
          </a:xfrm>
          <a:prstGeom prst="rect">
            <a:avLst/>
          </a:prstGeom>
          <a:noFill/>
          <a:ln/>
        </p:spPr>
        <p:txBody>
          <a:bodyPr wrap="square" lIns="0" tIns="0" rIns="0" bIns="0" rtlCol="0" anchor="ctr"/>
          <a:lstStyle/>
          <a:p>
            <a:pPr marL="0" indent="0">
              <a:buNone/>
            </a:pPr>
            <a:r>
              <a:rPr lang="en-US" sz="1400" dirty="0">
                <a:solidFill>
                  <a:srgbClr val="14233C"/>
                </a:solidFill>
              </a:rPr>
              <a:t>Hash chain, chain check and QR verification page</a:t>
            </a:r>
            <a:endParaRPr lang="en-US" sz="1400" dirty="0"/>
          </a:p>
        </p:txBody>
      </p:sp>
      <p:sp>
        <p:nvSpPr>
          <p:cNvPr id="22" name="Pill: PLANNED"/>
          <p:cNvSpPr txBox="1"/>
          <p:nvPr/>
        </p:nvSpPr>
        <p:spPr>
          <a:xfrm>
            <a:off x="6720840" y="3611880"/>
            <a:ext cx="914400" cy="274320"/>
          </a:xfrm>
          <a:prstGeom prst="roundRect">
            <a:avLst>
              <a:gd name="adj" fmla="val 50000"/>
            </a:avLst>
          </a:prstGeom>
          <a:solidFill>
            <a:srgbClr val="E2ECFA"/>
          </a:solidFill>
          <a:ln w="6350">
            <a:solidFill>
              <a:srgbClr val="E2ECFA"/>
            </a:solidFill>
          </a:ln>
        </p:spPr>
        <p:txBody>
          <a:bodyPr wrap="square" lIns="0" tIns="0" rIns="0" bIns="0" rtlCol="0" anchor="ctr"/>
          <a:lstStyle/>
          <a:p>
            <a:pPr marL="0" indent="0" algn="ctr">
              <a:buNone/>
            </a:pPr>
            <a:r>
              <a:rPr lang="en-US" sz="1000" kern="0" spc="60" dirty="0">
                <a:solidFill>
                  <a:srgbClr val="1C4F9C"/>
                </a:solidFill>
                <a:latin typeface="Segoe UI Semibold"/>
              </a:rPr>
              <a:t>PLANNED</a:t>
            </a:r>
            <a:endParaRPr lang="en-US" sz="1000" dirty="0"/>
          </a:p>
        </p:txBody>
      </p:sp>
      <p:sp>
        <p:nvSpPr>
          <p:cNvPr id="23" name="Text 21"/>
          <p:cNvSpPr txBox="1"/>
          <p:nvPr/>
        </p:nvSpPr>
        <p:spPr>
          <a:xfrm>
            <a:off x="7818120" y="3538728"/>
            <a:ext cx="3550615" cy="566928"/>
          </a:xfrm>
          <a:prstGeom prst="rect">
            <a:avLst/>
          </a:prstGeom>
          <a:noFill/>
          <a:ln/>
        </p:spPr>
        <p:txBody>
          <a:bodyPr wrap="square" lIns="0" tIns="0" rIns="0" bIns="0" rtlCol="0" anchor="ctr"/>
          <a:lstStyle/>
          <a:p>
            <a:pPr marL="0" indent="0">
              <a:buNone/>
            </a:pPr>
            <a:r>
              <a:rPr lang="en-US" sz="1400" dirty="0">
                <a:solidFill>
                  <a:srgbClr val="14233C"/>
                </a:solidFill>
              </a:rPr>
              <a:t>Scan-to-form assist for paper logsheets (a human confirms every value)</a:t>
            </a:r>
            <a:endParaRPr lang="en-US" sz="1400" dirty="0"/>
          </a:p>
        </p:txBody>
      </p:sp>
      <p:sp>
        <p:nvSpPr>
          <p:cNvPr id="24" name="Pill: PLANNED"/>
          <p:cNvSpPr txBox="1"/>
          <p:nvPr/>
        </p:nvSpPr>
        <p:spPr>
          <a:xfrm>
            <a:off x="6720840" y="4215384"/>
            <a:ext cx="914400" cy="274320"/>
          </a:xfrm>
          <a:prstGeom prst="roundRect">
            <a:avLst>
              <a:gd name="adj" fmla="val 50000"/>
            </a:avLst>
          </a:prstGeom>
          <a:solidFill>
            <a:srgbClr val="E2ECFA"/>
          </a:solidFill>
          <a:ln w="6350">
            <a:solidFill>
              <a:srgbClr val="E2ECFA"/>
            </a:solidFill>
          </a:ln>
        </p:spPr>
        <p:txBody>
          <a:bodyPr wrap="square" lIns="0" tIns="0" rIns="0" bIns="0" rtlCol="0" anchor="ctr"/>
          <a:lstStyle/>
          <a:p>
            <a:pPr marL="0" indent="0" algn="ctr">
              <a:buNone/>
            </a:pPr>
            <a:r>
              <a:rPr lang="en-US" sz="1000" kern="0" spc="60" dirty="0">
                <a:solidFill>
                  <a:srgbClr val="1C4F9C"/>
                </a:solidFill>
                <a:latin typeface="Segoe UI Semibold"/>
              </a:rPr>
              <a:t>PLANNED</a:t>
            </a:r>
            <a:endParaRPr lang="en-US" sz="1000" dirty="0"/>
          </a:p>
        </p:txBody>
      </p:sp>
      <p:sp>
        <p:nvSpPr>
          <p:cNvPr id="25" name="Text 23"/>
          <p:cNvSpPr txBox="1"/>
          <p:nvPr/>
        </p:nvSpPr>
        <p:spPr>
          <a:xfrm>
            <a:off x="7818120" y="4142232"/>
            <a:ext cx="3550615" cy="566928"/>
          </a:xfrm>
          <a:prstGeom prst="rect">
            <a:avLst/>
          </a:prstGeom>
          <a:noFill/>
          <a:ln/>
        </p:spPr>
        <p:txBody>
          <a:bodyPr wrap="square" lIns="0" tIns="0" rIns="0" bIns="0" rtlCol="0" anchor="ctr"/>
          <a:lstStyle/>
          <a:p>
            <a:pPr marL="0" indent="0">
              <a:buNone/>
            </a:pPr>
            <a:r>
              <a:rPr lang="en-US" sz="1400" dirty="0">
                <a:solidFill>
                  <a:srgbClr val="14233C"/>
                </a:solidFill>
              </a:rPr>
              <a:t>Click-to-trace from a value to its source cell</a:t>
            </a:r>
            <a:endParaRPr lang="en-US" sz="1400" dirty="0"/>
          </a:p>
        </p:txBody>
      </p:sp>
      <p:sp>
        <p:nvSpPr>
          <p:cNvPr id="26" name="Pill: PLANNED"/>
          <p:cNvSpPr txBox="1"/>
          <p:nvPr/>
        </p:nvSpPr>
        <p:spPr>
          <a:xfrm>
            <a:off x="6720840" y="4818888"/>
            <a:ext cx="914400" cy="274320"/>
          </a:xfrm>
          <a:prstGeom prst="roundRect">
            <a:avLst>
              <a:gd name="adj" fmla="val 50000"/>
            </a:avLst>
          </a:prstGeom>
          <a:solidFill>
            <a:srgbClr val="E2ECFA"/>
          </a:solidFill>
          <a:ln w="6350">
            <a:solidFill>
              <a:srgbClr val="E2ECFA"/>
            </a:solidFill>
          </a:ln>
        </p:spPr>
        <p:txBody>
          <a:bodyPr wrap="square" lIns="0" tIns="0" rIns="0" bIns="0" rtlCol="0" anchor="ctr"/>
          <a:lstStyle/>
          <a:p>
            <a:pPr marL="0" indent="0" algn="ctr">
              <a:buNone/>
            </a:pPr>
            <a:r>
              <a:rPr lang="en-US" sz="1000" kern="0" spc="60" dirty="0">
                <a:solidFill>
                  <a:srgbClr val="1C4F9C"/>
                </a:solidFill>
                <a:latin typeface="Segoe UI Semibold"/>
              </a:rPr>
              <a:t>PLANNED</a:t>
            </a:r>
            <a:endParaRPr lang="en-US" sz="1000" dirty="0"/>
          </a:p>
        </p:txBody>
      </p:sp>
      <p:sp>
        <p:nvSpPr>
          <p:cNvPr id="27" name="Text 25"/>
          <p:cNvSpPr txBox="1"/>
          <p:nvPr/>
        </p:nvSpPr>
        <p:spPr>
          <a:xfrm>
            <a:off x="7818120" y="4745736"/>
            <a:ext cx="3550615" cy="566928"/>
          </a:xfrm>
          <a:prstGeom prst="rect">
            <a:avLst/>
          </a:prstGeom>
          <a:noFill/>
          <a:ln/>
        </p:spPr>
        <p:txBody>
          <a:bodyPr wrap="square" lIns="0" tIns="0" rIns="0" bIns="0" rtlCol="0" anchor="ctr"/>
          <a:lstStyle/>
          <a:p>
            <a:pPr marL="0" indent="0">
              <a:buNone/>
            </a:pPr>
            <a:r>
              <a:rPr lang="en-US" sz="1400" dirty="0">
                <a:solidFill>
                  <a:srgbClr val="14233C"/>
                </a:solidFill>
              </a:rPr>
              <a:t>Anchor the daily chain tip outside the server</a:t>
            </a:r>
            <a:endParaRPr lang="en-US" sz="1400" dirty="0"/>
          </a:p>
        </p:txBody>
      </p:sp>
      <p:sp>
        <p:nvSpPr>
          <p:cNvPr id="28" name="Pill: PLANNED"/>
          <p:cNvSpPr txBox="1"/>
          <p:nvPr/>
        </p:nvSpPr>
        <p:spPr>
          <a:xfrm>
            <a:off x="6720840" y="5422392"/>
            <a:ext cx="914400" cy="274320"/>
          </a:xfrm>
          <a:prstGeom prst="roundRect">
            <a:avLst>
              <a:gd name="adj" fmla="val 50000"/>
            </a:avLst>
          </a:prstGeom>
          <a:solidFill>
            <a:srgbClr val="E2ECFA"/>
          </a:solidFill>
          <a:ln w="6350">
            <a:solidFill>
              <a:srgbClr val="E2ECFA"/>
            </a:solidFill>
          </a:ln>
        </p:spPr>
        <p:txBody>
          <a:bodyPr wrap="square" lIns="0" tIns="0" rIns="0" bIns="0" rtlCol="0" anchor="ctr"/>
          <a:lstStyle/>
          <a:p>
            <a:pPr marL="0" indent="0" algn="ctr">
              <a:buNone/>
            </a:pPr>
            <a:r>
              <a:rPr lang="en-US" sz="1000" kern="0" spc="60" dirty="0">
                <a:solidFill>
                  <a:srgbClr val="1C4F9C"/>
                </a:solidFill>
                <a:latin typeface="Segoe UI Semibold"/>
              </a:rPr>
              <a:t>PLANNED</a:t>
            </a:r>
            <a:endParaRPr lang="en-US" sz="1000" dirty="0"/>
          </a:p>
        </p:txBody>
      </p:sp>
      <p:sp>
        <p:nvSpPr>
          <p:cNvPr id="29" name="Text 27"/>
          <p:cNvSpPr txBox="1"/>
          <p:nvPr/>
        </p:nvSpPr>
        <p:spPr>
          <a:xfrm>
            <a:off x="7818120" y="5349240"/>
            <a:ext cx="3550615" cy="566928"/>
          </a:xfrm>
          <a:prstGeom prst="rect">
            <a:avLst/>
          </a:prstGeom>
          <a:noFill/>
          <a:ln/>
        </p:spPr>
        <p:txBody>
          <a:bodyPr wrap="square" lIns="0" tIns="0" rIns="0" bIns="0" rtlCol="0" anchor="ctr"/>
          <a:lstStyle/>
          <a:p>
            <a:pPr marL="0" indent="0">
              <a:buNone/>
            </a:pPr>
            <a:r>
              <a:rPr lang="en-US" sz="1400" dirty="0">
                <a:solidFill>
                  <a:srgbClr val="14233C"/>
                </a:solidFill>
              </a:rPr>
              <a:t>Signed PDFs</a:t>
            </a:r>
            <a:endParaRPr lang="en-US" sz="1400" dirty="0"/>
          </a:p>
        </p:txBody>
      </p:sp>
      <p:sp>
        <p:nvSpPr>
          <p:cNvPr id="30"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6667F"/>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Pill: THANK YOU"/>
          <p:cNvSpPr txBox="1"/>
          <p:nvPr/>
        </p:nvSpPr>
        <p:spPr>
          <a:xfrm>
            <a:off x="731520" y="777240"/>
            <a:ext cx="1737360" cy="365760"/>
          </a:xfrm>
          <a:prstGeom prst="roundRect">
            <a:avLst>
              <a:gd name="adj" fmla="val 50000"/>
            </a:avLst>
          </a:prstGeom>
          <a:solidFill>
            <a:srgbClr val="FFFFFF">
              <a:alpha val="16000"/>
            </a:srgbClr>
          </a:solidFill>
          <a:ln w="9525">
            <a:solidFill>
              <a:srgbClr val="FFFFFF">
                <a:alpha val="45000"/>
              </a:srgbClr>
            </a:solidFill>
          </a:ln>
        </p:spPr>
        <p:txBody>
          <a:bodyPr wrap="square" lIns="0" tIns="0" rIns="0" bIns="0" rtlCol="0" anchor="ctr"/>
          <a:lstStyle/>
          <a:p>
            <a:pPr marL="0" indent="0" algn="ctr">
              <a:buNone/>
            </a:pPr>
            <a:r>
              <a:rPr lang="en-US" sz="1200" kern="0" spc="60" dirty="0">
                <a:solidFill>
                  <a:srgbClr val="FFFFFF"/>
                </a:solidFill>
                <a:latin typeface="Segoe UI Semibold"/>
              </a:rPr>
              <a:t>THANK YOU</a:t>
            </a:r>
            <a:endParaRPr lang="en-US" sz="1200" dirty="0"/>
          </a:p>
        </p:txBody>
      </p:sp>
      <p:sp>
        <p:nvSpPr>
          <p:cNvPr id="3" name="Text 0"/>
          <p:cNvSpPr>
            <a:spLocks noGrp="1"/>
          </p:cNvSpPr>
          <p:nvPr>
            <p:ph type="title" idx="100" hasCustomPrompt="1"/>
          </p:nvPr>
        </p:nvSpPr>
        <p:spPr>
          <a:xfrm>
            <a:off x="731520" y="1325880"/>
            <a:ext cx="10424160" cy="2103120"/>
          </a:xfrm>
          <a:prstGeom prst="rect">
            <a:avLst/>
          </a:prstGeom>
          <a:noFill/>
          <a:ln/>
        </p:spPr>
        <p:txBody>
          <a:bodyPr wrap="square" lIns="0" tIns="0" rIns="0" bIns="0" rtlCol="0" anchor="t"/>
          <a:lstStyle/>
          <a:p>
            <a:pPr marL="0" indent="0" algn="l">
              <a:buNone/>
            </a:pPr>
            <a:r>
              <a:rPr lang="en-US" sz="4800" dirty="0">
                <a:solidFill>
                  <a:schemeClr val="bg1"/>
                </a:solidFill>
                <a:latin typeface="Segoe UI Semibold"/>
              </a:rPr>
              <a:t>Fast to produce.</a:t>
            </a:r>
            <a:endParaRPr lang="en-US" sz="4800" dirty="0"/>
          </a:p>
          <a:p>
            <a:pPr marL="0" indent="0" algn="l">
              <a:buNone/>
            </a:pPr>
            <a:r>
              <a:rPr lang="en-US" sz="4800" dirty="0">
                <a:solidFill>
                  <a:schemeClr val="bg1"/>
                </a:solidFill>
                <a:latin typeface="Segoe UI Semibold"/>
              </a:rPr>
              <a:t>Easy for customers.</a:t>
            </a:r>
            <a:endParaRPr lang="en-US" sz="4800" dirty="0"/>
          </a:p>
          <a:p>
            <a:pPr marL="0" indent="0" algn="l">
              <a:buNone/>
            </a:pPr>
            <a:r>
              <a:rPr lang="en-US" sz="4800" dirty="0">
                <a:solidFill>
                  <a:schemeClr val="bg1"/>
                </a:solidFill>
                <a:latin typeface="Segoe UI Semibold"/>
              </a:rPr>
              <a:t>Impossible to quietly change.</a:t>
            </a:r>
            <a:endParaRPr lang="en-US" sz="4800" dirty="0"/>
          </a:p>
        </p:txBody>
      </p:sp>
      <p:sp>
        <p:nvSpPr>
          <p:cNvPr id="4" name="Text 2"/>
          <p:cNvSpPr txBox="1"/>
          <p:nvPr/>
        </p:nvSpPr>
        <p:spPr>
          <a:xfrm>
            <a:off x="731520" y="4343400"/>
            <a:ext cx="7315200" cy="1188720"/>
          </a:xfrm>
          <a:prstGeom prst="rect">
            <a:avLst/>
          </a:prstGeom>
          <a:noFill/>
          <a:ln/>
        </p:spPr>
        <p:txBody>
          <a:bodyPr wrap="square" lIns="0" tIns="0" rIns="0" bIns="0" rtlCol="0" anchor="t"/>
          <a:lstStyle/>
          <a:p>
            <a:pPr marL="0" indent="0">
              <a:buNone/>
            </a:pPr>
            <a:r>
              <a:rPr lang="en-US" sz="1800" dirty="0">
                <a:solidFill>
                  <a:srgbClr val="FFFFFF"/>
                </a:solidFill>
                <a:latin typeface="Segoe UI Semibold"/>
              </a:rPr>
              <a:t>Team CyberSiege</a:t>
            </a:r>
            <a:endParaRPr lang="en-US" sz="1400" dirty="0"/>
          </a:p>
          <a:p>
            <a:pPr marL="0" indent="0">
              <a:buNone/>
            </a:pPr>
            <a:r>
              <a:rPr lang="en-US" sz="1400" dirty="0">
                <a:solidFill>
                  <a:srgbClr val="DCE8F8"/>
                </a:solidFill>
              </a:rPr>
              <a:t>Siddhartha  ·  Bhargav  ·  Koushik  ·  Abhijit</a:t>
            </a:r>
            <a:endParaRPr lang="en-US" sz="1400" dirty="0"/>
          </a:p>
          <a:p>
            <a:pPr marL="0" indent="0">
              <a:buNone/>
            </a:pPr>
            <a:r>
              <a:rPr lang="en-US" sz="1400" dirty="0">
                <a:solidFill>
                  <a:srgbClr val="DCE8F8"/>
                </a:solidFill>
              </a:rPr>
              <a:t>Repo: github.com/sid-zyy/aletheia</a:t>
            </a:r>
            <a:endParaRPr lang="en-US" sz="1400" dirty="0"/>
          </a:p>
        </p:txBody>
      </p:sp>
      <p:pic>
        <p:nvPicPr>
          <p:cNvPr id="950" name="QR code to the repo" descr="QR code linking to github.com/sid-zyy/aletheia"/>
          <p:cNvPicPr>
            <a:picLocks noChangeAspect="1"/>
          </p:cNvPicPr>
          <p:nvPr/>
        </p:nvPicPr>
        <p:blipFill>
          <a:blip r:embed="rId3"/>
          <a:stretch>
            <a:fillRect/>
          </a:stretch>
        </p:blipFill>
        <p:spPr>
          <a:xfrm>
            <a:off x="9326880" y="3840480"/>
            <a:ext cx="2103120" cy="2103120"/>
          </a:xfrm>
          <a:prstGeom prst="rect">
            <a:avLst/>
          </a:prstGeom>
        </p:spPr>
      </p:pic>
      <p:sp>
        <p:nvSpPr>
          <p:cNvPr id="5" name="Text 3"/>
          <p:cNvSpPr txBox="1"/>
          <p:nvPr/>
        </p:nvSpPr>
        <p:spPr>
          <a:xfrm>
            <a:off x="731520" y="5806440"/>
            <a:ext cx="8229600" cy="457200"/>
          </a:xfrm>
          <a:prstGeom prst="rect">
            <a:avLst/>
          </a:prstGeom>
          <a:noFill/>
          <a:ln/>
        </p:spPr>
        <p:txBody>
          <a:bodyPr wrap="square" lIns="0" tIns="0" rIns="0" bIns="0" rtlCol="0" anchor="t"/>
          <a:lstStyle/>
          <a:p>
            <a:pPr marL="0" indent="0">
              <a:buNone/>
            </a:pPr>
            <a:r>
              <a:rPr lang="en-US" sz="1200" dirty="0">
                <a:solidFill>
                  <a:srgbClr val="A9BCD9"/>
                </a:solidFill>
              </a:rPr>
              <a:t>Deliverables: working prototype, documented source code, architecture diagram, live demo, this presentation</a:t>
            </a:r>
            <a:endParaRPr lang="en-US" sz="1200" dirty="0"/>
          </a:p>
        </p:txBody>
      </p:sp>
      <p:sp>
        <p:nvSpPr>
          <p:cNvPr id="25" name="Slide Number Placeholder 0"/>
          <p:cNvSpPr>
            <a:spLocks noGrp="1"/>
          </p:cNvSpPr>
          <p:nvPr>
            <p:ph type="sldNum" sz="quarter" idx="4294967295"/>
          </p:nvPr>
        </p:nvSpPr>
        <p:spPr>
          <a:xfrm>
            <a:off x="10728655" y="6400800"/>
            <a:ext cx="9144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A9BCD9"/>
                </a:solidFill>
              </a:defRPr>
            </a:lvl1pPr>
          </a:lstStyle>
          <a:p>
            <a:pPr algn="r"/>
            <a:fld id="{F7021451-1387-4CA6-816F-3879F97B5CBC}" type="slidenum">
              <a:rPr lang="en-US" b="0"/>
              <a:t>19</a:t>
            </a:fld>
            <a:endParaRPr lang="en-US"/>
          </a:p>
        </p:txBody>
      </p:sp>
    </p:spTree>
  </p:cSld>
  <p:clrMapOvr>
    <a:masterClrMapping/>
  </p:clrMapOvr>
</p:sld>
</file>

<file path=ppt/theme/theme1.xml><?xml version="1.0" encoding="utf-8"?>
<a:theme xmlns:a="http://schemas.openxmlformats.org/drawingml/2006/main" name="Aletheia CyberSiege">
  <a:themeElements>
    <a:clrScheme name="Aletheia CyberSiege">
      <a:dk1>
        <a:srgbClr val="14233C"/>
      </a:dk1>
      <a:lt1>
        <a:srgbClr val="FFFFFF"/>
      </a:lt1>
      <a:dk2>
        <a:srgbClr val="12315F"/>
      </a:dk2>
      <a:lt2>
        <a:srgbClr val="F2F5FA"/>
      </a:lt2>
      <a:accent1>
        <a:srgbClr val="1C4F9C"/>
      </a:accent1>
      <a:accent2>
        <a:srgbClr val="2BB3FF"/>
      </a:accent2>
      <a:accent3>
        <a:srgbClr val="14804A"/>
      </a:accent3>
      <a:accent4>
        <a:srgbClr val="A85D00"/>
      </a:accent4>
      <a:accent5>
        <a:srgbClr val="C62828"/>
      </a:accent5>
      <a:accent6>
        <a:srgbClr val="FF9933"/>
      </a:accent6>
      <a:hlink>
        <a:srgbClr val="1C4F9C"/>
      </a:hlink>
      <a:folHlink>
        <a:srgbClr val="56667F"/>
      </a:folHlink>
    </a:clrScheme>
    <a:fontScheme name="Aletheia CyberSieg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3165</Words>
  <Application>Microsoft Office PowerPoint</Application>
  <PresentationFormat>Widescreen</PresentationFormat>
  <Paragraphs>442</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Consolas</vt:lpstr>
      <vt:lpstr>Segoe UI</vt:lpstr>
      <vt:lpstr>Segoe UI Semibold</vt:lpstr>
      <vt:lpstr>Aletheia CyberSiege</vt:lpstr>
      <vt:lpstr>Aletheia: faster reports, zero quiet changes</vt:lpstr>
      <vt:lpstr>Reports depend on data from many sources that people collect and retype by hand</vt:lpstr>
      <vt:lpstr>Aletheia answers each of the four objectives with a working feature</vt:lpstr>
      <vt:lpstr>The prototype covers every module and input source the problem statement asks for</vt:lpstr>
      <vt:lpstr>Aletheia follows the suggested six-step workflow and adds verification</vt:lpstr>
      <vt:lpstr>Customers apply online instead of filling a paper form</vt:lpstr>
      <vt:lpstr>One logsheet upload feeds checks, verification and the report</vt:lpstr>
      <vt:lpstr>Nine steps and three roles take a request to a released report</vt:lpstr>
      <vt:lpstr>Testers upload logsheets once and see every value beside its source cell</vt:lpstr>
      <vt:lpstr>Customers follow their request as it moves forward, without phoning the lab</vt:lpstr>
      <vt:lpstr>Customers get answers through tickets and a built-in assistant</vt:lpstr>
      <vt:lpstr>A numbered, hashed PDF report is built from stored data in seconds</vt:lpstr>
      <vt:lpstr>Testers verify, admins approve, and no report is built until every test is checked</vt:lpstr>
      <vt:lpstr>Four layers mean nothing changes quietly: edits are blocked or detected</vt:lpstr>
      <vt:lpstr>Edit one entry and the chain check turns red and names the broken entry</vt:lpstr>
      <vt:lpstr>Customers verify the report themselves by scanning its QR code</vt:lpstr>
      <vt:lpstr>Architecture: one Flask app and one SQLite database run the whole flow on one lab PC</vt:lpstr>
      <vt:lpstr>Results: ten documents, four import formats and 157 automated tests, with more to come</vt:lpstr>
      <vt:lpstr>Fast to produce. Easy for customers. Impossible to quietly change.</vt:lpstr>
    </vt:vector>
  </TitlesOfParts>
  <Company>CyberSiege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Aletheia: faster reports, zero quiet changes</dc:title>
  <dc:subject>PptxGenJS Presentation</dc:subject>
  <dc:creator>Team CyberSiege</dc:creator>
  <cp:lastModifiedBy>God Goku</cp:lastModifiedBy>
  <cp:revision>3</cp:revision>
  <dcterms:created xsi:type="dcterms:W3CDTF">2026-10-11T01:07:31Z</dcterms:created>
  <dcterms:modified xsi:type="dcterms:W3CDTF">2026-10-11T01:55:31Z</dcterms:modified>
</cp:coreProperties>
</file>